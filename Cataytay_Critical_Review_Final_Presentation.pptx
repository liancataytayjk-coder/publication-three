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2"/>
  </p:notesMasterIdLst>
  <p:sldIdLst>
    <p:sldId id="256" r:id="rId6"/>
    <p:sldId id="260" r:id="rId10"/>
    <p:sldId id="261" r:id="rId11"/>
    <p:sldId id="262" r:id="rId22"/>
    <p:sldId id="263" r:id="rId23"/>
    <p:sldId id="264" r:id="rId24"/>
    <p:sldId id="265" r:id="rId25"/>
    <p:sldId id="266" r:id="rId26"/>
    <p:sldId id="267" r:id="rId27"/>
    <p:sldId id="268" r:id="rId28"/>
    <p:sldId id="269" r:id="rId29"/>
    <p:sldId id="270" r:id="rId30"/>
    <p:sldId id="271" r:id="rId31"/>
    <p:sldId id="272" r:id="rId32"/>
    <p:sldId id="273" r:id="rId33"/>
    <p:sldId id="259" r:id="rId9"/>
    <p:sldId id="258" r:id="rId8"/>
  </p:sldIdLst>
  <p:sldSz cx="18288000" cy="10287000"/>
  <p:notesSz cx="6858000" cy="9144000"/>
  <p:embeddedFontLst>
    <p:embeddedFont>
      <p:font typeface="Arial" charset="1" panose="020B0604020202020204"/>
      <p:regular r:id="rId15"/>
    </p:embeddedFont>
    <p:embeddedFont>
      <p:font typeface="Arial Bold" charset="1" panose="020B0704020202020204"/>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8" Type="http://schemas.openxmlformats.org/officeDocument/2006/relationships/slide" Target="slides/slide17.xml"/><Relationship Id="rId9" Type="http://schemas.openxmlformats.org/officeDocument/2006/relationships/slide" Target="slides/slide16.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notesMaster" Target="notesMasters/notesMaster1.xml"/><Relationship Id="rId13" Type="http://schemas.openxmlformats.org/officeDocument/2006/relationships/theme" Target="theme/theme2.xml"/><Relationship Id="rId14" Type="http://schemas.openxmlformats.org/officeDocument/2006/relationships/notesSlide" Target="notesSlides/notesSlide1.xml"/><Relationship Id="rId15" Type="http://schemas.openxmlformats.org/officeDocument/2006/relationships/font" Target="fonts/font15.fntdata"/><Relationship Id="rId16" Type="http://schemas.openxmlformats.org/officeDocument/2006/relationships/notesSlide" Target="notesSlides/notesSlide2.xml"/><Relationship Id="rId17" Type="http://schemas.openxmlformats.org/officeDocument/2006/relationships/notesSlide" Target="notesSlides/notesSlide3.xml"/><Relationship Id="rId18" Type="http://schemas.openxmlformats.org/officeDocument/2006/relationships/notesSlide" Target="notesSlides/notesSlide4.xml"/><Relationship Id="rId19" Type="http://schemas.openxmlformats.org/officeDocument/2006/relationships/font" Target="fonts/font19.fntdata"/><Relationship Id="rId20" Type="http://schemas.openxmlformats.org/officeDocument/2006/relationships/notesSlide" Target="notesSlides/notesSlide5.xml"/><Relationship Id="rId21" Type="http://schemas.openxmlformats.org/officeDocument/2006/relationships/notesSlide" Target="notesSlides/notesSlide6.xml"/><Relationship Id="rId22" Type="http://schemas.openxmlformats.org/officeDocument/2006/relationships/slide" Target="slides/slide4.xml"/><Relationship Id="rId23" Type="http://schemas.openxmlformats.org/officeDocument/2006/relationships/slide" Target="slides/slide5.xml"/><Relationship Id="rId24" Type="http://schemas.openxmlformats.org/officeDocument/2006/relationships/slide" Target="slides/slide6.xml"/><Relationship Id="rId25" Type="http://schemas.openxmlformats.org/officeDocument/2006/relationships/slide" Target="slides/slide7.xml"/><Relationship Id="rId26" Type="http://schemas.openxmlformats.org/officeDocument/2006/relationships/slide" Target="slides/slide8.xml"/><Relationship Id="rId27" Type="http://schemas.openxmlformats.org/officeDocument/2006/relationships/slide" Target="slides/slide9.xml"/><Relationship Id="rId28" Type="http://schemas.openxmlformats.org/officeDocument/2006/relationships/slide" Target="slides/slide10.xml"/><Relationship Id="rId29" Type="http://schemas.openxmlformats.org/officeDocument/2006/relationships/slide" Target="slides/slide11.xml"/><Relationship Id="rId30" Type="http://schemas.openxmlformats.org/officeDocument/2006/relationships/slide" Target="slides/slide12.xml"/><Relationship Id="rId31" Type="http://schemas.openxmlformats.org/officeDocument/2006/relationships/slide" Target="slides/slide13.xml"/><Relationship Id="rId32" Type="http://schemas.openxmlformats.org/officeDocument/2006/relationships/slide" Target="slides/slide14.xml"/><Relationship Id="rId33"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Good day. I am presenting my critical review of Agbola and Acupan (2010). The slides follow my two-page review in the same order, and every point is backed by a highlighted excerpt from the article itself.</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Thank you. I am happy to take questions.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To conclude: Agbola and Acupan offer useful early evidence that domestic push factors, namely unemployment, adult literacy, political instability and population density, shape Filipino emigration. But given only 31 observations, weak proxies and no pull factors, these results are a starting point.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In one slide: Agbola and Acupan estimate how domestic conditions shape emigration from the Philippines, using annual data for 1975 to 2005 and an error correction model, or ECM. My two main criticisms are the relatively short sample and the missing pull factors that may also have shaped emigration. Throughout the slides, yellow highlights are the authors' own words, green marks a strength, red a critical note, and blue my suggestions.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Part 1, the research problem. Labor export began in the 1970s as a stop-gap for unemployment and a balance-of-payments crisis, but it became structural. As the highlighted passages show, about 8.2 million Filipinos lived or worked abroad and sent home 14.4 billion US dollars in 2007.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policy behind labor export is Republic Act 8042. Section 2c says the State does not promote overseas employment, yet Section 2i says deployment shall be encouraged, so the policy is ambiguous. The gap the authors identify is that the determinants of emigration are not well established. They address it by studying how economic, demographic and political factors affect the size of emigration.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assessment of Part 1. The question is clear and policy-relevant. But the gap is asserted rather than demonstrated: as the highlighted outline shows, the paper goes from policy in Section 2 straight to the model in Section 3, without reviewing earlier Philippine studies.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the theoretical framework. The authors use four theories: expected-utility models from Ravenstein and Todaro; human capital theory, which predicts that education raises emigration; the Roy effect, where inequality decides which skill groups leave; and the gravity model, which links migration to income, population and cost. Together they give one macro push-factor equation, equation 1 at the bottom right, with nine domestic explanatory variables.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3, the data. The study uses secondary annual national aggregates for 1975 to 2005, so T equals 31. The dependent variable is the migration share, m: temporary plus permanent Filipino migrants as a share of the population, from the Commission on Filipinos Overseas and the NSCB. Income, unemployment and inflation come from the IMF, the BSP and the NSCB; literacy from the BSP and NSCB; and population density from the NSCB.</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explanatory variables, grouped by factor. The economic variables are the cost of migration, proxied by the average one-way airfare from Manila to the top 24 destinations; real GDP per capita; the unemployment rate; the inflation rate; and income inequality with its square, measured by the Gini coefficient. The demographic variables are adult literacy, a proxy for education, and population density. The single political variable is political instability: the frequency of leadership changes and of attempted and successful uprisings.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4, the methodology. It is a five-step time-series procedure: unit root tests that treat the series as I(1); three cointegration tests that confirm a long-run relationship; a general-to-specific reduction; an unrestricted ECM estimated by OLS; and diagnostic tests, which are all passed. The highlighted excerpts show the unit root tests and the diagnostics.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assessment. The methodology follows the textbook sequence. However, the highlighted Johansen results show five to eight cointegrating vectors, yet the authors keep only one error correction term. And 31 yearly observations for 10 estimated terms leave little statistical power.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5, key findings. My Table 1 summarises the authors' Table 3, shown on the right with the significant rows highlighted. Unemployment, adult literacy, political instability and population density are significant at 5 percent; inequality, inflation, the cost of migration and income are not. The error correction term is minus 0.776, so about 78 percent of any deviation from equilibrium is corrected within a year.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Interpreting the results. Unemployment raises emigration, consistent with emigration as a safety valve for surplus labor. Adult literacy lowers emigration, which contradicts human capital theory; the authors attribute this to the low-skilled profile of migrants, as highlighted. Political instability and population density also lower emigration. The other variables are not significant, so the Roy effect is rejected.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authors close with three recommendations, highlighted in their conclusion: better migration statistics through effective monitoring, bilateral agreements to protect overseas workers, and a domestic economy that can absorb labor.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6. The authors acknowledge four limitations, each highlighted on the right: migration statistics are hard to compile, airfare is only the minimum cost of migration, the density result needs further research, and their data do not permit them to move beyond speculation on political instability. They call for explaining the density effect and for better monitoring of migration statistics.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the authors' own agenda, I suggest four other areas. First, disaggregate the migration share by type, because temporary and permanent migrants are pooled, as highlighted in the data description. Second, add pull factors such as destination wages and labor demand, since the model focuses on domestic factors only. Third, extend the sample past 2005. And fourth, test for structural breaks, since stability is checked with CUSUM only.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notesSlide" Target="../notesSlides/notesSlide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7.png"/><Relationship Id="rId4" Type="http://schemas.openxmlformats.org/officeDocument/2006/relationships/image" Target="../media/image11.png"/><Relationship Id="rId5" Type="http://schemas.openxmlformats.org/officeDocument/2006/relationships/notesSlide" Target="../notesSlides/notesSlide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6.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notesSlide" Target="../notesSlides/notesSlide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7.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notesSlide" Target="../notesSlides/notesSlide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6.png"/><Relationship Id="rId4" Type="http://schemas.openxmlformats.org/officeDocument/2006/relationships/image" Target="../media/image22.png"/><Relationship Id="rId5" Type="http://schemas.openxmlformats.org/officeDocument/2006/relationships/notesSlide" Target="../notesSlides/notesSlide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7.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notesSlide" Target="../notesSlides/notesSlide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6.png"/><Relationship Id="rId4" Type="http://schemas.openxmlformats.org/officeDocument/2006/relationships/image" Target="../media/image27.png"/><Relationship Id="rId5" Type="http://schemas.openxmlformats.org/officeDocument/2006/relationships/image" Target="../media/image20.png"/><Relationship Id="rId6" Type="http://schemas.openxmlformats.org/officeDocument/2006/relationships/notesSlide" Target="../notesSlides/notesSlide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7.png"/><Relationship Id="rId4" Type="http://schemas.openxmlformats.org/officeDocument/2006/relationships/image" Target="../media/image29.png"/><Relationship Id="rId5" Type="http://schemas.openxmlformats.org/officeDocument/2006/relationships/notesSlide" Target="../notesSlides/notesSlide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6.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notesSlide" Target="../notesSlides/notesSlide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7.png"/><Relationship Id="rId4" Type="http://schemas.openxmlformats.org/officeDocument/2006/relationships/notesSlide" Target="../notesSlides/notesSlide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6.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notesSlide" Target="../notesSlides/notesSlide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7.png"/><Relationship Id="rId4" Type="http://schemas.openxmlformats.org/officeDocument/2006/relationships/image" Target="../media/image17.png"/><Relationship Id="rId5" Type="http://schemas.openxmlformats.org/officeDocument/2006/relationships/image" Target="../media/image20.png"/><Relationship Id="rId6" Type="http://schemas.openxmlformats.org/officeDocument/2006/relationships/image" Target="../media/image25.png"/><Relationship Id="rId7" Type="http://schemas.openxmlformats.org/officeDocument/2006/relationships/notesSlide" Target="../notesSlides/notesSlide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jpeg"/><Relationship Id="rId4" Type="http://schemas.openxmlformats.org/officeDocument/2006/relationships/image" Target="../media/image4.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17" b="0"/>
              </a:stretch>
            </a:blipFill>
          </p:spPr>
        </p:sp>
      </p:grpSp>
      <p:sp>
        <p:nvSpPr>
          <p:cNvPr name="TextBox 4" id="4"/>
          <p:cNvSpPr txBox="true"/>
          <p:nvPr/>
        </p:nvSpPr>
        <p:spPr>
          <a:xfrm rot="0">
            <a:off x="2606021" y="9397517"/>
            <a:ext cx="13533149" cy="302781"/>
          </a:xfrm>
          <a:prstGeom prst="rect">
            <a:avLst/>
          </a:prstGeom>
        </p:spPr>
        <p:txBody>
          <a:bodyPr anchor="t" rtlCol="false" tIns="0" lIns="0" bIns="0" rIns="0">
            <a:spAutoFit/>
          </a:bodyPr>
          <a:lstStyle/>
          <a:p>
            <a:pPr algn="ctr">
              <a:lnSpc>
                <a:spcPts val="2410"/>
              </a:lnSpc>
            </a:pPr>
            <a:r>
              <a:rPr lang="en-US" sz="2790">
                <a:solidFill>
                  <a:srgbClr val="C00000"/>
                </a:solidFill>
                <a:latin typeface="Arial"/>
                <a:ea typeface="Arial"/>
                <a:cs typeface="Arial"/>
                <a:sym typeface="Arial"/>
              </a:rPr>
              <a:t>We build dreams without limits! | www.usep.edu.ph</a:t>
            </a:r>
          </a:p>
        </p:txBody>
      </p:sp>
      <p:grpSp>
        <p:nvGrpSpPr>
          <p:cNvPr name="Group 5" id="5"/>
          <p:cNvGrpSpPr/>
          <p:nvPr/>
        </p:nvGrpSpPr>
        <p:grpSpPr>
          <a:xfrm rot="0">
            <a:off x="2286000" y="877329"/>
            <a:ext cx="13468864" cy="7576233"/>
            <a:chOff x="0" y="0"/>
            <a:chExt cx="17958486" cy="10101644"/>
          </a:xfrm>
        </p:grpSpPr>
        <p:sp>
          <p:nvSpPr>
            <p:cNvPr name="Freeform 6" id="6"/>
            <p:cNvSpPr/>
            <p:nvPr/>
          </p:nvSpPr>
          <p:spPr>
            <a:xfrm flipH="false" flipV="false" rot="0">
              <a:off x="0" y="0"/>
              <a:ext cx="17958436" cy="10101707"/>
            </a:xfrm>
            <a:custGeom>
              <a:avLst/>
              <a:gdLst/>
              <a:ahLst/>
              <a:cxnLst/>
              <a:rect r="r" b="b" t="t" l="l"/>
              <a:pathLst>
                <a:path h="10101707" w="17958436">
                  <a:moveTo>
                    <a:pt x="0" y="0"/>
                  </a:moveTo>
                  <a:lnTo>
                    <a:pt x="17958436" y="0"/>
                  </a:lnTo>
                  <a:lnTo>
                    <a:pt x="17958436" y="10101707"/>
                  </a:lnTo>
                  <a:lnTo>
                    <a:pt x="0" y="10101707"/>
                  </a:lnTo>
                  <a:lnTo>
                    <a:pt x="0" y="0"/>
                  </a:lnTo>
                  <a:close/>
                </a:path>
              </a:pathLst>
            </a:custGeom>
            <a:blipFill>
              <a:blip r:embed="rId4"/>
              <a:stretch>
                <a:fillRect l="0" t="0" r="-18" b="0"/>
              </a:stretch>
            </a:blipFill>
          </p:spPr>
        </p:sp>
      </p:grpSp>
      <p:sp>
        <p:nvSpPr>
          <p:cNvPr id="7" name="Title"/>
          <p:cNvSpPr txBox="1"/>
          <p:nvPr/>
        </p:nvSpPr>
        <p:spPr>
          <a:xfrm>
            <a:off x="1371600" y="5303520"/>
            <a:ext cx="15544800" cy="2286000"/>
          </a:xfrm>
          <a:prstGeom prst="rect">
            <a:avLst/>
          </a:prstGeom>
          <a:noFill/>
        </p:spPr>
        <p:txBody>
          <a:bodyPr wrap="square" lIns="0" rIns="0" tIns="0" bIns="0" anchor="ctr">
            <a:noAutofit/>
          </a:bodyPr>
          <a:lstStyle/>
          <a:p>
            <a:pPr algn="ctr">
              <a:lnSpc>
                <a:spcPct val="105000"/>
              </a:lnSpc>
              <a:spcAft>
                <a:spcPts val="1000"/>
              </a:spcAft>
            </a:pPr>
            <a:r>
              <a:rPr sz="4200" b="1" i="0">
                <a:solidFill>
                  <a:srgbClr val="7A1916"/>
                </a:solidFill>
                <a:latin typeface="Times New Roman"/>
              </a:rPr>
              <a:t>Critical Review of Agbola and Acupan (2010): An Empirical Analysis of International Labor Migration in the Philippines</a:t>
            </a:r>
          </a:p>
        </p:txBody>
      </p:sp>
      <p:sp>
        <p:nvSpPr>
          <p:cNvPr id="8" name="Subtitle"/>
          <p:cNvSpPr txBox="1"/>
          <p:nvPr/>
        </p:nvSpPr>
        <p:spPr>
          <a:xfrm>
            <a:off x="1371600" y="7726679"/>
            <a:ext cx="15544800" cy="1371600"/>
          </a:xfrm>
          <a:prstGeom prst="rect">
            <a:avLst/>
          </a:prstGeom>
          <a:noFill/>
        </p:spPr>
        <p:txBody>
          <a:bodyPr wrap="square" lIns="0" rIns="0" tIns="0" bIns="0" anchor="t">
            <a:noAutofit/>
          </a:bodyPr>
          <a:lstStyle/>
          <a:p>
            <a:pPr algn="ctr">
              <a:lnSpc>
                <a:spcPct val="105000"/>
              </a:lnSpc>
              <a:spcAft>
                <a:spcPts val="600"/>
              </a:spcAft>
            </a:pPr>
            <a:r>
              <a:rPr sz="2500" b="0" i="0">
                <a:solidFill>
                  <a:srgbClr val="1A1A1A"/>
                </a:solidFill>
                <a:latin typeface="Times New Roman"/>
              </a:rPr>
              <a:t>Agbola, F. W., &amp; Acupan, A. B. (2010) · </a:t>
            </a:r>
            <a:r>
              <a:rPr sz="2500" b="0" i="1">
                <a:solidFill>
                  <a:srgbClr val="1A1A1A"/>
                </a:solidFill>
                <a:latin typeface="Times New Roman"/>
              </a:rPr>
              <a:t>Economic Systems, 34</a:t>
            </a:r>
            <a:r>
              <a:rPr sz="2500" b="0" i="0">
                <a:solidFill>
                  <a:srgbClr val="1A1A1A"/>
                </a:solidFill>
                <a:latin typeface="Times New Roman"/>
              </a:rPr>
              <a:t>(4), 386–396</a:t>
            </a:r>
          </a:p>
          <a:p>
            <a:pPr algn="ctr">
              <a:lnSpc>
                <a:spcPct val="105000"/>
              </a:lnSpc>
              <a:spcAft>
                <a:spcPts val="600"/>
              </a:spcAft>
            </a:pPr>
            <a:r>
              <a:rPr sz="2500" b="1" i="0">
                <a:solidFill>
                  <a:srgbClr val="7A1916"/>
                </a:solidFill>
                <a:latin typeface="Times New Roman"/>
              </a:rPr>
              <a:t>Lian Cataytay</a:t>
            </a:r>
            <a:r>
              <a:rPr sz="2500" b="0" i="0">
                <a:solidFill>
                  <a:srgbClr val="1A1A1A"/>
                </a:solidFill>
                <a:latin typeface="Times New Roman"/>
              </a:rPr>
              <a:t> · University of Southeastern Philippines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17" b="0"/>
              </a:stretch>
            </a:blipFill>
          </p:spPr>
        </p:sp>
      </p:grpSp>
      <p:sp>
        <p:nvSpPr>
          <p:cNvPr name="TextBox 4" id="4"/>
          <p:cNvSpPr txBox="true"/>
          <p:nvPr/>
        </p:nvSpPr>
        <p:spPr>
          <a:xfrm rot="0">
            <a:off x="91421" y="9908915"/>
            <a:ext cx="17981581" cy="369456"/>
          </a:xfrm>
          <a:prstGeom prst="rect">
            <a:avLst/>
          </a:prstGeom>
        </p:spPr>
        <p:txBody>
          <a:bodyPr anchor="t" rtlCol="false" tIns="0" lIns="0" bIns="0" rIns="0">
            <a:spAutoFit/>
          </a:bodyPr>
          <a:lstStyle/>
          <a:p>
            <a:pPr algn="ctr">
              <a:lnSpc>
                <a:spcPts val="1377"/>
              </a:lnSpc>
            </a:pPr>
            <a:r>
              <a:rPr lang="en-US" b="true" sz="1275">
                <a:solidFill>
                  <a:srgbClr val="3A3A3A"/>
                </a:solidFill>
                <a:latin typeface="Arial Bold"/>
                <a:ea typeface="Arial Bold"/>
                <a:cs typeface="Arial Bold"/>
                <a:sym typeface="Arial Bold"/>
              </a:rPr>
              <a:t>© 2026 University of Southeastern Philippines |</a:t>
            </a:r>
            <a:r>
              <a:rPr lang="en-US" sz="1275">
                <a:solidFill>
                  <a:srgbClr val="3A3A3A"/>
                </a:solidFill>
                <a:latin typeface="Arial"/>
                <a:ea typeface="Arial"/>
                <a:cs typeface="Arial"/>
                <a:sym typeface="Arial"/>
              </a:rPr>
              <a:t> All Rights Reserved. This presentation contains confidential and proprietary information. Photography, video, and audio recording of these materials are prohibited without prior authorization.</a:t>
            </a:r>
          </a:p>
        </p:txBody>
      </p:sp>
      <p:sp>
        <p:nvSpPr>
          <p:cNvPr id="5" name="Title"/>
          <p:cNvSpPr txBox="1"/>
          <p:nvPr/>
        </p:nvSpPr>
        <p:spPr>
          <a:xfrm>
            <a:off x="914400" y="1600200"/>
            <a:ext cx="16459200" cy="914400"/>
          </a:xfrm>
          <a:prstGeom prst="rect">
            <a:avLst/>
          </a:prstGeom>
          <a:noFill/>
        </p:spPr>
        <p:txBody>
          <a:bodyPr wrap="square" lIns="0" rIns="0" tIns="0" bIns="0" anchor="ctr">
            <a:noAutofit/>
          </a:bodyPr>
          <a:lstStyle/>
          <a:p>
            <a:pPr algn="l">
              <a:lnSpc>
                <a:spcPct val="105000"/>
              </a:lnSpc>
              <a:spcAft>
                <a:spcPts val="1000"/>
              </a:spcAft>
            </a:pPr>
            <a:r>
              <a:rPr sz="4800" b="1" i="0">
                <a:solidFill>
                  <a:srgbClr val="7A1916"/>
                </a:solidFill>
                <a:latin typeface="Times New Roman"/>
              </a:rPr>
              <a:t>The review at a glance</a:t>
            </a:r>
          </a:p>
        </p:txBody>
      </p:sp>
      <p:sp>
        <p:nvSpPr>
          <p:cNvPr id="6" name="Key message"/>
          <p:cNvSpPr txBox="1"/>
          <p:nvPr/>
        </p:nvSpPr>
        <p:spPr>
          <a:xfrm>
            <a:off x="914400" y="2606040"/>
            <a:ext cx="16459200" cy="822960"/>
          </a:xfrm>
          <a:prstGeom prst="rect">
            <a:avLst/>
          </a:prstGeom>
          <a:noFill/>
        </p:spPr>
        <p:txBody>
          <a:bodyPr wrap="square" lIns="0" rIns="0" tIns="0" bIns="0" anchor="t">
            <a:noAutofit/>
          </a:bodyPr>
          <a:lstStyle/>
          <a:p>
            <a:pPr algn="l">
              <a:lnSpc>
                <a:spcPct val="105000"/>
              </a:lnSpc>
              <a:spcAft>
                <a:spcPts val="1000"/>
              </a:spcAft>
            </a:pPr>
            <a:r>
              <a:rPr sz="2800" b="1" i="1">
                <a:solidFill>
                  <a:srgbClr val="1A1A1A"/>
                </a:solidFill>
                <a:latin typeface="Times New Roman"/>
              </a:rPr>
              <a:t>Domestic conditions shape emigration, but a short sample and missing pull factors limit the ECM.</a:t>
            </a:r>
          </a:p>
        </p:txBody>
      </p:sp>
      <p:graphicFrame>
        <p:nvGraphicFramePr>
          <p:cNvPr id="7" name="Overview table"/>
          <p:cNvGraphicFramePr>
            <a:graphicFrameLocks noGrp="1"/>
          </p:cNvGraphicFramePr>
          <p:nvPr/>
        </p:nvGraphicFramePr>
        <p:xfrm>
          <a:off x="914400" y="3611880"/>
          <a:ext cx="10058400" cy="3886200"/>
        </p:xfrm>
        <a:graphic>
          <a:graphicData uri="http://schemas.openxmlformats.org/drawingml/2006/table">
            <a:tbl>
              <a:tblPr firstRow="0" bandRow="0">
                <a:tableStyleId>{5940675A-B579-460E-94D1-54222C63F5DA}</a:tableStyleId>
              </a:tblPr>
              <a:tblGrid>
                <a:gridCol w="2377440"/>
                <a:gridCol w="7680960"/>
              </a:tblGrid>
              <a:tr h="777240">
                <a:tc>
                  <a:txBody>
                    <a:bodyPr wrap="square"/>
                    <a:lstStyle/>
                    <a:p>
                      <a:r>
                        <a:rPr sz="2200" b="1" i="0">
                          <a:solidFill>
                            <a:srgbClr val="FFFFFF"/>
                          </a:solidFill>
                          <a:latin typeface="Times New Roman"/>
                        </a:rPr>
                        <a:t>Item</a:t>
                      </a:r>
                    </a:p>
                  </a:txBody>
                  <a:tcPr marL="109728" marR="109728" marT="45720" marB="45720" anchor="ctr">
                    <a:solidFill>
                      <a:srgbClr val="7A1916"/>
                    </a:solidFill>
                  </a:tcPr>
                </a:tc>
                <a:tc>
                  <a:txBody>
                    <a:bodyPr wrap="square"/>
                    <a:lstStyle/>
                    <a:p>
                      <a:r>
                        <a:rPr sz="2200" b="1" i="0">
                          <a:solidFill>
                            <a:srgbClr val="FFFFFF"/>
                          </a:solidFill>
                          <a:latin typeface="Times New Roman"/>
                        </a:rPr>
                        <a:t>The study</a:t>
                      </a:r>
                    </a:p>
                  </a:txBody>
                  <a:tcPr marL="109728" marR="109728" marT="45720" marB="45720" anchor="ctr">
                    <a:solidFill>
                      <a:srgbClr val="7A1916"/>
                    </a:solidFill>
                  </a:tcPr>
                </a:tc>
              </a:tr>
              <a:tr h="777240">
                <a:tc>
                  <a:txBody>
                    <a:bodyPr wrap="square"/>
                    <a:lstStyle/>
                    <a:p>
                      <a:r>
                        <a:rPr sz="2200" b="1" i="0">
                          <a:solidFill>
                            <a:srgbClr val="1A1A1A"/>
                          </a:solidFill>
                          <a:latin typeface="Times New Roman"/>
                        </a:rPr>
                        <a:t>Question</a:t>
                      </a:r>
                    </a:p>
                  </a:txBody>
                  <a:tcPr marL="109728" marR="109728" marT="45720" marB="45720" anchor="ctr">
                    <a:solidFill>
                      <a:srgbClr val="FFFFFF"/>
                    </a:solidFill>
                  </a:tcPr>
                </a:tc>
                <a:tc>
                  <a:txBody>
                    <a:bodyPr wrap="square"/>
                    <a:lstStyle/>
                    <a:p>
                      <a:r>
                        <a:rPr sz="2200" b="0" i="0">
                          <a:solidFill>
                            <a:srgbClr val="1A1A1A"/>
                          </a:solidFill>
                          <a:latin typeface="Times New Roman"/>
                        </a:rPr>
                        <a:t>How do economic, demographic and political factors affect emigration from the Philippines?</a:t>
                      </a:r>
                    </a:p>
                  </a:txBody>
                  <a:tcPr marL="109728" marR="109728" marT="45720" marB="45720" anchor="ctr">
                    <a:solidFill>
                      <a:srgbClr val="FFFFFF"/>
                    </a:solidFill>
                  </a:tcPr>
                </a:tc>
              </a:tr>
              <a:tr h="777240">
                <a:tc>
                  <a:txBody>
                    <a:bodyPr wrap="square"/>
                    <a:lstStyle/>
                    <a:p>
                      <a:r>
                        <a:rPr sz="2200" b="1" i="0">
                          <a:solidFill>
                            <a:srgbClr val="1A1A1A"/>
                          </a:solidFill>
                          <a:latin typeface="Times New Roman"/>
                        </a:rPr>
                        <a:t>Data</a:t>
                      </a:r>
                    </a:p>
                  </a:txBody>
                  <a:tcPr marL="109728" marR="109728" marT="45720" marB="45720" anchor="ctr">
                    <a:solidFill>
                      <a:srgbClr val="F4F4F4"/>
                    </a:solidFill>
                  </a:tcPr>
                </a:tc>
                <a:tc>
                  <a:txBody>
                    <a:bodyPr wrap="square"/>
                    <a:lstStyle/>
                    <a:p>
                      <a:r>
                        <a:rPr sz="2200" b="0" i="0">
                          <a:solidFill>
                            <a:srgbClr val="1A1A1A"/>
                          </a:solidFill>
                          <a:latin typeface="Times New Roman"/>
                        </a:rPr>
                        <a:t>Annual national aggregates, 1975–2005 (T = 31)</a:t>
                      </a:r>
                    </a:p>
                  </a:txBody>
                  <a:tcPr marL="109728" marR="109728" marT="45720" marB="45720" anchor="ctr">
                    <a:solidFill>
                      <a:srgbClr val="F4F4F4"/>
                    </a:solidFill>
                  </a:tcPr>
                </a:tc>
              </a:tr>
              <a:tr h="777240">
                <a:tc>
                  <a:txBody>
                    <a:bodyPr wrap="square"/>
                    <a:lstStyle/>
                    <a:p>
                      <a:r>
                        <a:rPr sz="2200" b="1" i="0">
                          <a:solidFill>
                            <a:srgbClr val="1A1A1A"/>
                          </a:solidFill>
                          <a:latin typeface="Times New Roman"/>
                        </a:rPr>
                        <a:t>Method</a:t>
                      </a:r>
                    </a:p>
                  </a:txBody>
                  <a:tcPr marL="109728" marR="109728" marT="45720" marB="45720" anchor="ctr">
                    <a:solidFill>
                      <a:srgbClr val="FFFFFF"/>
                    </a:solidFill>
                  </a:tcPr>
                </a:tc>
                <a:tc>
                  <a:txBody>
                    <a:bodyPr wrap="square"/>
                    <a:lstStyle/>
                    <a:p>
                      <a:r>
                        <a:rPr sz="2200" b="0" i="0">
                          <a:solidFill>
                            <a:srgbClr val="1A1A1A"/>
                          </a:solidFill>
                          <a:latin typeface="Times New Roman"/>
                        </a:rPr>
                        <a:t>Error correction model (ECM), estimated by OLS</a:t>
                      </a:r>
                    </a:p>
                  </a:txBody>
                  <a:tcPr marL="109728" marR="109728" marT="45720" marB="45720" anchor="ctr">
                    <a:solidFill>
                      <a:srgbClr val="FFFFFF"/>
                    </a:solidFill>
                  </a:tcPr>
                </a:tc>
              </a:tr>
              <a:tr h="777240">
                <a:tc>
                  <a:txBody>
                    <a:bodyPr wrap="square"/>
                    <a:lstStyle/>
                    <a:p>
                      <a:r>
                        <a:rPr sz="2200" b="1" i="0">
                          <a:solidFill>
                            <a:srgbClr val="7A1916"/>
                          </a:solidFill>
                          <a:latin typeface="Times New Roman"/>
                        </a:rPr>
                        <a:t>Result</a:t>
                      </a:r>
                    </a:p>
                  </a:txBody>
                  <a:tcPr marL="109728" marR="109728" marT="45720" marB="45720" anchor="ctr">
                    <a:solidFill>
                      <a:srgbClr val="F6ECEB"/>
                    </a:solidFill>
                  </a:tcPr>
                </a:tc>
                <a:tc>
                  <a:txBody>
                    <a:bodyPr wrap="square"/>
                    <a:lstStyle/>
                    <a:p>
                      <a:r>
                        <a:rPr sz="2200" b="1" i="0">
                          <a:solidFill>
                            <a:srgbClr val="7A1916"/>
                          </a:solidFill>
                          <a:latin typeface="Times New Roman"/>
                        </a:rPr>
                        <a:t>Unemployment ↑ emigration; adult literacy, political instability, population density ↓</a:t>
                      </a:r>
                    </a:p>
                  </a:txBody>
                  <a:tcPr marL="109728" marR="109728" marT="45720" marB="45720" anchor="ctr">
                    <a:solidFill>
                      <a:srgbClr val="F6ECEB"/>
                    </a:solidFill>
                  </a:tcPr>
                </a:tc>
              </a:tr>
            </a:tbl>
          </a:graphicData>
        </a:graphic>
      </p:graphicFrame>
      <p:sp>
        <p:nvSpPr>
          <p:cNvPr id="8" name="critique box"/>
          <p:cNvSpPr/>
          <p:nvPr/>
        </p:nvSpPr>
        <p:spPr>
          <a:xfrm>
            <a:off x="11338560" y="3611880"/>
            <a:ext cx="6035040" cy="2743200"/>
          </a:xfrm>
          <a:prstGeom prst="roundRect">
            <a:avLst>
              <a:gd name="adj" fmla="val 4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ritique edge"/>
          <p:cNvSpPr/>
          <p:nvPr/>
        </p:nvSpPr>
        <p:spPr>
          <a:xfrm>
            <a:off x="11338560" y="3611880"/>
            <a:ext cx="109728" cy="2743200"/>
          </a:xfrm>
          <a:prstGeom prst="roundRect">
            <a:avLst>
              <a:gd name="adj" fmla="val 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ritique text"/>
          <p:cNvSpPr txBox="1"/>
          <p:nvPr/>
        </p:nvSpPr>
        <p:spPr>
          <a:xfrm>
            <a:off x="11704320" y="3776472"/>
            <a:ext cx="5486400" cy="2487168"/>
          </a:xfrm>
          <a:prstGeom prst="rect">
            <a:avLst/>
          </a:prstGeom>
          <a:noFill/>
        </p:spPr>
        <p:txBody>
          <a:bodyPr wrap="square" lIns="0" rIns="0" tIns="0" bIns="0" anchor="t">
            <a:noAutofit/>
          </a:bodyPr>
          <a:lstStyle/>
          <a:p>
            <a:pPr algn="l">
              <a:lnSpc>
                <a:spcPct val="105000"/>
              </a:lnSpc>
              <a:spcAft>
                <a:spcPts val="400"/>
              </a:spcAft>
            </a:pPr>
            <a:r>
              <a:rPr sz="2300" b="1" i="0">
                <a:solidFill>
                  <a:srgbClr val="C00000"/>
                </a:solidFill>
                <a:latin typeface="Times New Roman"/>
              </a:rPr>
              <a:t>Main criticisms</a:t>
            </a:r>
          </a:p>
          <a:p>
            <a:pPr algn="l" marL="384048" indent="-384048">
              <a:lnSpc>
                <a:spcPct val="105000"/>
              </a:lnSpc>
              <a:spcAft>
                <a:spcPts val="500"/>
              </a:spcAft>
              <a:buClr>
                <a:srgbClr val="C00000"/>
              </a:buClr>
              <a:buFont typeface="Times New Roman"/>
              <a:buChar char="•"/>
            </a:pPr>
            <a:r>
              <a:rPr sz="2300" b="1" i="0">
                <a:solidFill>
                  <a:srgbClr val="C00000"/>
                </a:solidFill>
                <a:latin typeface="Times New Roman"/>
              </a:rPr>
              <a:t>Relatively short sample</a:t>
            </a:r>
            <a:r>
              <a:rPr sz="2300" b="0" i="0">
                <a:solidFill>
                  <a:srgbClr val="1A1A1A"/>
                </a:solidFill>
                <a:latin typeface="Times New Roman"/>
              </a:rPr>
              <a:t> (T = 31)</a:t>
            </a:r>
          </a:p>
          <a:p>
            <a:pPr algn="l" marL="384048" indent="-384048">
              <a:lnSpc>
                <a:spcPct val="105000"/>
              </a:lnSpc>
              <a:spcAft>
                <a:spcPts val="500"/>
              </a:spcAft>
              <a:buClr>
                <a:srgbClr val="C00000"/>
              </a:buClr>
              <a:buFont typeface="Times New Roman"/>
              <a:buChar char="•"/>
            </a:pPr>
            <a:r>
              <a:rPr sz="2300" b="1" i="0">
                <a:solidFill>
                  <a:srgbClr val="C00000"/>
                </a:solidFill>
                <a:latin typeface="Times New Roman"/>
              </a:rPr>
              <a:t>Missing pull factors</a:t>
            </a:r>
            <a:r>
              <a:rPr sz="2300" b="0" i="0">
                <a:solidFill>
                  <a:srgbClr val="1A1A1A"/>
                </a:solidFill>
                <a:latin typeface="Times New Roman"/>
              </a:rPr>
              <a:t> that may have also shaped emigration</a:t>
            </a:r>
          </a:p>
        </p:txBody>
      </p:sp>
      <p:sp>
        <p:nvSpPr>
          <p:cNvPr id="11" name="Key head"/>
          <p:cNvSpPr txBox="1"/>
          <p:nvPr/>
        </p:nvSpPr>
        <p:spPr>
          <a:xfrm>
            <a:off x="11338560" y="6583680"/>
            <a:ext cx="6035040" cy="411480"/>
          </a:xfrm>
          <a:prstGeom prst="rect">
            <a:avLst/>
          </a:prstGeom>
          <a:noFill/>
        </p:spPr>
        <p:txBody>
          <a:bodyPr wrap="square" lIns="0" rIns="0" tIns="0" bIns="0" anchor="t">
            <a:noAutofit/>
          </a:bodyPr>
          <a:lstStyle/>
          <a:p>
            <a:pPr algn="l">
              <a:lnSpc>
                <a:spcPct val="105000"/>
              </a:lnSpc>
              <a:spcAft>
                <a:spcPts val="1000"/>
              </a:spcAft>
            </a:pPr>
            <a:r>
              <a:rPr sz="2200" b="1" i="0">
                <a:solidFill>
                  <a:srgbClr val="7A1916"/>
                </a:solidFill>
                <a:latin typeface="Times New Roman"/>
              </a:rPr>
              <a:t>How to read the slides</a:t>
            </a:r>
          </a:p>
        </p:txBody>
      </p:sp>
      <p:sp>
        <p:nvSpPr>
          <p:cNvPr id="12" name="Key Highlighted evidence from the article"/>
          <p:cNvSpPr/>
          <p:nvPr/>
        </p:nvSpPr>
        <p:spPr>
          <a:xfrm>
            <a:off x="11338560" y="7086600"/>
            <a:ext cx="6035040" cy="512064"/>
          </a:xfrm>
          <a:prstGeom prst="roundRect">
            <a:avLst>
              <a:gd name="adj" fmla="val 4000"/>
            </a:avLst>
          </a:prstGeom>
          <a:solidFill>
            <a:srgbClr val="FFF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Key Highlighted evidence from the article text"/>
          <p:cNvSpPr txBox="1"/>
          <p:nvPr/>
        </p:nvSpPr>
        <p:spPr>
          <a:xfrm>
            <a:off x="11521440" y="7086600"/>
            <a:ext cx="5760720" cy="512064"/>
          </a:xfrm>
          <a:prstGeom prst="rect">
            <a:avLst/>
          </a:prstGeom>
          <a:noFill/>
        </p:spPr>
        <p:txBody>
          <a:bodyPr wrap="square" lIns="0" rIns="0" tIns="0" bIns="0" anchor="ctr">
            <a:noAutofit/>
          </a:bodyPr>
          <a:lstStyle/>
          <a:p>
            <a:pPr algn="l">
              <a:lnSpc>
                <a:spcPct val="105000"/>
              </a:lnSpc>
              <a:spcAft>
                <a:spcPts val="1000"/>
              </a:spcAft>
            </a:pPr>
            <a:r>
              <a:rPr sz="2100" b="1" i="0">
                <a:solidFill>
                  <a:srgbClr val="333333"/>
                </a:solidFill>
                <a:latin typeface="Times New Roman"/>
              </a:rPr>
              <a:t>Highlighted evidence from the article</a:t>
            </a:r>
          </a:p>
        </p:txBody>
      </p:sp>
      <p:sp>
        <p:nvSpPr>
          <p:cNvPr id="14" name="Key Strength"/>
          <p:cNvSpPr/>
          <p:nvPr/>
        </p:nvSpPr>
        <p:spPr>
          <a:xfrm>
            <a:off x="11338560" y="7708392"/>
            <a:ext cx="6035040" cy="512064"/>
          </a:xfrm>
          <a:prstGeom prst="roundRect">
            <a:avLst>
              <a:gd name="adj" fmla="val 4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Key Strength text"/>
          <p:cNvSpPr txBox="1"/>
          <p:nvPr/>
        </p:nvSpPr>
        <p:spPr>
          <a:xfrm>
            <a:off x="11521440" y="7708392"/>
            <a:ext cx="5760720" cy="512064"/>
          </a:xfrm>
          <a:prstGeom prst="rect">
            <a:avLst/>
          </a:prstGeom>
          <a:noFill/>
        </p:spPr>
        <p:txBody>
          <a:bodyPr wrap="square" lIns="0" rIns="0" tIns="0" bIns="0" anchor="ctr">
            <a:noAutofit/>
          </a:bodyPr>
          <a:lstStyle/>
          <a:p>
            <a:pPr algn="l">
              <a:lnSpc>
                <a:spcPct val="105000"/>
              </a:lnSpc>
              <a:spcAft>
                <a:spcPts val="1000"/>
              </a:spcAft>
            </a:pPr>
            <a:r>
              <a:rPr sz="2100" b="1" i="0">
                <a:solidFill>
                  <a:srgbClr val="2E7D32"/>
                </a:solidFill>
                <a:latin typeface="Times New Roman"/>
              </a:rPr>
              <a:t>Strength</a:t>
            </a:r>
          </a:p>
        </p:txBody>
      </p:sp>
      <p:sp>
        <p:nvSpPr>
          <p:cNvPr id="16" name="Key Critical note"/>
          <p:cNvSpPr/>
          <p:nvPr/>
        </p:nvSpPr>
        <p:spPr>
          <a:xfrm>
            <a:off x="11338560" y="8330183"/>
            <a:ext cx="6035040" cy="512064"/>
          </a:xfrm>
          <a:prstGeom prst="roundRect">
            <a:avLst>
              <a:gd name="adj" fmla="val 4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Key Critical note text"/>
          <p:cNvSpPr txBox="1"/>
          <p:nvPr/>
        </p:nvSpPr>
        <p:spPr>
          <a:xfrm>
            <a:off x="11521440" y="8330183"/>
            <a:ext cx="5760720" cy="512064"/>
          </a:xfrm>
          <a:prstGeom prst="rect">
            <a:avLst/>
          </a:prstGeom>
          <a:noFill/>
        </p:spPr>
        <p:txBody>
          <a:bodyPr wrap="square" lIns="0" rIns="0" tIns="0" bIns="0" anchor="ctr">
            <a:noAutofit/>
          </a:bodyPr>
          <a:lstStyle/>
          <a:p>
            <a:pPr algn="l">
              <a:lnSpc>
                <a:spcPct val="105000"/>
              </a:lnSpc>
              <a:spcAft>
                <a:spcPts val="1000"/>
              </a:spcAft>
            </a:pPr>
            <a:r>
              <a:rPr sz="2100" b="1" i="0">
                <a:solidFill>
                  <a:srgbClr val="C00000"/>
                </a:solidFill>
                <a:latin typeface="Times New Roman"/>
              </a:rPr>
              <a:t>Critical note</a:t>
            </a:r>
          </a:p>
        </p:txBody>
      </p:sp>
      <p:sp>
        <p:nvSpPr>
          <p:cNvPr id="18" name="Key Reviewer suggestion"/>
          <p:cNvSpPr/>
          <p:nvPr/>
        </p:nvSpPr>
        <p:spPr>
          <a:xfrm>
            <a:off x="11338560" y="8951976"/>
            <a:ext cx="6035040" cy="512064"/>
          </a:xfrm>
          <a:prstGeom prst="roundRect">
            <a:avLst>
              <a:gd name="adj" fmla="val 4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Key Reviewer suggestion text"/>
          <p:cNvSpPr txBox="1"/>
          <p:nvPr/>
        </p:nvSpPr>
        <p:spPr>
          <a:xfrm>
            <a:off x="11521440" y="8951976"/>
            <a:ext cx="5760720" cy="512064"/>
          </a:xfrm>
          <a:prstGeom prst="rect">
            <a:avLst/>
          </a:prstGeom>
          <a:noFill/>
        </p:spPr>
        <p:txBody>
          <a:bodyPr wrap="square" lIns="0" rIns="0" tIns="0" bIns="0" anchor="ctr">
            <a:noAutofit/>
          </a:bodyPr>
          <a:lstStyle/>
          <a:p>
            <a:pPr algn="l">
              <a:lnSpc>
                <a:spcPct val="105000"/>
              </a:lnSpc>
              <a:spcAft>
                <a:spcPts val="1000"/>
              </a:spcAft>
            </a:pPr>
            <a:r>
              <a:rPr sz="2100" b="1" i="0">
                <a:solidFill>
                  <a:srgbClr val="1F4E9A"/>
                </a:solidFill>
                <a:latin typeface="Times New Roman"/>
              </a:rPr>
              <a:t>Reviewer suggestion</a:t>
            </a:r>
          </a:p>
        </p:txBody>
      </p:sp>
      <p:sp>
        <p:nvSpPr>
          <p:cNvPr id="20" name="Roadmap"/>
          <p:cNvSpPr txBox="1"/>
          <p:nvPr/>
        </p:nvSpPr>
        <p:spPr>
          <a:xfrm>
            <a:off x="914400" y="8001000"/>
            <a:ext cx="10058400" cy="1600200"/>
          </a:xfrm>
          <a:prstGeom prst="rect">
            <a:avLst/>
          </a:prstGeom>
          <a:noFill/>
        </p:spPr>
        <p:txBody>
          <a:bodyPr wrap="square" lIns="0" rIns="0" tIns="0" bIns="0" anchor="t">
            <a:noAutofit/>
          </a:bodyPr>
          <a:lstStyle/>
          <a:p>
            <a:pPr algn="l">
              <a:lnSpc>
                <a:spcPct val="105000"/>
              </a:lnSpc>
              <a:spcAft>
                <a:spcPts val="800"/>
              </a:spcAft>
            </a:pPr>
            <a:r>
              <a:rPr sz="2300" b="1" i="0">
                <a:solidFill>
                  <a:srgbClr val="7A1916"/>
                </a:solidFill>
                <a:latin typeface="Times New Roman"/>
              </a:rPr>
              <a:t>Roadmap</a:t>
            </a:r>
          </a:p>
          <a:p>
            <a:pPr algn="l">
              <a:lnSpc>
                <a:spcPct val="105000"/>
              </a:lnSpc>
              <a:spcAft>
                <a:spcPts val="1000"/>
              </a:spcAft>
            </a:pPr>
            <a:r>
              <a:rPr sz="2300" b="0" i="0">
                <a:solidFill>
                  <a:srgbClr val="1A1A1A"/>
                </a:solidFill>
                <a:latin typeface="Times New Roman"/>
              </a:rPr>
              <a:t>1 Research Problem / Gap → 2 Theoretical Framework → 3 Data → 4 Methodology → 5 Key Findings → 6 Areas for Further Research</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17" b="0"/>
              </a:stretch>
            </a:blipFill>
          </p:spPr>
        </p:sp>
      </p:grpSp>
      <p:sp>
        <p:nvSpPr>
          <p:cNvPr name="TextBox 4" id="4"/>
          <p:cNvSpPr txBox="true"/>
          <p:nvPr/>
        </p:nvSpPr>
        <p:spPr>
          <a:xfrm rot="0">
            <a:off x="91421" y="9983057"/>
            <a:ext cx="17981581" cy="369456"/>
          </a:xfrm>
          <a:prstGeom prst="rect">
            <a:avLst/>
          </a:prstGeom>
        </p:spPr>
        <p:txBody>
          <a:bodyPr anchor="t" rtlCol="false" tIns="0" lIns="0" bIns="0" rIns="0">
            <a:spAutoFit/>
          </a:bodyPr>
          <a:lstStyle/>
          <a:p>
            <a:pPr algn="ctr">
              <a:lnSpc>
                <a:spcPts val="1377"/>
              </a:lnSpc>
            </a:pPr>
            <a:r>
              <a:rPr lang="en-US" b="true" sz="1275">
                <a:solidFill>
                  <a:srgbClr val="3A3A3A"/>
                </a:solidFill>
                <a:latin typeface="Arial Bold"/>
                <a:ea typeface="Arial Bold"/>
                <a:cs typeface="Arial Bold"/>
                <a:sym typeface="Arial Bold"/>
              </a:rPr>
              <a:t>© 2026 University of Southeastern Philippines |</a:t>
            </a:r>
            <a:r>
              <a:rPr lang="en-US" sz="1275">
                <a:solidFill>
                  <a:srgbClr val="3A3A3A"/>
                </a:solidFill>
                <a:latin typeface="Arial"/>
                <a:ea typeface="Arial"/>
                <a:cs typeface="Arial"/>
                <a:sym typeface="Arial"/>
              </a:rPr>
              <a:t> All Rights Reserved. This presentation contains confidential and proprietary information. Photography, video, and audio recording of these materials are prohibited without prior authorization.</a:t>
            </a:r>
          </a:p>
        </p:txBody>
      </p:sp>
      <p:sp>
        <p:nvSpPr>
          <p:cNvPr id="5" name="Title"/>
          <p:cNvSpPr txBox="1"/>
          <p:nvPr/>
        </p:nvSpPr>
        <p:spPr>
          <a:xfrm>
            <a:off x="914400" y="1600200"/>
            <a:ext cx="16459200" cy="914400"/>
          </a:xfrm>
          <a:prstGeom prst="rect">
            <a:avLst/>
          </a:prstGeom>
          <a:noFill/>
        </p:spPr>
        <p:txBody>
          <a:bodyPr wrap="square" lIns="0" rIns="0" tIns="0" bIns="0" anchor="ctr">
            <a:noAutofit/>
          </a:bodyPr>
          <a:lstStyle/>
          <a:p>
            <a:pPr algn="l">
              <a:lnSpc>
                <a:spcPct val="105000"/>
              </a:lnSpc>
              <a:spcAft>
                <a:spcPts val="1000"/>
              </a:spcAft>
            </a:pPr>
            <a:r>
              <a:rPr sz="4800" b="1" i="0">
                <a:solidFill>
                  <a:srgbClr val="7A1916"/>
                </a:solidFill>
                <a:latin typeface="Times New Roman"/>
              </a:rPr>
              <a:t>1. Research Problem / Gap: the context</a:t>
            </a:r>
          </a:p>
        </p:txBody>
      </p:sp>
      <p:sp>
        <p:nvSpPr>
          <p:cNvPr id="6" name="Key message"/>
          <p:cNvSpPr txBox="1"/>
          <p:nvPr/>
        </p:nvSpPr>
        <p:spPr>
          <a:xfrm>
            <a:off x="914400" y="2606040"/>
            <a:ext cx="16459200" cy="822960"/>
          </a:xfrm>
          <a:prstGeom prst="rect">
            <a:avLst/>
          </a:prstGeom>
          <a:noFill/>
        </p:spPr>
        <p:txBody>
          <a:bodyPr wrap="square" lIns="0" rIns="0" tIns="0" bIns="0" anchor="t">
            <a:noAutofit/>
          </a:bodyPr>
          <a:lstStyle/>
          <a:p>
            <a:pPr algn="l">
              <a:lnSpc>
                <a:spcPct val="105000"/>
              </a:lnSpc>
              <a:spcAft>
                <a:spcPts val="1000"/>
              </a:spcAft>
            </a:pPr>
            <a:r>
              <a:rPr sz="2800" b="1" i="1">
                <a:solidFill>
                  <a:srgbClr val="1A1A1A"/>
                </a:solidFill>
                <a:latin typeface="Times New Roman"/>
              </a:rPr>
              <a:t>Labor export began as a stop-gap, but this became structural.</a:t>
            </a:r>
          </a:p>
        </p:txBody>
      </p:sp>
      <p:sp>
        <p:nvSpPr>
          <p:cNvPr id="7" name="Points"/>
          <p:cNvSpPr txBox="1"/>
          <p:nvPr/>
        </p:nvSpPr>
        <p:spPr>
          <a:xfrm>
            <a:off x="914400" y="3611880"/>
            <a:ext cx="7680960" cy="5943600"/>
          </a:xfrm>
          <a:prstGeom prst="rect">
            <a:avLst/>
          </a:prstGeom>
          <a:noFill/>
        </p:spPr>
        <p:txBody>
          <a:bodyPr wrap="square" lIns="0" rIns="0" tIns="0" bIns="0" anchor="t">
            <a:noAutofit/>
          </a:bodyPr>
          <a:lstStyle/>
          <a:p>
            <a:pPr algn="l" marL="384048" indent="-384048">
              <a:lnSpc>
                <a:spcPct val="105000"/>
              </a:lnSpc>
              <a:spcAft>
                <a:spcPts val="1400"/>
              </a:spcAft>
              <a:buClr>
                <a:srgbClr val="7A1916"/>
              </a:buClr>
              <a:buFont typeface="Times New Roman"/>
              <a:buChar char="•"/>
            </a:pPr>
            <a:r>
              <a:rPr sz="2600" b="0" i="0">
                <a:solidFill>
                  <a:srgbClr val="1A1A1A"/>
                </a:solidFill>
                <a:latin typeface="Times New Roman"/>
              </a:rPr>
              <a:t>Labor export began in the 1970s as a </a:t>
            </a:r>
            <a:r>
              <a:rPr sz="2600" b="1" i="0">
                <a:solidFill>
                  <a:srgbClr val="7A1916"/>
                </a:solidFill>
                <a:latin typeface="Times New Roman"/>
              </a:rPr>
              <a:t>stop-gap for unemployment</a:t>
            </a:r>
            <a:r>
              <a:rPr sz="2600" b="0" i="0">
                <a:solidFill>
                  <a:srgbClr val="1A1A1A"/>
                </a:solidFill>
                <a:latin typeface="Times New Roman"/>
              </a:rPr>
              <a:t> and a </a:t>
            </a:r>
            <a:r>
              <a:rPr sz="2600" b="1" i="0">
                <a:solidFill>
                  <a:srgbClr val="7A1916"/>
                </a:solidFill>
                <a:latin typeface="Times New Roman"/>
              </a:rPr>
              <a:t>balance-of-payments crisis</a:t>
            </a:r>
          </a:p>
          <a:p>
            <a:pPr algn="l" marL="384048" indent="-384048">
              <a:lnSpc>
                <a:spcPct val="105000"/>
              </a:lnSpc>
              <a:spcAft>
                <a:spcPts val="1400"/>
              </a:spcAft>
              <a:buClr>
                <a:srgbClr val="7A1916"/>
              </a:buClr>
              <a:buFont typeface="Times New Roman"/>
              <a:buChar char="•"/>
            </a:pPr>
            <a:r>
              <a:rPr sz="2600" b="0" i="0">
                <a:solidFill>
                  <a:srgbClr val="1A1A1A"/>
                </a:solidFill>
                <a:latin typeface="Times New Roman"/>
              </a:rPr>
              <a:t>It then became </a:t>
            </a:r>
            <a:r>
              <a:rPr sz="2600" b="1" i="0">
                <a:solidFill>
                  <a:srgbClr val="7A1916"/>
                </a:solidFill>
                <a:latin typeface="Times New Roman"/>
              </a:rPr>
              <a:t>structural</a:t>
            </a:r>
          </a:p>
          <a:p>
            <a:pPr algn="l" marL="384048" indent="-384048">
              <a:lnSpc>
                <a:spcPct val="105000"/>
              </a:lnSpc>
              <a:spcAft>
                <a:spcPts val="1400"/>
              </a:spcAft>
              <a:buClr>
                <a:srgbClr val="7A1916"/>
              </a:buClr>
              <a:buFont typeface="Times New Roman"/>
              <a:buChar char="•"/>
            </a:pPr>
            <a:r>
              <a:rPr sz="2600" b="0" i="0">
                <a:solidFill>
                  <a:srgbClr val="1A1A1A"/>
                </a:solidFill>
                <a:latin typeface="Times New Roman"/>
              </a:rPr>
              <a:t>About </a:t>
            </a:r>
            <a:r>
              <a:rPr sz="2600" b="1" i="0">
                <a:solidFill>
                  <a:srgbClr val="7A1916"/>
                </a:solidFill>
                <a:latin typeface="Times New Roman"/>
              </a:rPr>
              <a:t>8.2 million Filipinos</a:t>
            </a:r>
            <a:r>
              <a:rPr sz="2600" b="0" i="0">
                <a:solidFill>
                  <a:srgbClr val="1A1A1A"/>
                </a:solidFill>
                <a:latin typeface="Times New Roman"/>
              </a:rPr>
              <a:t> lived or worked abroad</a:t>
            </a:r>
          </a:p>
          <a:p>
            <a:pPr algn="l" marL="384048" indent="-384048">
              <a:lnSpc>
                <a:spcPct val="105000"/>
              </a:lnSpc>
              <a:spcAft>
                <a:spcPts val="1400"/>
              </a:spcAft>
              <a:buClr>
                <a:srgbClr val="7A1916"/>
              </a:buClr>
              <a:buFont typeface="Times New Roman"/>
              <a:buChar char="•"/>
            </a:pPr>
            <a:r>
              <a:rPr sz="2600" b="0" i="0">
                <a:solidFill>
                  <a:srgbClr val="1A1A1A"/>
                </a:solidFill>
                <a:latin typeface="Times New Roman"/>
              </a:rPr>
              <a:t>They sent home </a:t>
            </a:r>
            <a:r>
              <a:rPr sz="2600" b="1" i="0">
                <a:solidFill>
                  <a:srgbClr val="7A1916"/>
                </a:solidFill>
                <a:latin typeface="Times New Roman"/>
              </a:rPr>
              <a:t>US$14.4 billion</a:t>
            </a:r>
            <a:r>
              <a:rPr sz="2600" b="0" i="0">
                <a:solidFill>
                  <a:srgbClr val="1A1A1A"/>
                </a:solidFill>
                <a:latin typeface="Times New Roman"/>
              </a:rPr>
              <a:t> in 2007</a:t>
            </a:r>
          </a:p>
        </p:txBody>
      </p:sp>
      <p:sp>
        <p:nvSpPr>
          <p:cNvPr id="8" name="Evidence label"/>
          <p:cNvSpPr txBox="1"/>
          <p:nvPr/>
        </p:nvSpPr>
        <p:spPr>
          <a:xfrm>
            <a:off x="9052560" y="3611880"/>
            <a:ext cx="8321040" cy="365760"/>
          </a:xfrm>
          <a:prstGeom prst="rect">
            <a:avLst/>
          </a:prstGeom>
          <a:noFill/>
        </p:spPr>
        <p:txBody>
          <a:bodyPr wrap="square" lIns="0" rIns="0" tIns="0" bIns="0" anchor="t">
            <a:noAutofit/>
          </a:bodyPr>
          <a:lstStyle/>
          <a:p>
            <a:pPr algn="l">
              <a:lnSpc>
                <a:spcPct val="105000"/>
              </a:lnSpc>
              <a:spcAft>
                <a:spcPts val="1000"/>
              </a:spcAft>
            </a:pPr>
            <a:r>
              <a:rPr sz="1900" b="1" i="1">
                <a:solidFill>
                  <a:srgbClr val="595959"/>
                </a:solidFill>
                <a:latin typeface="Times New Roman"/>
              </a:rPr>
              <a:t>Evidence from the article (highlighted)</a:t>
            </a:r>
          </a:p>
        </p:txBody>
      </p:sp>
      <p:pic>
        <p:nvPicPr>
          <p:cNvPr id="9" name="Excerpt rp_stopgap" descr="rp_stopgap.png"/>
          <p:cNvPicPr>
            <a:picLocks noChangeAspect="1"/>
          </p:cNvPicPr>
          <p:nvPr/>
        </p:nvPicPr>
        <p:blipFill>
          <a:blip r:embed="rId4"/>
          <a:stretch>
            <a:fillRect/>
          </a:stretch>
        </p:blipFill>
        <p:spPr>
          <a:xfrm>
            <a:off x="9052560" y="4023360"/>
            <a:ext cx="8321040" cy="1533397"/>
          </a:xfrm>
          <a:prstGeom prst="rect">
            <a:avLst/>
          </a:prstGeom>
        </p:spPr>
      </p:pic>
      <p:sp>
        <p:nvSpPr>
          <p:cNvPr id="10" name="Caption rp_stopgap"/>
          <p:cNvSpPr txBox="1"/>
          <p:nvPr/>
        </p:nvSpPr>
        <p:spPr>
          <a:xfrm>
            <a:off x="9052560" y="5575044"/>
            <a:ext cx="8321040" cy="292608"/>
          </a:xfrm>
          <a:prstGeom prst="rect">
            <a:avLst/>
          </a:prstGeom>
          <a:noFill/>
        </p:spPr>
        <p:txBody>
          <a:bodyPr wrap="square" lIns="0" rIns="0" tIns="0" bIns="0" anchor="t">
            <a:noAutofit/>
          </a:bodyPr>
          <a:lstStyle/>
          <a:p>
            <a:pPr algn="r">
              <a:lnSpc>
                <a:spcPct val="105000"/>
              </a:lnSpc>
              <a:spcAft>
                <a:spcPts val="1000"/>
              </a:spcAft>
            </a:pPr>
            <a:r>
              <a:rPr sz="1800" b="0" i="1">
                <a:solidFill>
                  <a:srgbClr val="595959"/>
                </a:solidFill>
                <a:latin typeface="Times New Roman"/>
              </a:rPr>
              <a:t>Stop-gap that became an exodus (Agbola &amp; Acupan, 2010, p. 388)</a:t>
            </a:r>
          </a:p>
        </p:txBody>
      </p:sp>
      <p:pic>
        <p:nvPicPr>
          <p:cNvPr id="11" name="Excerpt rp_numbers" descr="rp_numbers.png"/>
          <p:cNvPicPr>
            <a:picLocks noChangeAspect="1"/>
          </p:cNvPicPr>
          <p:nvPr/>
        </p:nvPicPr>
        <p:blipFill>
          <a:blip r:embed="rId5"/>
          <a:stretch>
            <a:fillRect/>
          </a:stretch>
        </p:blipFill>
        <p:spPr>
          <a:xfrm>
            <a:off x="9052560" y="5940804"/>
            <a:ext cx="8321040" cy="893876"/>
          </a:xfrm>
          <a:prstGeom prst="rect">
            <a:avLst/>
          </a:prstGeom>
        </p:spPr>
      </p:pic>
      <p:sp>
        <p:nvSpPr>
          <p:cNvPr id="12" name="Caption rp_numbers"/>
          <p:cNvSpPr txBox="1"/>
          <p:nvPr/>
        </p:nvSpPr>
        <p:spPr>
          <a:xfrm>
            <a:off x="9052560" y="6852968"/>
            <a:ext cx="8321040" cy="292608"/>
          </a:xfrm>
          <a:prstGeom prst="rect">
            <a:avLst/>
          </a:prstGeom>
          <a:noFill/>
        </p:spPr>
        <p:txBody>
          <a:bodyPr wrap="square" lIns="0" rIns="0" tIns="0" bIns="0" anchor="t">
            <a:noAutofit/>
          </a:bodyPr>
          <a:lstStyle/>
          <a:p>
            <a:pPr algn="r">
              <a:lnSpc>
                <a:spcPct val="105000"/>
              </a:lnSpc>
              <a:spcAft>
                <a:spcPts val="1000"/>
              </a:spcAft>
            </a:pPr>
            <a:r>
              <a:rPr sz="1800" b="0" i="1">
                <a:solidFill>
                  <a:srgbClr val="595959"/>
                </a:solidFill>
                <a:latin typeface="Times New Roman"/>
              </a:rPr>
              <a:t>Scale of emigration and remittances (Agbola &amp; Acupan, 2010, p. 387)</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17" b="0"/>
              </a:stretch>
            </a:blipFill>
          </p:spPr>
        </p:sp>
      </p:grpSp>
      <p:sp>
        <p:nvSpPr>
          <p:cNvPr name="TextBox 4" id="4"/>
          <p:cNvSpPr txBox="true"/>
          <p:nvPr/>
        </p:nvSpPr>
        <p:spPr>
          <a:xfrm rot="0">
            <a:off x="91421" y="9908915"/>
            <a:ext cx="17981581" cy="369456"/>
          </a:xfrm>
          <a:prstGeom prst="rect">
            <a:avLst/>
          </a:prstGeom>
        </p:spPr>
        <p:txBody>
          <a:bodyPr anchor="t" rtlCol="false" tIns="0" lIns="0" bIns="0" rIns="0">
            <a:spAutoFit/>
          </a:bodyPr>
          <a:lstStyle/>
          <a:p>
            <a:pPr algn="ctr">
              <a:lnSpc>
                <a:spcPts val="1377"/>
              </a:lnSpc>
            </a:pPr>
            <a:r>
              <a:rPr lang="en-US" b="true" sz="1275">
                <a:solidFill>
                  <a:srgbClr val="3A3A3A"/>
                </a:solidFill>
                <a:latin typeface="Arial Bold"/>
                <a:ea typeface="Arial Bold"/>
                <a:cs typeface="Arial Bold"/>
                <a:sym typeface="Arial Bold"/>
              </a:rPr>
              <a:t>© 2026 University of Southeastern Philippines |</a:t>
            </a:r>
            <a:r>
              <a:rPr lang="en-US" sz="1275">
                <a:solidFill>
                  <a:srgbClr val="3A3A3A"/>
                </a:solidFill>
                <a:latin typeface="Arial"/>
                <a:ea typeface="Arial"/>
                <a:cs typeface="Arial"/>
                <a:sym typeface="Arial"/>
              </a:rPr>
              <a:t> All Rights Reserved. This presentation contains confidential and proprietary information. Photography, video, and audio recording of these materials are prohibited without prior authorization.</a:t>
            </a:r>
          </a:p>
        </p:txBody>
      </p:sp>
      <p:sp>
        <p:nvSpPr>
          <p:cNvPr id="5" name="Title"/>
          <p:cNvSpPr txBox="1"/>
          <p:nvPr/>
        </p:nvSpPr>
        <p:spPr>
          <a:xfrm>
            <a:off x="914400" y="1600200"/>
            <a:ext cx="16459200" cy="914400"/>
          </a:xfrm>
          <a:prstGeom prst="rect">
            <a:avLst/>
          </a:prstGeom>
          <a:noFill/>
        </p:spPr>
        <p:txBody>
          <a:bodyPr wrap="square" lIns="0" rIns="0" tIns="0" bIns="0" anchor="ctr">
            <a:noAutofit/>
          </a:bodyPr>
          <a:lstStyle/>
          <a:p>
            <a:pPr algn="l">
              <a:lnSpc>
                <a:spcPct val="105000"/>
              </a:lnSpc>
              <a:spcAft>
                <a:spcPts val="1000"/>
              </a:spcAft>
            </a:pPr>
            <a:r>
              <a:rPr sz="4800" b="1" i="0">
                <a:solidFill>
                  <a:srgbClr val="7A1916"/>
                </a:solidFill>
                <a:latin typeface="Times New Roman"/>
              </a:rPr>
              <a:t>1. Research Problem / Gap: policy and gap</a:t>
            </a:r>
          </a:p>
        </p:txBody>
      </p:sp>
      <p:sp>
        <p:nvSpPr>
          <p:cNvPr id="6" name="Key message"/>
          <p:cNvSpPr txBox="1"/>
          <p:nvPr/>
        </p:nvSpPr>
        <p:spPr>
          <a:xfrm>
            <a:off x="914400" y="2606040"/>
            <a:ext cx="16459200" cy="822960"/>
          </a:xfrm>
          <a:prstGeom prst="rect">
            <a:avLst/>
          </a:prstGeom>
          <a:noFill/>
        </p:spPr>
        <p:txBody>
          <a:bodyPr wrap="square" lIns="0" rIns="0" tIns="0" bIns="0" anchor="t">
            <a:noAutofit/>
          </a:bodyPr>
          <a:lstStyle/>
          <a:p>
            <a:pPr algn="l">
              <a:lnSpc>
                <a:spcPct val="105000"/>
              </a:lnSpc>
              <a:spcAft>
                <a:spcPts val="1000"/>
              </a:spcAft>
            </a:pPr>
            <a:r>
              <a:rPr sz="2800" b="1" i="1">
                <a:solidFill>
                  <a:srgbClr val="1A1A1A"/>
                </a:solidFill>
                <a:latin typeface="Times New Roman"/>
              </a:rPr>
              <a:t>The policy is ambiguous, and the determinants of emigration “are not well established.”</a:t>
            </a:r>
          </a:p>
        </p:txBody>
      </p:sp>
      <p:sp>
        <p:nvSpPr>
          <p:cNvPr id="7" name="Points"/>
          <p:cNvSpPr txBox="1"/>
          <p:nvPr/>
        </p:nvSpPr>
        <p:spPr>
          <a:xfrm>
            <a:off x="914400" y="3611880"/>
            <a:ext cx="7680960" cy="3657600"/>
          </a:xfrm>
          <a:prstGeom prst="rect">
            <a:avLst/>
          </a:prstGeom>
          <a:noFill/>
        </p:spPr>
        <p:txBody>
          <a:bodyPr wrap="square" lIns="0" rIns="0" tIns="0" bIns="0" anchor="t">
            <a:noAutofit/>
          </a:bodyPr>
          <a:lstStyle/>
          <a:p>
            <a:pPr algn="l" marL="384048" indent="-384048">
              <a:lnSpc>
                <a:spcPct val="105000"/>
              </a:lnSpc>
              <a:spcAft>
                <a:spcPts val="1400"/>
              </a:spcAft>
              <a:buClr>
                <a:srgbClr val="7A1916"/>
              </a:buClr>
              <a:buFont typeface="Times New Roman"/>
              <a:buChar char="•"/>
            </a:pPr>
            <a:r>
              <a:rPr sz="2500" b="1" i="0">
                <a:solidFill>
                  <a:srgbClr val="7A1916"/>
                </a:solidFill>
                <a:latin typeface="Times New Roman"/>
              </a:rPr>
              <a:t>RA 8042 §2c:</a:t>
            </a:r>
            <a:r>
              <a:rPr sz="2500" b="0" i="0">
                <a:solidFill>
                  <a:srgbClr val="1A1A1A"/>
                </a:solidFill>
                <a:latin typeface="Times New Roman"/>
              </a:rPr>
              <a:t> the State “does not promote overseas employment”</a:t>
            </a:r>
          </a:p>
          <a:p>
            <a:pPr algn="l" marL="384048" indent="-384048">
              <a:lnSpc>
                <a:spcPct val="105000"/>
              </a:lnSpc>
              <a:spcAft>
                <a:spcPts val="1400"/>
              </a:spcAft>
              <a:buClr>
                <a:srgbClr val="7A1916"/>
              </a:buClr>
              <a:buFont typeface="Times New Roman"/>
              <a:buChar char="•"/>
            </a:pPr>
            <a:r>
              <a:rPr sz="2500" b="1" i="0">
                <a:solidFill>
                  <a:srgbClr val="7A1916"/>
                </a:solidFill>
                <a:latin typeface="Times New Roman"/>
              </a:rPr>
              <a:t>RA 8042 §2i:</a:t>
            </a:r>
            <a:r>
              <a:rPr sz="2500" b="0" i="0">
                <a:solidFill>
                  <a:srgbClr val="1A1A1A"/>
                </a:solidFill>
                <a:latin typeface="Times New Roman"/>
              </a:rPr>
              <a:t> yet deployment “shall be encouraged” → </a:t>
            </a:r>
            <a:r>
              <a:rPr sz="2500" b="1" i="0">
                <a:solidFill>
                  <a:srgbClr val="7A1916"/>
                </a:solidFill>
                <a:latin typeface="Times New Roman"/>
              </a:rPr>
              <a:t>ambiguous policy</a:t>
            </a:r>
          </a:p>
          <a:p>
            <a:pPr algn="l" marL="384048" indent="-384048">
              <a:lnSpc>
                <a:spcPct val="105000"/>
              </a:lnSpc>
              <a:spcAft>
                <a:spcPts val="1400"/>
              </a:spcAft>
              <a:buClr>
                <a:srgbClr val="7A1916"/>
              </a:buClr>
              <a:buFont typeface="Times New Roman"/>
              <a:buChar char="•"/>
            </a:pPr>
            <a:r>
              <a:rPr sz="2500" b="1" i="0">
                <a:solidFill>
                  <a:srgbClr val="7A1916"/>
                </a:solidFill>
                <a:latin typeface="Times New Roman"/>
              </a:rPr>
              <a:t>Gap:</a:t>
            </a:r>
            <a:r>
              <a:rPr sz="2500" b="0" i="0">
                <a:solidFill>
                  <a:srgbClr val="1A1A1A"/>
                </a:solidFill>
                <a:latin typeface="Times New Roman"/>
              </a:rPr>
              <a:t> the determinants of emigration “are not well established” (p. 386)</a:t>
            </a:r>
          </a:p>
        </p:txBody>
      </p:sp>
      <p:sp>
        <p:nvSpPr>
          <p:cNvPr id="8" name="Aim box"/>
          <p:cNvSpPr/>
          <p:nvPr/>
        </p:nvSpPr>
        <p:spPr>
          <a:xfrm>
            <a:off x="914400" y="7452360"/>
            <a:ext cx="7680960" cy="2103120"/>
          </a:xfrm>
          <a:prstGeom prst="roundRect">
            <a:avLst>
              <a:gd name="adj" fmla="val 4000"/>
            </a:avLst>
          </a:prstGeom>
          <a:solidFill>
            <a:srgbClr val="7A19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im"/>
          <p:cNvSpPr txBox="1"/>
          <p:nvPr/>
        </p:nvSpPr>
        <p:spPr>
          <a:xfrm>
            <a:off x="1280160" y="7452360"/>
            <a:ext cx="6949440" cy="2103120"/>
          </a:xfrm>
          <a:prstGeom prst="rect">
            <a:avLst/>
          </a:prstGeom>
          <a:noFill/>
        </p:spPr>
        <p:txBody>
          <a:bodyPr wrap="square" lIns="0" rIns="0" tIns="0" bIns="0" anchor="ctr">
            <a:noAutofit/>
          </a:bodyPr>
          <a:lstStyle/>
          <a:p>
            <a:pPr algn="l">
              <a:lnSpc>
                <a:spcPct val="105000"/>
              </a:lnSpc>
              <a:spcAft>
                <a:spcPts val="1000"/>
              </a:spcAft>
            </a:pPr>
            <a:r>
              <a:rPr sz="2500" b="1" i="0">
                <a:solidFill>
                  <a:srgbClr val="F2C14E"/>
                </a:solidFill>
                <a:latin typeface="Times New Roman"/>
              </a:rPr>
              <a:t>Aim:</a:t>
            </a:r>
            <a:r>
              <a:rPr sz="2500" b="0" i="0">
                <a:solidFill>
                  <a:srgbClr val="FFFFFF"/>
                </a:solidFill>
                <a:latin typeface="Times New Roman"/>
              </a:rPr>
              <a:t> study how economic, demographic and political factors affect the size of emigration.</a:t>
            </a:r>
          </a:p>
        </p:txBody>
      </p:sp>
      <p:sp>
        <p:nvSpPr>
          <p:cNvPr id="10" name="Evidence label"/>
          <p:cNvSpPr txBox="1"/>
          <p:nvPr/>
        </p:nvSpPr>
        <p:spPr>
          <a:xfrm>
            <a:off x="9052560" y="3611880"/>
            <a:ext cx="8321040" cy="365760"/>
          </a:xfrm>
          <a:prstGeom prst="rect">
            <a:avLst/>
          </a:prstGeom>
          <a:noFill/>
        </p:spPr>
        <p:txBody>
          <a:bodyPr wrap="square" lIns="0" rIns="0" tIns="0" bIns="0" anchor="t">
            <a:noAutofit/>
          </a:bodyPr>
          <a:lstStyle/>
          <a:p>
            <a:pPr algn="l">
              <a:lnSpc>
                <a:spcPct val="105000"/>
              </a:lnSpc>
              <a:spcAft>
                <a:spcPts val="1000"/>
              </a:spcAft>
            </a:pPr>
            <a:r>
              <a:rPr sz="1900" b="1" i="1">
                <a:solidFill>
                  <a:srgbClr val="595959"/>
                </a:solidFill>
                <a:latin typeface="Times New Roman"/>
              </a:rPr>
              <a:t>Evidence from the article (highlighted)</a:t>
            </a:r>
          </a:p>
        </p:txBody>
      </p:sp>
      <p:pic>
        <p:nvPicPr>
          <p:cNvPr id="11" name="Excerpt rp_ra8042" descr="rp_ra8042.png"/>
          <p:cNvPicPr>
            <a:picLocks noChangeAspect="1"/>
          </p:cNvPicPr>
          <p:nvPr/>
        </p:nvPicPr>
        <p:blipFill>
          <a:blip r:embed="rId2"/>
          <a:stretch>
            <a:fillRect/>
          </a:stretch>
        </p:blipFill>
        <p:spPr>
          <a:xfrm>
            <a:off x="9052560" y="4023360"/>
            <a:ext cx="8321040" cy="2056641"/>
          </a:xfrm>
          <a:prstGeom prst="rect">
            <a:avLst/>
          </a:prstGeom>
        </p:spPr>
      </p:pic>
      <p:sp>
        <p:nvSpPr>
          <p:cNvPr id="12" name="Caption rp_ra8042"/>
          <p:cNvSpPr txBox="1"/>
          <p:nvPr/>
        </p:nvSpPr>
        <p:spPr>
          <a:xfrm>
            <a:off x="9052560" y="6098289"/>
            <a:ext cx="8321040" cy="292608"/>
          </a:xfrm>
          <a:prstGeom prst="rect">
            <a:avLst/>
          </a:prstGeom>
          <a:noFill/>
        </p:spPr>
        <p:txBody>
          <a:bodyPr wrap="square" lIns="0" rIns="0" tIns="0" bIns="0" anchor="t">
            <a:noAutofit/>
          </a:bodyPr>
          <a:lstStyle/>
          <a:p>
            <a:pPr algn="r">
              <a:lnSpc>
                <a:spcPct val="105000"/>
              </a:lnSpc>
              <a:spcAft>
                <a:spcPts val="1000"/>
              </a:spcAft>
            </a:pPr>
            <a:r>
              <a:rPr sz="1800" b="0" i="1">
                <a:solidFill>
                  <a:srgbClr val="595959"/>
                </a:solidFill>
                <a:latin typeface="Times New Roman"/>
              </a:rPr>
              <a:t>RA 8042, Sections 2c and 2i (Agbola &amp; Acupan, 2010, p. 388)</a:t>
            </a:r>
          </a:p>
        </p:txBody>
      </p:sp>
      <p:pic>
        <p:nvPicPr>
          <p:cNvPr id="13" name="Excerpt rp_abs_gap" descr="rp_abs_gap.png"/>
          <p:cNvPicPr>
            <a:picLocks noChangeAspect="1"/>
          </p:cNvPicPr>
          <p:nvPr/>
        </p:nvPicPr>
        <p:blipFill>
          <a:blip r:embed="rId4"/>
          <a:stretch>
            <a:fillRect/>
          </a:stretch>
        </p:blipFill>
        <p:spPr>
          <a:xfrm>
            <a:off x="11915340" y="6464049"/>
            <a:ext cx="5458259" cy="821283"/>
          </a:xfrm>
          <a:prstGeom prst="rect">
            <a:avLst/>
          </a:prstGeom>
        </p:spPr>
      </p:pic>
      <p:sp>
        <p:nvSpPr>
          <p:cNvPr id="14" name="Caption rp_abs_gap"/>
          <p:cNvSpPr txBox="1"/>
          <p:nvPr/>
        </p:nvSpPr>
        <p:spPr>
          <a:xfrm>
            <a:off x="9052560" y="7303620"/>
            <a:ext cx="8321040" cy="292608"/>
          </a:xfrm>
          <a:prstGeom prst="rect">
            <a:avLst/>
          </a:prstGeom>
          <a:noFill/>
        </p:spPr>
        <p:txBody>
          <a:bodyPr wrap="square" lIns="0" rIns="0" tIns="0" bIns="0" anchor="t">
            <a:noAutofit/>
          </a:bodyPr>
          <a:lstStyle/>
          <a:p>
            <a:pPr algn="r">
              <a:lnSpc>
                <a:spcPct val="105000"/>
              </a:lnSpc>
              <a:spcAft>
                <a:spcPts val="1000"/>
              </a:spcAft>
            </a:pPr>
            <a:r>
              <a:rPr sz="1800" b="0" i="1">
                <a:solidFill>
                  <a:srgbClr val="595959"/>
                </a:solidFill>
                <a:latin typeface="Times New Roman"/>
              </a:rPr>
              <a:t>Abstract: the gap (Agbola &amp; Acupan, 2010, p. 386)</a:t>
            </a:r>
          </a:p>
        </p:txBody>
      </p:sp>
      <p:pic>
        <p:nvPicPr>
          <p:cNvPr id="15" name="Excerpt rp_abs_aim" descr="rp_abs_aim.png"/>
          <p:cNvPicPr>
            <a:picLocks noChangeAspect="1"/>
          </p:cNvPicPr>
          <p:nvPr/>
        </p:nvPicPr>
        <p:blipFill>
          <a:blip r:embed="rId5"/>
          <a:stretch>
            <a:fillRect/>
          </a:stretch>
        </p:blipFill>
        <p:spPr>
          <a:xfrm>
            <a:off x="11915340" y="7669380"/>
            <a:ext cx="5458259" cy="639583"/>
          </a:xfrm>
          <a:prstGeom prst="rect">
            <a:avLst/>
          </a:prstGeom>
        </p:spPr>
      </p:pic>
      <p:sp>
        <p:nvSpPr>
          <p:cNvPr id="16" name="Caption rp_abs_aim"/>
          <p:cNvSpPr txBox="1"/>
          <p:nvPr/>
        </p:nvSpPr>
        <p:spPr>
          <a:xfrm>
            <a:off x="9052560" y="8327251"/>
            <a:ext cx="8321040" cy="292608"/>
          </a:xfrm>
          <a:prstGeom prst="rect">
            <a:avLst/>
          </a:prstGeom>
          <a:noFill/>
        </p:spPr>
        <p:txBody>
          <a:bodyPr wrap="square" lIns="0" rIns="0" tIns="0" bIns="0" anchor="t">
            <a:noAutofit/>
          </a:bodyPr>
          <a:lstStyle/>
          <a:p>
            <a:pPr algn="r">
              <a:lnSpc>
                <a:spcPct val="105000"/>
              </a:lnSpc>
              <a:spcAft>
                <a:spcPts val="1000"/>
              </a:spcAft>
            </a:pPr>
            <a:r>
              <a:rPr sz="1800" b="0" i="1">
                <a:solidFill>
                  <a:srgbClr val="595959"/>
                </a:solidFill>
                <a:latin typeface="Times New Roman"/>
              </a:rPr>
              <a:t>Abstract: the aim (Agbola &amp; Acupan, 2010, p. 386)</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17" b="0"/>
              </a:stretch>
            </a:blipFill>
          </p:spPr>
        </p:sp>
      </p:grpSp>
      <p:sp>
        <p:nvSpPr>
          <p:cNvPr name="TextBox 4" id="4"/>
          <p:cNvSpPr txBox="true"/>
          <p:nvPr/>
        </p:nvSpPr>
        <p:spPr>
          <a:xfrm rot="0">
            <a:off x="91421" y="9983057"/>
            <a:ext cx="17981581" cy="369456"/>
          </a:xfrm>
          <a:prstGeom prst="rect">
            <a:avLst/>
          </a:prstGeom>
        </p:spPr>
        <p:txBody>
          <a:bodyPr anchor="t" rtlCol="false" tIns="0" lIns="0" bIns="0" rIns="0">
            <a:spAutoFit/>
          </a:bodyPr>
          <a:lstStyle/>
          <a:p>
            <a:pPr algn="ctr">
              <a:lnSpc>
                <a:spcPts val="1377"/>
              </a:lnSpc>
            </a:pPr>
            <a:r>
              <a:rPr lang="en-US" b="true" sz="1275">
                <a:solidFill>
                  <a:srgbClr val="3A3A3A"/>
                </a:solidFill>
                <a:latin typeface="Arial Bold"/>
                <a:ea typeface="Arial Bold"/>
                <a:cs typeface="Arial Bold"/>
                <a:sym typeface="Arial Bold"/>
              </a:rPr>
              <a:t>© 2026 University of Southeastern Philippines |</a:t>
            </a:r>
            <a:r>
              <a:rPr lang="en-US" sz="1275">
                <a:solidFill>
                  <a:srgbClr val="3A3A3A"/>
                </a:solidFill>
                <a:latin typeface="Arial"/>
                <a:ea typeface="Arial"/>
                <a:cs typeface="Arial"/>
                <a:sym typeface="Arial"/>
              </a:rPr>
              <a:t> All Rights Reserved. This presentation contains confidential and proprietary information. Photography, video, and audio recording of these materials are prohibited without prior authorization.</a:t>
            </a:r>
          </a:p>
        </p:txBody>
      </p:sp>
      <p:sp>
        <p:nvSpPr>
          <p:cNvPr id="5" name="Title"/>
          <p:cNvSpPr txBox="1"/>
          <p:nvPr/>
        </p:nvSpPr>
        <p:spPr>
          <a:xfrm>
            <a:off x="914400" y="1600200"/>
            <a:ext cx="16459200" cy="914400"/>
          </a:xfrm>
          <a:prstGeom prst="rect">
            <a:avLst/>
          </a:prstGeom>
          <a:noFill/>
        </p:spPr>
        <p:txBody>
          <a:bodyPr wrap="square" lIns="0" rIns="0" tIns="0" bIns="0" anchor="ctr">
            <a:noAutofit/>
          </a:bodyPr>
          <a:lstStyle/>
          <a:p>
            <a:pPr algn="l">
              <a:lnSpc>
                <a:spcPct val="105000"/>
              </a:lnSpc>
              <a:spcAft>
                <a:spcPts val="1000"/>
              </a:spcAft>
            </a:pPr>
            <a:r>
              <a:rPr sz="4800" b="1" i="0">
                <a:solidFill>
                  <a:srgbClr val="7A1916"/>
                </a:solidFill>
                <a:latin typeface="Times New Roman"/>
              </a:rPr>
              <a:t>1. Research Problem / Gap: assessment</a:t>
            </a:r>
          </a:p>
        </p:txBody>
      </p:sp>
      <p:sp>
        <p:nvSpPr>
          <p:cNvPr id="6" name="Key message"/>
          <p:cNvSpPr txBox="1"/>
          <p:nvPr/>
        </p:nvSpPr>
        <p:spPr>
          <a:xfrm>
            <a:off x="914400" y="2606040"/>
            <a:ext cx="16459200" cy="822960"/>
          </a:xfrm>
          <a:prstGeom prst="rect">
            <a:avLst/>
          </a:prstGeom>
          <a:noFill/>
        </p:spPr>
        <p:txBody>
          <a:bodyPr wrap="square" lIns="0" rIns="0" tIns="0" bIns="0" anchor="t">
            <a:noAutofit/>
          </a:bodyPr>
          <a:lstStyle/>
          <a:p>
            <a:pPr algn="l">
              <a:lnSpc>
                <a:spcPct val="105000"/>
              </a:lnSpc>
              <a:spcAft>
                <a:spcPts val="1000"/>
              </a:spcAft>
            </a:pPr>
            <a:r>
              <a:rPr sz="2800" b="1" i="1">
                <a:solidFill>
                  <a:srgbClr val="1A1A1A"/>
                </a:solidFill>
                <a:latin typeface="Times New Roman"/>
              </a:rPr>
              <a:t>Clear and policy-relevant, but the gap is asserted rather than demonstrated.</a:t>
            </a:r>
          </a:p>
        </p:txBody>
      </p:sp>
      <p:sp>
        <p:nvSpPr>
          <p:cNvPr id="7" name="strength box"/>
          <p:cNvSpPr/>
          <p:nvPr/>
        </p:nvSpPr>
        <p:spPr>
          <a:xfrm>
            <a:off x="914400" y="3611880"/>
            <a:ext cx="7680960" cy="2194560"/>
          </a:xfrm>
          <a:prstGeom prst="roundRect">
            <a:avLst>
              <a:gd name="adj" fmla="val 4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trength edge"/>
          <p:cNvSpPr/>
          <p:nvPr/>
        </p:nvSpPr>
        <p:spPr>
          <a:xfrm>
            <a:off x="914400" y="3611880"/>
            <a:ext cx="109728" cy="2194560"/>
          </a:xfrm>
          <a:prstGeom prst="roundRect">
            <a:avLst>
              <a:gd name="adj" fmla="val 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rength text"/>
          <p:cNvSpPr txBox="1"/>
          <p:nvPr/>
        </p:nvSpPr>
        <p:spPr>
          <a:xfrm>
            <a:off x="1280160" y="3776472"/>
            <a:ext cx="7132320" cy="1938528"/>
          </a:xfrm>
          <a:prstGeom prst="rect">
            <a:avLst/>
          </a:prstGeom>
          <a:noFill/>
        </p:spPr>
        <p:txBody>
          <a:bodyPr wrap="square" lIns="0" rIns="0" tIns="0" bIns="0" anchor="t">
            <a:noAutofit/>
          </a:bodyPr>
          <a:lstStyle/>
          <a:p>
            <a:pPr algn="l">
              <a:lnSpc>
                <a:spcPct val="105000"/>
              </a:lnSpc>
              <a:spcAft>
                <a:spcPts val="400"/>
              </a:spcAft>
            </a:pPr>
            <a:r>
              <a:rPr sz="2300" b="1" i="0">
                <a:solidFill>
                  <a:srgbClr val="2E7D32"/>
                </a:solidFill>
                <a:latin typeface="Times New Roman"/>
              </a:rPr>
              <a:t>Strength</a:t>
            </a:r>
          </a:p>
          <a:p>
            <a:pPr algn="l">
              <a:lnSpc>
                <a:spcPct val="105000"/>
              </a:lnSpc>
              <a:spcAft>
                <a:spcPts val="500"/>
              </a:spcAft>
            </a:pPr>
            <a:r>
              <a:rPr sz="2500" b="0" i="0">
                <a:solidFill>
                  <a:srgbClr val="1A1A1A"/>
                </a:solidFill>
                <a:latin typeface="Times New Roman"/>
              </a:rPr>
              <a:t>The question is </a:t>
            </a:r>
            <a:r>
              <a:rPr sz="2500" b="1" i="0">
                <a:solidFill>
                  <a:srgbClr val="2E7D32"/>
                </a:solidFill>
                <a:latin typeface="Times New Roman"/>
              </a:rPr>
              <a:t>clear and policy-relevant</a:t>
            </a:r>
            <a:r>
              <a:rPr sz="2500" b="0" i="0">
                <a:solidFill>
                  <a:srgbClr val="1A1A1A"/>
                </a:solidFill>
                <a:latin typeface="Times New Roman"/>
              </a:rPr>
              <a:t>.</a:t>
            </a:r>
          </a:p>
        </p:txBody>
      </p:sp>
      <p:sp>
        <p:nvSpPr>
          <p:cNvPr id="10" name="critique box"/>
          <p:cNvSpPr/>
          <p:nvPr/>
        </p:nvSpPr>
        <p:spPr>
          <a:xfrm>
            <a:off x="914400" y="6080760"/>
            <a:ext cx="7680960" cy="3474720"/>
          </a:xfrm>
          <a:prstGeom prst="roundRect">
            <a:avLst>
              <a:gd name="adj" fmla="val 4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ritique edge"/>
          <p:cNvSpPr/>
          <p:nvPr/>
        </p:nvSpPr>
        <p:spPr>
          <a:xfrm>
            <a:off x="914400" y="6080760"/>
            <a:ext cx="109728" cy="3474720"/>
          </a:xfrm>
          <a:prstGeom prst="roundRect">
            <a:avLst>
              <a:gd name="adj" fmla="val 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ritique text"/>
          <p:cNvSpPr txBox="1"/>
          <p:nvPr/>
        </p:nvSpPr>
        <p:spPr>
          <a:xfrm>
            <a:off x="1280160" y="6245352"/>
            <a:ext cx="7132320" cy="3218687"/>
          </a:xfrm>
          <a:prstGeom prst="rect">
            <a:avLst/>
          </a:prstGeom>
          <a:noFill/>
        </p:spPr>
        <p:txBody>
          <a:bodyPr wrap="square" lIns="0" rIns="0" tIns="0" bIns="0" anchor="t">
            <a:noAutofit/>
          </a:bodyPr>
          <a:lstStyle/>
          <a:p>
            <a:pPr algn="l">
              <a:lnSpc>
                <a:spcPct val="105000"/>
              </a:lnSpc>
              <a:spcAft>
                <a:spcPts val="400"/>
              </a:spcAft>
            </a:pPr>
            <a:r>
              <a:rPr sz="2300" b="1" i="0">
                <a:solidFill>
                  <a:srgbClr val="C00000"/>
                </a:solidFill>
                <a:latin typeface="Times New Roman"/>
              </a:rPr>
              <a:t>Critical note</a:t>
            </a:r>
          </a:p>
          <a:p>
            <a:pPr algn="l">
              <a:lnSpc>
                <a:spcPct val="105000"/>
              </a:lnSpc>
              <a:spcAft>
                <a:spcPts val="500"/>
              </a:spcAft>
            </a:pPr>
            <a:r>
              <a:rPr sz="2500" b="0" i="0">
                <a:solidFill>
                  <a:srgbClr val="1A1A1A"/>
                </a:solidFill>
                <a:latin typeface="Times New Roman"/>
              </a:rPr>
              <a:t>The gap is </a:t>
            </a:r>
            <a:r>
              <a:rPr sz="2500" b="1" i="0">
                <a:solidFill>
                  <a:srgbClr val="C00000"/>
                </a:solidFill>
                <a:latin typeface="Times New Roman"/>
              </a:rPr>
              <a:t>asserted rather than demonstrated</a:t>
            </a:r>
            <a:r>
              <a:rPr sz="2500" b="0" i="0">
                <a:solidFill>
                  <a:srgbClr val="1A1A1A"/>
                </a:solidFill>
                <a:latin typeface="Times New Roman"/>
              </a:rPr>
              <a:t>: earlier Philippine studies are </a:t>
            </a:r>
            <a:r>
              <a:rPr sz="2500" b="1" i="0">
                <a:solidFill>
                  <a:srgbClr val="C00000"/>
                </a:solidFill>
                <a:latin typeface="Times New Roman"/>
              </a:rPr>
              <a:t>not reviewed</a:t>
            </a:r>
            <a:r>
              <a:rPr sz="2500" b="0" i="0">
                <a:solidFill>
                  <a:srgbClr val="1A1A1A"/>
                </a:solidFill>
                <a:latin typeface="Times New Roman"/>
              </a:rPr>
              <a:t> in the paper.</a:t>
            </a:r>
          </a:p>
          <a:p>
            <a:pPr algn="l">
              <a:lnSpc>
                <a:spcPct val="105000"/>
              </a:lnSpc>
              <a:spcAft>
                <a:spcPts val="500"/>
              </a:spcAft>
            </a:pPr>
            <a:r>
              <a:rPr sz="2500" b="0" i="0">
                <a:solidFill>
                  <a:srgbClr val="1A1A1A"/>
                </a:solidFill>
                <a:latin typeface="Times New Roman"/>
              </a:rPr>
              <a:t>The paper moves from policy (Section 2) straight to the model (Section 3).</a:t>
            </a:r>
          </a:p>
        </p:txBody>
      </p:sp>
      <p:sp>
        <p:nvSpPr>
          <p:cNvPr id="13" name="Evidence label"/>
          <p:cNvSpPr txBox="1"/>
          <p:nvPr/>
        </p:nvSpPr>
        <p:spPr>
          <a:xfrm>
            <a:off x="9052560" y="3611880"/>
            <a:ext cx="8321040" cy="365760"/>
          </a:xfrm>
          <a:prstGeom prst="rect">
            <a:avLst/>
          </a:prstGeom>
          <a:noFill/>
        </p:spPr>
        <p:txBody>
          <a:bodyPr wrap="square" lIns="0" rIns="0" tIns="0" bIns="0" anchor="t">
            <a:noAutofit/>
          </a:bodyPr>
          <a:lstStyle/>
          <a:p>
            <a:pPr algn="l">
              <a:lnSpc>
                <a:spcPct val="105000"/>
              </a:lnSpc>
              <a:spcAft>
                <a:spcPts val="1000"/>
              </a:spcAft>
            </a:pPr>
            <a:r>
              <a:rPr sz="1900" b="1" i="1">
                <a:solidFill>
                  <a:srgbClr val="595959"/>
                </a:solidFill>
                <a:latin typeface="Times New Roman"/>
              </a:rPr>
              <a:t>Evidence from the article (highlighted)</a:t>
            </a:r>
          </a:p>
        </p:txBody>
      </p:sp>
      <p:pic>
        <p:nvPicPr>
          <p:cNvPr id="14" name="Excerpt rp_structure" descr="rp_structure.png"/>
          <p:cNvPicPr>
            <a:picLocks noChangeAspect="1"/>
          </p:cNvPicPr>
          <p:nvPr/>
        </p:nvPicPr>
        <p:blipFill>
          <a:blip r:embed="rId2"/>
          <a:stretch>
            <a:fillRect/>
          </a:stretch>
        </p:blipFill>
        <p:spPr>
          <a:xfrm>
            <a:off x="9052560" y="4023360"/>
            <a:ext cx="8321040" cy="893876"/>
          </a:xfrm>
          <a:prstGeom prst="rect">
            <a:avLst/>
          </a:prstGeom>
        </p:spPr>
      </p:pic>
      <p:sp>
        <p:nvSpPr>
          <p:cNvPr id="15" name="Caption rp_structure"/>
          <p:cNvSpPr txBox="1"/>
          <p:nvPr/>
        </p:nvSpPr>
        <p:spPr>
          <a:xfrm>
            <a:off x="9052560" y="4935523"/>
            <a:ext cx="8321040" cy="292608"/>
          </a:xfrm>
          <a:prstGeom prst="rect">
            <a:avLst/>
          </a:prstGeom>
          <a:noFill/>
        </p:spPr>
        <p:txBody>
          <a:bodyPr wrap="square" lIns="0" rIns="0" tIns="0" bIns="0" anchor="t">
            <a:noAutofit/>
          </a:bodyPr>
          <a:lstStyle/>
          <a:p>
            <a:pPr algn="r">
              <a:lnSpc>
                <a:spcPct val="105000"/>
              </a:lnSpc>
              <a:spcAft>
                <a:spcPts val="1000"/>
              </a:spcAft>
            </a:pPr>
            <a:r>
              <a:rPr sz="1800" b="0" i="1">
                <a:solidFill>
                  <a:srgbClr val="595959"/>
                </a:solidFill>
                <a:latin typeface="Times New Roman"/>
              </a:rPr>
              <a:t>The paper’s structure: no literature review section (Agbola &amp; Acupan, 2010, p. 387)</a:t>
            </a:r>
          </a:p>
        </p:txBody>
      </p:sp>
      <p:pic>
        <p:nvPicPr>
          <p:cNvPr id="16" name="Excerpt rp_abs_gap" descr="rp_abs_gap.png"/>
          <p:cNvPicPr>
            <a:picLocks noChangeAspect="1"/>
          </p:cNvPicPr>
          <p:nvPr/>
        </p:nvPicPr>
        <p:blipFill>
          <a:blip r:embed="rId4"/>
          <a:stretch>
            <a:fillRect/>
          </a:stretch>
        </p:blipFill>
        <p:spPr>
          <a:xfrm>
            <a:off x="11915340" y="5301283"/>
            <a:ext cx="5458259" cy="821283"/>
          </a:xfrm>
          <a:prstGeom prst="rect">
            <a:avLst/>
          </a:prstGeom>
        </p:spPr>
      </p:pic>
      <p:sp>
        <p:nvSpPr>
          <p:cNvPr id="17" name="Caption rp_abs_gap"/>
          <p:cNvSpPr txBox="1"/>
          <p:nvPr/>
        </p:nvSpPr>
        <p:spPr>
          <a:xfrm>
            <a:off x="9052560" y="6140854"/>
            <a:ext cx="8321040" cy="292608"/>
          </a:xfrm>
          <a:prstGeom prst="rect">
            <a:avLst/>
          </a:prstGeom>
          <a:noFill/>
        </p:spPr>
        <p:txBody>
          <a:bodyPr wrap="square" lIns="0" rIns="0" tIns="0" bIns="0" anchor="t">
            <a:noAutofit/>
          </a:bodyPr>
          <a:lstStyle/>
          <a:p>
            <a:pPr algn="r">
              <a:lnSpc>
                <a:spcPct val="105000"/>
              </a:lnSpc>
              <a:spcAft>
                <a:spcPts val="1000"/>
              </a:spcAft>
            </a:pPr>
            <a:r>
              <a:rPr sz="1800" b="0" i="1">
                <a:solidFill>
                  <a:srgbClr val="595959"/>
                </a:solidFill>
                <a:latin typeface="Times New Roman"/>
              </a:rPr>
              <a:t>The gap is stated in one sentence (Agbola &amp; Acupan, 2010, p. 386)</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17" b="0"/>
              </a:stretch>
            </a:blipFill>
          </p:spPr>
        </p:sp>
      </p:grpSp>
      <p:sp>
        <p:nvSpPr>
          <p:cNvPr name="TextBox 4" id="4"/>
          <p:cNvSpPr txBox="true"/>
          <p:nvPr/>
        </p:nvSpPr>
        <p:spPr>
          <a:xfrm rot="0">
            <a:off x="91421" y="9908915"/>
            <a:ext cx="17981581" cy="369456"/>
          </a:xfrm>
          <a:prstGeom prst="rect">
            <a:avLst/>
          </a:prstGeom>
        </p:spPr>
        <p:txBody>
          <a:bodyPr anchor="t" rtlCol="false" tIns="0" lIns="0" bIns="0" rIns="0">
            <a:spAutoFit/>
          </a:bodyPr>
          <a:lstStyle/>
          <a:p>
            <a:pPr algn="ctr">
              <a:lnSpc>
                <a:spcPts val="1377"/>
              </a:lnSpc>
            </a:pPr>
            <a:r>
              <a:rPr lang="en-US" b="true" sz="1275">
                <a:solidFill>
                  <a:srgbClr val="3A3A3A"/>
                </a:solidFill>
                <a:latin typeface="Arial Bold"/>
                <a:ea typeface="Arial Bold"/>
                <a:cs typeface="Arial Bold"/>
                <a:sym typeface="Arial Bold"/>
              </a:rPr>
              <a:t>© 2026 University of Southeastern Philippines |</a:t>
            </a:r>
            <a:r>
              <a:rPr lang="en-US" sz="1275">
                <a:solidFill>
                  <a:srgbClr val="3A3A3A"/>
                </a:solidFill>
                <a:latin typeface="Arial"/>
                <a:ea typeface="Arial"/>
                <a:cs typeface="Arial"/>
                <a:sym typeface="Arial"/>
              </a:rPr>
              <a:t> All Rights Reserved. This presentation contains confidential and proprietary information. Photography, video, and audio recording of these materials are prohibited without prior authorization.</a:t>
            </a:r>
          </a:p>
        </p:txBody>
      </p:sp>
      <p:sp>
        <p:nvSpPr>
          <p:cNvPr id="5" name="Title"/>
          <p:cNvSpPr txBox="1"/>
          <p:nvPr/>
        </p:nvSpPr>
        <p:spPr>
          <a:xfrm>
            <a:off x="914400" y="1600200"/>
            <a:ext cx="16459200" cy="914400"/>
          </a:xfrm>
          <a:prstGeom prst="rect">
            <a:avLst/>
          </a:prstGeom>
          <a:noFill/>
        </p:spPr>
        <p:txBody>
          <a:bodyPr wrap="square" lIns="0" rIns="0" tIns="0" bIns="0" anchor="ctr">
            <a:noAutofit/>
          </a:bodyPr>
          <a:lstStyle/>
          <a:p>
            <a:pPr algn="l">
              <a:lnSpc>
                <a:spcPct val="105000"/>
              </a:lnSpc>
              <a:spcAft>
                <a:spcPts val="1000"/>
              </a:spcAft>
            </a:pPr>
            <a:r>
              <a:rPr sz="4800" b="1" i="0">
                <a:solidFill>
                  <a:srgbClr val="7A1916"/>
                </a:solidFill>
                <a:latin typeface="Times New Roman"/>
              </a:rPr>
              <a:t>2. Theoretical Framework</a:t>
            </a:r>
          </a:p>
        </p:txBody>
      </p:sp>
      <p:sp>
        <p:nvSpPr>
          <p:cNvPr id="6" name="Key message"/>
          <p:cNvSpPr txBox="1"/>
          <p:nvPr/>
        </p:nvSpPr>
        <p:spPr>
          <a:xfrm>
            <a:off x="914400" y="2606040"/>
            <a:ext cx="16459200" cy="822960"/>
          </a:xfrm>
          <a:prstGeom prst="rect">
            <a:avLst/>
          </a:prstGeom>
          <a:noFill/>
        </p:spPr>
        <p:txBody>
          <a:bodyPr wrap="square" lIns="0" rIns="0" tIns="0" bIns="0" anchor="t">
            <a:noAutofit/>
          </a:bodyPr>
          <a:lstStyle/>
          <a:p>
            <a:pPr algn="l">
              <a:lnSpc>
                <a:spcPct val="105000"/>
              </a:lnSpc>
              <a:spcAft>
                <a:spcPts val="1000"/>
              </a:spcAft>
            </a:pPr>
            <a:r>
              <a:rPr sz="2800" b="1" i="1">
                <a:solidFill>
                  <a:srgbClr val="1A1A1A"/>
                </a:solidFill>
                <a:latin typeface="Times New Roman"/>
              </a:rPr>
              <a:t>Four theories yield one macro push-factor equation with nine domestic explanatory variables.</a:t>
            </a:r>
          </a:p>
        </p:txBody>
      </p:sp>
      <p:sp>
        <p:nvSpPr>
          <p:cNvPr id="7" name="Theories"/>
          <p:cNvSpPr txBox="1"/>
          <p:nvPr/>
        </p:nvSpPr>
        <p:spPr>
          <a:xfrm>
            <a:off x="914400" y="3611880"/>
            <a:ext cx="7680960" cy="5943600"/>
          </a:xfrm>
          <a:prstGeom prst="rect">
            <a:avLst/>
          </a:prstGeom>
          <a:noFill/>
        </p:spPr>
        <p:txBody>
          <a:bodyPr wrap="square" lIns="0" rIns="0" tIns="0" bIns="0" anchor="t">
            <a:noAutofit/>
          </a:bodyPr>
          <a:lstStyle/>
          <a:p>
            <a:pPr algn="l">
              <a:lnSpc>
                <a:spcPct val="105000"/>
              </a:lnSpc>
              <a:spcAft>
                <a:spcPts val="200"/>
              </a:spcAft>
            </a:pPr>
            <a:r>
              <a:rPr sz="2400" b="1" i="0">
                <a:solidFill>
                  <a:srgbClr val="7A1916"/>
                </a:solidFill>
                <a:latin typeface="Times New Roman"/>
              </a:rPr>
              <a:t>(i) Expected-utility models</a:t>
            </a:r>
            <a:r>
              <a:rPr sz="2400" b="0" i="0">
                <a:solidFill>
                  <a:srgbClr val="1A1A1A"/>
                </a:solidFill>
                <a:latin typeface="Times New Roman"/>
              </a:rPr>
              <a:t> (Ravenstein, 1885; Todaro, 1969)</a:t>
            </a:r>
          </a:p>
          <a:p>
            <a:pPr algn="l">
              <a:lnSpc>
                <a:spcPct val="105000"/>
              </a:lnSpc>
              <a:spcAft>
                <a:spcPts val="1600"/>
              </a:spcAft>
            </a:pPr>
            <a:r>
              <a:rPr sz="2400" b="0" i="0">
                <a:solidFill>
                  <a:srgbClr val="595959"/>
                </a:solidFill>
                <a:latin typeface="Times New Roman"/>
              </a:rPr>
              <a:t>People move to “better” themselves</a:t>
            </a:r>
          </a:p>
          <a:p>
            <a:pPr algn="l">
              <a:lnSpc>
                <a:spcPct val="105000"/>
              </a:lnSpc>
              <a:spcAft>
                <a:spcPts val="200"/>
              </a:spcAft>
            </a:pPr>
            <a:r>
              <a:rPr sz="2400" b="1" i="0">
                <a:solidFill>
                  <a:srgbClr val="7A1916"/>
                </a:solidFill>
                <a:latin typeface="Times New Roman"/>
              </a:rPr>
              <a:t>(ii) Human capital theory</a:t>
            </a:r>
            <a:r>
              <a:rPr sz="2400" b="0" i="0">
                <a:solidFill>
                  <a:srgbClr val="1A1A1A"/>
                </a:solidFill>
                <a:latin typeface="Times New Roman"/>
              </a:rPr>
              <a:t> (Hicks, 1939; Sjaastad, 1962)</a:t>
            </a:r>
          </a:p>
          <a:p>
            <a:pPr algn="l">
              <a:lnSpc>
                <a:spcPct val="105000"/>
              </a:lnSpc>
              <a:spcAft>
                <a:spcPts val="1600"/>
              </a:spcAft>
            </a:pPr>
            <a:r>
              <a:rPr sz="2400" b="0" i="0">
                <a:solidFill>
                  <a:srgbClr val="595959"/>
                </a:solidFill>
                <a:latin typeface="Times New Roman"/>
              </a:rPr>
              <a:t>Predicts that </a:t>
            </a:r>
            <a:r>
              <a:rPr sz="2400" b="1" i="0">
                <a:solidFill>
                  <a:srgbClr val="7A1916"/>
                </a:solidFill>
                <a:latin typeface="Times New Roman"/>
              </a:rPr>
              <a:t>education raises emigration</a:t>
            </a:r>
          </a:p>
          <a:p>
            <a:pPr algn="l">
              <a:lnSpc>
                <a:spcPct val="105000"/>
              </a:lnSpc>
              <a:spcAft>
                <a:spcPts val="200"/>
              </a:spcAft>
            </a:pPr>
            <a:r>
              <a:rPr sz="2400" b="1" i="0">
                <a:solidFill>
                  <a:srgbClr val="7A1916"/>
                </a:solidFill>
                <a:latin typeface="Times New Roman"/>
              </a:rPr>
              <a:t>(iii) Roy effect</a:t>
            </a:r>
            <a:r>
              <a:rPr sz="2400" b="0" i="0">
                <a:solidFill>
                  <a:srgbClr val="1A1A1A"/>
                </a:solidFill>
                <a:latin typeface="Times New Roman"/>
              </a:rPr>
              <a:t> (Borjas, 1987)</a:t>
            </a:r>
          </a:p>
          <a:p>
            <a:pPr algn="l">
              <a:lnSpc>
                <a:spcPct val="105000"/>
              </a:lnSpc>
              <a:spcAft>
                <a:spcPts val="1600"/>
              </a:spcAft>
            </a:pPr>
            <a:r>
              <a:rPr sz="2400" b="0" i="0">
                <a:solidFill>
                  <a:srgbClr val="595959"/>
                </a:solidFill>
                <a:latin typeface="Times New Roman"/>
              </a:rPr>
              <a:t>Inequality determines which skill groups leave</a:t>
            </a:r>
          </a:p>
          <a:p>
            <a:pPr algn="l">
              <a:lnSpc>
                <a:spcPct val="105000"/>
              </a:lnSpc>
              <a:spcAft>
                <a:spcPts val="200"/>
              </a:spcAft>
            </a:pPr>
            <a:r>
              <a:rPr sz="2400" b="1" i="0">
                <a:solidFill>
                  <a:srgbClr val="7A1916"/>
                </a:solidFill>
                <a:latin typeface="Times New Roman"/>
              </a:rPr>
              <a:t>(iv) Gravity model</a:t>
            </a:r>
            <a:r>
              <a:rPr sz="2400" b="0" i="0">
                <a:solidFill>
                  <a:srgbClr val="1A1A1A"/>
                </a:solidFill>
                <a:latin typeface="Times New Roman"/>
              </a:rPr>
              <a:t> (Greenwood, 1975; Adams &amp; Page, 2003)</a:t>
            </a:r>
          </a:p>
          <a:p>
            <a:pPr algn="l">
              <a:lnSpc>
                <a:spcPct val="105000"/>
              </a:lnSpc>
              <a:spcAft>
                <a:spcPts val="0"/>
              </a:spcAft>
            </a:pPr>
            <a:r>
              <a:rPr sz="2400" b="0" i="0">
                <a:solidFill>
                  <a:srgbClr val="595959"/>
                </a:solidFill>
                <a:latin typeface="Times New Roman"/>
              </a:rPr>
              <a:t>Links migration to income, population and cost</a:t>
            </a:r>
          </a:p>
        </p:txBody>
      </p:sp>
      <p:sp>
        <p:nvSpPr>
          <p:cNvPr id="8" name="Evidence label"/>
          <p:cNvSpPr txBox="1"/>
          <p:nvPr/>
        </p:nvSpPr>
        <p:spPr>
          <a:xfrm>
            <a:off x="9418320" y="3611880"/>
            <a:ext cx="7955279" cy="365760"/>
          </a:xfrm>
          <a:prstGeom prst="rect">
            <a:avLst/>
          </a:prstGeom>
          <a:noFill/>
        </p:spPr>
        <p:txBody>
          <a:bodyPr wrap="square" lIns="0" rIns="0" tIns="0" bIns="0" anchor="t">
            <a:noAutofit/>
          </a:bodyPr>
          <a:lstStyle/>
          <a:p>
            <a:pPr algn="l">
              <a:lnSpc>
                <a:spcPct val="105000"/>
              </a:lnSpc>
              <a:spcAft>
                <a:spcPts val="1000"/>
              </a:spcAft>
            </a:pPr>
            <a:r>
              <a:rPr sz="1900" b="1" i="1">
                <a:solidFill>
                  <a:srgbClr val="595959"/>
                </a:solidFill>
                <a:latin typeface="Times New Roman"/>
              </a:rPr>
              <a:t>Evidence from the article (highlighted)</a:t>
            </a:r>
          </a:p>
        </p:txBody>
      </p:sp>
      <p:pic>
        <p:nvPicPr>
          <p:cNvPr id="9" name="Excerpt th_todaro" descr="th_todaro.png"/>
          <p:cNvPicPr>
            <a:picLocks noChangeAspect="1"/>
          </p:cNvPicPr>
          <p:nvPr/>
        </p:nvPicPr>
        <p:blipFill>
          <a:blip r:embed="rId2"/>
          <a:stretch>
            <a:fillRect/>
          </a:stretch>
        </p:blipFill>
        <p:spPr>
          <a:xfrm>
            <a:off x="9418320" y="4023360"/>
            <a:ext cx="7955279" cy="653097"/>
          </a:xfrm>
          <a:prstGeom prst="rect">
            <a:avLst/>
          </a:prstGeom>
        </p:spPr>
      </p:pic>
      <p:sp>
        <p:nvSpPr>
          <p:cNvPr id="10" name="Caption th_todaro"/>
          <p:cNvSpPr txBox="1"/>
          <p:nvPr/>
        </p:nvSpPr>
        <p:spPr>
          <a:xfrm>
            <a:off x="9418320" y="4694745"/>
            <a:ext cx="7955279" cy="292608"/>
          </a:xfrm>
          <a:prstGeom prst="rect">
            <a:avLst/>
          </a:prstGeom>
          <a:noFill/>
        </p:spPr>
        <p:txBody>
          <a:bodyPr wrap="square" lIns="0" rIns="0" tIns="0" bIns="0" anchor="t">
            <a:noAutofit/>
          </a:bodyPr>
          <a:lstStyle/>
          <a:p>
            <a:pPr algn="r">
              <a:lnSpc>
                <a:spcPct val="105000"/>
              </a:lnSpc>
              <a:spcAft>
                <a:spcPts val="1000"/>
              </a:spcAft>
            </a:pPr>
            <a:r>
              <a:rPr sz="1700" b="0" i="1">
                <a:solidFill>
                  <a:srgbClr val="595959"/>
                </a:solidFill>
                <a:latin typeface="Times New Roman"/>
              </a:rPr>
              <a:t>(i) Ravenstein and Todaro (Agbola &amp; Acupan, 2010, p. 389)</a:t>
            </a:r>
          </a:p>
        </p:txBody>
      </p:sp>
      <p:pic>
        <p:nvPicPr>
          <p:cNvPr id="11" name="Excerpt th_hc" descr="th_hc.png"/>
          <p:cNvPicPr>
            <a:picLocks noChangeAspect="1"/>
          </p:cNvPicPr>
          <p:nvPr/>
        </p:nvPicPr>
        <p:blipFill>
          <a:blip r:embed="rId4"/>
          <a:stretch>
            <a:fillRect/>
          </a:stretch>
        </p:blipFill>
        <p:spPr>
          <a:xfrm>
            <a:off x="9418320" y="5060505"/>
            <a:ext cx="7955279" cy="660045"/>
          </a:xfrm>
          <a:prstGeom prst="rect">
            <a:avLst/>
          </a:prstGeom>
        </p:spPr>
      </p:pic>
      <p:sp>
        <p:nvSpPr>
          <p:cNvPr id="12" name="Caption th_hc"/>
          <p:cNvSpPr txBox="1"/>
          <p:nvPr/>
        </p:nvSpPr>
        <p:spPr>
          <a:xfrm>
            <a:off x="9418320" y="5738838"/>
            <a:ext cx="7955279" cy="292608"/>
          </a:xfrm>
          <a:prstGeom prst="rect">
            <a:avLst/>
          </a:prstGeom>
          <a:noFill/>
        </p:spPr>
        <p:txBody>
          <a:bodyPr wrap="square" lIns="0" rIns="0" tIns="0" bIns="0" anchor="t">
            <a:noAutofit/>
          </a:bodyPr>
          <a:lstStyle/>
          <a:p>
            <a:pPr algn="r">
              <a:lnSpc>
                <a:spcPct val="105000"/>
              </a:lnSpc>
              <a:spcAft>
                <a:spcPts val="1000"/>
              </a:spcAft>
            </a:pPr>
            <a:r>
              <a:rPr sz="1700" b="0" i="1">
                <a:solidFill>
                  <a:srgbClr val="595959"/>
                </a:solidFill>
                <a:latin typeface="Times New Roman"/>
              </a:rPr>
              <a:t>(ii) Human capital theory (Agbola &amp; Acupan, 2010, p. 389)</a:t>
            </a:r>
          </a:p>
        </p:txBody>
      </p:sp>
      <p:pic>
        <p:nvPicPr>
          <p:cNvPr id="13" name="Excerpt th_roy" descr="th_roy.png"/>
          <p:cNvPicPr>
            <a:picLocks noChangeAspect="1"/>
          </p:cNvPicPr>
          <p:nvPr/>
        </p:nvPicPr>
        <p:blipFill>
          <a:blip r:embed="rId5"/>
          <a:stretch>
            <a:fillRect/>
          </a:stretch>
        </p:blipFill>
        <p:spPr>
          <a:xfrm>
            <a:off x="9418320" y="6104598"/>
            <a:ext cx="7955279" cy="451610"/>
          </a:xfrm>
          <a:prstGeom prst="rect">
            <a:avLst/>
          </a:prstGeom>
        </p:spPr>
      </p:pic>
      <p:sp>
        <p:nvSpPr>
          <p:cNvPr id="14" name="Caption th_roy"/>
          <p:cNvSpPr txBox="1"/>
          <p:nvPr/>
        </p:nvSpPr>
        <p:spPr>
          <a:xfrm>
            <a:off x="9418320" y="6574496"/>
            <a:ext cx="7955279" cy="292608"/>
          </a:xfrm>
          <a:prstGeom prst="rect">
            <a:avLst/>
          </a:prstGeom>
          <a:noFill/>
        </p:spPr>
        <p:txBody>
          <a:bodyPr wrap="square" lIns="0" rIns="0" tIns="0" bIns="0" anchor="t">
            <a:noAutofit/>
          </a:bodyPr>
          <a:lstStyle/>
          <a:p>
            <a:pPr algn="r">
              <a:lnSpc>
                <a:spcPct val="105000"/>
              </a:lnSpc>
              <a:spcAft>
                <a:spcPts val="1000"/>
              </a:spcAft>
            </a:pPr>
            <a:r>
              <a:rPr sz="1700" b="0" i="1">
                <a:solidFill>
                  <a:srgbClr val="595959"/>
                </a:solidFill>
                <a:latin typeface="Times New Roman"/>
              </a:rPr>
              <a:t>(iii) Roy effect (Agbola &amp; Acupan, 2010, p. 392)</a:t>
            </a:r>
          </a:p>
        </p:txBody>
      </p:sp>
      <p:pic>
        <p:nvPicPr>
          <p:cNvPr id="15" name="Excerpt th_gravity" descr="th_gravity.png"/>
          <p:cNvPicPr>
            <a:picLocks noChangeAspect="1"/>
          </p:cNvPicPr>
          <p:nvPr/>
        </p:nvPicPr>
        <p:blipFill>
          <a:blip r:embed="rId6"/>
          <a:stretch>
            <a:fillRect/>
          </a:stretch>
        </p:blipFill>
        <p:spPr>
          <a:xfrm>
            <a:off x="9418320" y="6940256"/>
            <a:ext cx="7955279" cy="2167727"/>
          </a:xfrm>
          <a:prstGeom prst="rect">
            <a:avLst/>
          </a:prstGeom>
        </p:spPr>
      </p:pic>
      <p:sp>
        <p:nvSpPr>
          <p:cNvPr id="16" name="Caption th_gravity"/>
          <p:cNvSpPr txBox="1"/>
          <p:nvPr/>
        </p:nvSpPr>
        <p:spPr>
          <a:xfrm>
            <a:off x="9418320" y="9126271"/>
            <a:ext cx="7955279" cy="292608"/>
          </a:xfrm>
          <a:prstGeom prst="rect">
            <a:avLst/>
          </a:prstGeom>
          <a:noFill/>
        </p:spPr>
        <p:txBody>
          <a:bodyPr wrap="square" lIns="0" rIns="0" tIns="0" bIns="0" anchor="t">
            <a:noAutofit/>
          </a:bodyPr>
          <a:lstStyle/>
          <a:p>
            <a:pPr algn="r">
              <a:lnSpc>
                <a:spcPct val="105000"/>
              </a:lnSpc>
              <a:spcAft>
                <a:spcPts val="1000"/>
              </a:spcAft>
            </a:pPr>
            <a:r>
              <a:rPr sz="1700" b="0" i="1">
                <a:solidFill>
                  <a:srgbClr val="595959"/>
                </a:solidFill>
                <a:latin typeface="Times New Roman"/>
              </a:rPr>
              <a:t>(iv) Gravity model → equation (1) (Agbola &amp; Acupan, 2010, p. 390)</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17" b="0"/>
              </a:stretch>
            </a:blipFill>
          </p:spPr>
        </p:sp>
      </p:grpSp>
      <p:sp>
        <p:nvSpPr>
          <p:cNvPr name="TextBox 4" id="4"/>
          <p:cNvSpPr txBox="true"/>
          <p:nvPr/>
        </p:nvSpPr>
        <p:spPr>
          <a:xfrm rot="0">
            <a:off x="91421" y="9983057"/>
            <a:ext cx="17981581" cy="369456"/>
          </a:xfrm>
          <a:prstGeom prst="rect">
            <a:avLst/>
          </a:prstGeom>
        </p:spPr>
        <p:txBody>
          <a:bodyPr anchor="t" rtlCol="false" tIns="0" lIns="0" bIns="0" rIns="0">
            <a:spAutoFit/>
          </a:bodyPr>
          <a:lstStyle/>
          <a:p>
            <a:pPr algn="ctr">
              <a:lnSpc>
                <a:spcPts val="1377"/>
              </a:lnSpc>
            </a:pPr>
            <a:r>
              <a:rPr lang="en-US" b="true" sz="1275">
                <a:solidFill>
                  <a:srgbClr val="3A3A3A"/>
                </a:solidFill>
                <a:latin typeface="Arial Bold"/>
                <a:ea typeface="Arial Bold"/>
                <a:cs typeface="Arial Bold"/>
                <a:sym typeface="Arial Bold"/>
              </a:rPr>
              <a:t>© 2026 University of Southeastern Philippines |</a:t>
            </a:r>
            <a:r>
              <a:rPr lang="en-US" sz="1275">
                <a:solidFill>
                  <a:srgbClr val="3A3A3A"/>
                </a:solidFill>
                <a:latin typeface="Arial"/>
                <a:ea typeface="Arial"/>
                <a:cs typeface="Arial"/>
                <a:sym typeface="Arial"/>
              </a:rPr>
              <a:t> All Rights Reserved. This presentation contains confidential and proprietary information. Photography, video, and audio recording of these materials are prohibited without prior authorization.</a:t>
            </a:r>
          </a:p>
        </p:txBody>
      </p:sp>
      <p:sp>
        <p:nvSpPr>
          <p:cNvPr id="5" name="Title"/>
          <p:cNvSpPr txBox="1"/>
          <p:nvPr/>
        </p:nvSpPr>
        <p:spPr>
          <a:xfrm>
            <a:off x="914400" y="1600200"/>
            <a:ext cx="16459200" cy="914400"/>
          </a:xfrm>
          <a:prstGeom prst="rect">
            <a:avLst/>
          </a:prstGeom>
          <a:noFill/>
        </p:spPr>
        <p:txBody>
          <a:bodyPr wrap="square" lIns="0" rIns="0" tIns="0" bIns="0" anchor="ctr">
            <a:noAutofit/>
          </a:bodyPr>
          <a:lstStyle/>
          <a:p>
            <a:pPr algn="l">
              <a:lnSpc>
                <a:spcPct val="105000"/>
              </a:lnSpc>
              <a:spcAft>
                <a:spcPts val="1000"/>
              </a:spcAft>
            </a:pPr>
            <a:r>
              <a:rPr sz="4800" b="1" i="0">
                <a:solidFill>
                  <a:srgbClr val="7A1916"/>
                </a:solidFill>
                <a:latin typeface="Times New Roman"/>
              </a:rPr>
              <a:t>3. Data: sample, dependent variable and sources</a:t>
            </a:r>
          </a:p>
        </p:txBody>
      </p:sp>
      <p:sp>
        <p:nvSpPr>
          <p:cNvPr id="6" name="Key message"/>
          <p:cNvSpPr txBox="1"/>
          <p:nvPr/>
        </p:nvSpPr>
        <p:spPr>
          <a:xfrm>
            <a:off x="914400" y="2606040"/>
            <a:ext cx="16459200" cy="822960"/>
          </a:xfrm>
          <a:prstGeom prst="rect">
            <a:avLst/>
          </a:prstGeom>
          <a:noFill/>
        </p:spPr>
        <p:txBody>
          <a:bodyPr wrap="square" lIns="0" rIns="0" tIns="0" bIns="0" anchor="t">
            <a:noAutofit/>
          </a:bodyPr>
          <a:lstStyle/>
          <a:p>
            <a:pPr algn="l">
              <a:lnSpc>
                <a:spcPct val="105000"/>
              </a:lnSpc>
              <a:spcAft>
                <a:spcPts val="1000"/>
              </a:spcAft>
            </a:pPr>
            <a:r>
              <a:rPr sz="2800" b="1" i="1">
                <a:solidFill>
                  <a:srgbClr val="1A1A1A"/>
                </a:solidFill>
                <a:latin typeface="Times New Roman"/>
              </a:rPr>
              <a:t>Secondary annual national aggregates for 1975–2005 (T = 31).</a:t>
            </a:r>
          </a:p>
        </p:txBody>
      </p:sp>
      <p:sp>
        <p:nvSpPr>
          <p:cNvPr id="7" name="Points"/>
          <p:cNvSpPr txBox="1"/>
          <p:nvPr/>
        </p:nvSpPr>
        <p:spPr>
          <a:xfrm>
            <a:off x="914400" y="3611880"/>
            <a:ext cx="7680960" cy="5943600"/>
          </a:xfrm>
          <a:prstGeom prst="rect">
            <a:avLst/>
          </a:prstGeom>
          <a:noFill/>
        </p:spPr>
        <p:txBody>
          <a:bodyPr wrap="square" lIns="0" rIns="0" tIns="0" bIns="0" anchor="t">
            <a:noAutofit/>
          </a:bodyPr>
          <a:lstStyle/>
          <a:p>
            <a:pPr algn="l" marL="384048" indent="-384048">
              <a:lnSpc>
                <a:spcPct val="105000"/>
              </a:lnSpc>
              <a:spcAft>
                <a:spcPts val="1400"/>
              </a:spcAft>
              <a:buClr>
                <a:srgbClr val="7A1916"/>
              </a:buClr>
              <a:buFont typeface="Times New Roman"/>
              <a:buChar char="•"/>
            </a:pPr>
            <a:r>
              <a:rPr sz="2400" b="1" i="0">
                <a:solidFill>
                  <a:srgbClr val="7A1916"/>
                </a:solidFill>
                <a:latin typeface="Times New Roman"/>
              </a:rPr>
              <a:t>Sample:</a:t>
            </a:r>
            <a:r>
              <a:rPr sz="2400" b="0" i="0">
                <a:solidFill>
                  <a:srgbClr val="1A1A1A"/>
                </a:solidFill>
                <a:latin typeface="Times New Roman"/>
              </a:rPr>
              <a:t> secondary annual national aggregates, </a:t>
            </a:r>
            <a:r>
              <a:rPr sz="2400" b="1" i="0">
                <a:solidFill>
                  <a:srgbClr val="7A1916"/>
                </a:solidFill>
                <a:latin typeface="Times New Roman"/>
              </a:rPr>
              <a:t>1975–2005 (T = 31)</a:t>
            </a:r>
          </a:p>
          <a:p>
            <a:pPr algn="l" marL="384048" indent="-384048">
              <a:lnSpc>
                <a:spcPct val="105000"/>
              </a:lnSpc>
              <a:spcAft>
                <a:spcPts val="1400"/>
              </a:spcAft>
              <a:buClr>
                <a:srgbClr val="7A1916"/>
              </a:buClr>
              <a:buFont typeface="Times New Roman"/>
              <a:buChar char="•"/>
            </a:pPr>
            <a:r>
              <a:rPr sz="2400" b="1" i="0">
                <a:solidFill>
                  <a:srgbClr val="7A1916"/>
                </a:solidFill>
                <a:latin typeface="Times New Roman"/>
              </a:rPr>
              <a:t>Dependent variable – migration share (m):</a:t>
            </a:r>
            <a:r>
              <a:rPr sz="2400" b="0" i="0">
                <a:solidFill>
                  <a:srgbClr val="1A1A1A"/>
                </a:solidFill>
                <a:latin typeface="Times New Roman"/>
              </a:rPr>
              <a:t> temporary plus permanent Filipino migrants as a share of the population (CFO; NSCB)</a:t>
            </a:r>
          </a:p>
          <a:p>
            <a:pPr algn="l" marL="384048" indent="-384048">
              <a:lnSpc>
                <a:spcPct val="105000"/>
              </a:lnSpc>
              <a:spcAft>
                <a:spcPts val="1400"/>
              </a:spcAft>
              <a:buClr>
                <a:srgbClr val="7A1916"/>
              </a:buClr>
              <a:buFont typeface="Times New Roman"/>
              <a:buChar char="•"/>
            </a:pPr>
            <a:r>
              <a:rPr sz="2400" b="1" i="0">
                <a:solidFill>
                  <a:srgbClr val="7A1916"/>
                </a:solidFill>
                <a:latin typeface="Times New Roman"/>
              </a:rPr>
              <a:t>Income, unemployment, inflation:</a:t>
            </a:r>
            <a:r>
              <a:rPr sz="2400" b="0" i="0">
                <a:solidFill>
                  <a:srgbClr val="1A1A1A"/>
                </a:solidFill>
                <a:latin typeface="Times New Roman"/>
              </a:rPr>
              <a:t> IMF </a:t>
            </a:r>
            <a:r>
              <a:rPr sz="2400" b="0" i="1">
                <a:solidFill>
                  <a:srgbClr val="1A1A1A"/>
                </a:solidFill>
                <a:latin typeface="Times New Roman"/>
              </a:rPr>
              <a:t>International Financial Statistics</a:t>
            </a:r>
            <a:r>
              <a:rPr sz="2400" b="0" i="0">
                <a:solidFill>
                  <a:srgbClr val="1A1A1A"/>
                </a:solidFill>
                <a:latin typeface="Times New Roman"/>
              </a:rPr>
              <a:t>, BSP, NSCB</a:t>
            </a:r>
          </a:p>
          <a:p>
            <a:pPr algn="l" marL="384048" indent="-384048">
              <a:lnSpc>
                <a:spcPct val="105000"/>
              </a:lnSpc>
              <a:spcAft>
                <a:spcPts val="1400"/>
              </a:spcAft>
              <a:buClr>
                <a:srgbClr val="7A1916"/>
              </a:buClr>
              <a:buFont typeface="Times New Roman"/>
              <a:buChar char="•"/>
            </a:pPr>
            <a:r>
              <a:rPr sz="2400" b="1" i="0">
                <a:solidFill>
                  <a:srgbClr val="7A1916"/>
                </a:solidFill>
                <a:latin typeface="Times New Roman"/>
              </a:rPr>
              <a:t>Adult literacy:</a:t>
            </a:r>
            <a:r>
              <a:rPr sz="2400" b="0" i="0">
                <a:solidFill>
                  <a:srgbClr val="1A1A1A"/>
                </a:solidFill>
                <a:latin typeface="Times New Roman"/>
              </a:rPr>
              <a:t> BSP; NSCB · </a:t>
            </a:r>
            <a:r>
              <a:rPr sz="2400" b="1" i="0">
                <a:solidFill>
                  <a:srgbClr val="7A1916"/>
                </a:solidFill>
                <a:latin typeface="Times New Roman"/>
              </a:rPr>
              <a:t>Population density:</a:t>
            </a:r>
            <a:r>
              <a:rPr sz="2400" b="0" i="0">
                <a:solidFill>
                  <a:srgbClr val="1A1A1A"/>
                </a:solidFill>
                <a:latin typeface="Times New Roman"/>
              </a:rPr>
              <a:t> NSCB</a:t>
            </a:r>
          </a:p>
        </p:txBody>
      </p:sp>
      <p:sp>
        <p:nvSpPr>
          <p:cNvPr id="8" name="Evidence label"/>
          <p:cNvSpPr txBox="1"/>
          <p:nvPr/>
        </p:nvSpPr>
        <p:spPr>
          <a:xfrm>
            <a:off x="9052560" y="3611880"/>
            <a:ext cx="8321040" cy="365760"/>
          </a:xfrm>
          <a:prstGeom prst="rect">
            <a:avLst/>
          </a:prstGeom>
          <a:noFill/>
        </p:spPr>
        <p:txBody>
          <a:bodyPr wrap="square" lIns="0" rIns="0" tIns="0" bIns="0" anchor="t">
            <a:noAutofit/>
          </a:bodyPr>
          <a:lstStyle/>
          <a:p>
            <a:pPr algn="l">
              <a:lnSpc>
                <a:spcPct val="105000"/>
              </a:lnSpc>
              <a:spcAft>
                <a:spcPts val="1000"/>
              </a:spcAft>
            </a:pPr>
            <a:r>
              <a:rPr sz="1900" b="1" i="1">
                <a:solidFill>
                  <a:srgbClr val="595959"/>
                </a:solidFill>
                <a:latin typeface="Times New Roman"/>
              </a:rPr>
              <a:t>Evidence from the article (highlighted)</a:t>
            </a:r>
          </a:p>
        </p:txBody>
      </p:sp>
      <p:pic>
        <p:nvPicPr>
          <p:cNvPr id="9" name="Excerpt da_sources" descr="da_sources.png"/>
          <p:cNvPicPr>
            <a:picLocks noChangeAspect="1"/>
          </p:cNvPicPr>
          <p:nvPr/>
        </p:nvPicPr>
        <p:blipFill>
          <a:blip r:embed="rId2"/>
          <a:stretch>
            <a:fillRect/>
          </a:stretch>
        </p:blipFill>
        <p:spPr>
          <a:xfrm>
            <a:off x="9052560" y="4023360"/>
            <a:ext cx="8321040" cy="1744148"/>
          </a:xfrm>
          <a:prstGeom prst="rect">
            <a:avLst/>
          </a:prstGeom>
        </p:spPr>
      </p:pic>
      <p:sp>
        <p:nvSpPr>
          <p:cNvPr id="10" name="Caption da_sources"/>
          <p:cNvSpPr txBox="1"/>
          <p:nvPr/>
        </p:nvSpPr>
        <p:spPr>
          <a:xfrm>
            <a:off x="9052560" y="5785796"/>
            <a:ext cx="8321040" cy="292608"/>
          </a:xfrm>
          <a:prstGeom prst="rect">
            <a:avLst/>
          </a:prstGeom>
          <a:noFill/>
        </p:spPr>
        <p:txBody>
          <a:bodyPr wrap="square" lIns="0" rIns="0" tIns="0" bIns="0" anchor="t">
            <a:noAutofit/>
          </a:bodyPr>
          <a:lstStyle/>
          <a:p>
            <a:pPr algn="r">
              <a:lnSpc>
                <a:spcPct val="105000"/>
              </a:lnSpc>
              <a:spcAft>
                <a:spcPts val="1000"/>
              </a:spcAft>
            </a:pPr>
            <a:r>
              <a:rPr sz="1800" b="0" i="1">
                <a:solidFill>
                  <a:srgbClr val="595959"/>
                </a:solidFill>
                <a:latin typeface="Times New Roman"/>
              </a:rPr>
              <a:t>Data sources (Agbola &amp; Acupan, 2010, p. 390)</a:t>
            </a:r>
          </a:p>
        </p:txBody>
      </p:sp>
      <p:pic>
        <p:nvPicPr>
          <p:cNvPr id="11" name="Excerpt da_defs" descr="da_defs.png"/>
          <p:cNvPicPr>
            <a:picLocks noChangeAspect="1"/>
          </p:cNvPicPr>
          <p:nvPr/>
        </p:nvPicPr>
        <p:blipFill>
          <a:blip r:embed="rId4"/>
          <a:stretch>
            <a:fillRect/>
          </a:stretch>
        </p:blipFill>
        <p:spPr>
          <a:xfrm>
            <a:off x="9052560" y="6151556"/>
            <a:ext cx="8321040" cy="1322646"/>
          </a:xfrm>
          <a:prstGeom prst="rect">
            <a:avLst/>
          </a:prstGeom>
        </p:spPr>
      </p:pic>
      <p:sp>
        <p:nvSpPr>
          <p:cNvPr id="12" name="Caption da_defs"/>
          <p:cNvSpPr txBox="1"/>
          <p:nvPr/>
        </p:nvSpPr>
        <p:spPr>
          <a:xfrm>
            <a:off x="9052560" y="7492489"/>
            <a:ext cx="8321040" cy="292608"/>
          </a:xfrm>
          <a:prstGeom prst="rect">
            <a:avLst/>
          </a:prstGeom>
          <a:noFill/>
        </p:spPr>
        <p:txBody>
          <a:bodyPr wrap="square" lIns="0" rIns="0" tIns="0" bIns="0" anchor="t">
            <a:noAutofit/>
          </a:bodyPr>
          <a:lstStyle/>
          <a:p>
            <a:pPr algn="r">
              <a:lnSpc>
                <a:spcPct val="105000"/>
              </a:lnSpc>
              <a:spcAft>
                <a:spcPts val="1000"/>
              </a:spcAft>
            </a:pPr>
            <a:r>
              <a:rPr sz="1800" b="0" i="1">
                <a:solidFill>
                  <a:srgbClr val="595959"/>
                </a:solidFill>
                <a:latin typeface="Times New Roman"/>
              </a:rPr>
              <a:t>Definition of the dependent variable m (Agbola &amp; Acupan, 2010, p. 390)</a:t>
            </a:r>
          </a:p>
        </p:txBody>
      </p:sp>
      <p:pic>
        <p:nvPicPr>
          <p:cNvPr id="13" name="Excerpt me_sample" descr="me_sample.png"/>
          <p:cNvPicPr>
            <a:picLocks noChangeAspect="1"/>
          </p:cNvPicPr>
          <p:nvPr/>
        </p:nvPicPr>
        <p:blipFill>
          <a:blip r:embed="rId5"/>
          <a:stretch>
            <a:fillRect/>
          </a:stretch>
        </p:blipFill>
        <p:spPr>
          <a:xfrm>
            <a:off x="9052560" y="7858249"/>
            <a:ext cx="8321040" cy="472373"/>
          </a:xfrm>
          <a:prstGeom prst="rect">
            <a:avLst/>
          </a:prstGeom>
        </p:spPr>
      </p:pic>
      <p:sp>
        <p:nvSpPr>
          <p:cNvPr id="14" name="Caption me_sample"/>
          <p:cNvSpPr txBox="1"/>
          <p:nvPr/>
        </p:nvSpPr>
        <p:spPr>
          <a:xfrm>
            <a:off x="9052560" y="8348911"/>
            <a:ext cx="8321040" cy="292608"/>
          </a:xfrm>
          <a:prstGeom prst="rect">
            <a:avLst/>
          </a:prstGeom>
          <a:noFill/>
        </p:spPr>
        <p:txBody>
          <a:bodyPr wrap="square" lIns="0" rIns="0" tIns="0" bIns="0" anchor="t">
            <a:noAutofit/>
          </a:bodyPr>
          <a:lstStyle/>
          <a:p>
            <a:pPr algn="r">
              <a:lnSpc>
                <a:spcPct val="105000"/>
              </a:lnSpc>
              <a:spcAft>
                <a:spcPts val="1000"/>
              </a:spcAft>
            </a:pPr>
            <a:r>
              <a:rPr sz="1800" b="0" i="1">
                <a:solidFill>
                  <a:srgbClr val="595959"/>
                </a:solidFill>
                <a:latin typeface="Times New Roman"/>
              </a:rPr>
              <a:t>Sample period (Agbola &amp; Acupan, 2010, p. 391)</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17" b="0"/>
              </a:stretch>
            </a:blipFill>
          </p:spPr>
        </p:sp>
      </p:grpSp>
      <p:sp>
        <p:nvSpPr>
          <p:cNvPr name="TextBox 4" id="4"/>
          <p:cNvSpPr txBox="true"/>
          <p:nvPr/>
        </p:nvSpPr>
        <p:spPr>
          <a:xfrm rot="0">
            <a:off x="91421" y="9908915"/>
            <a:ext cx="17981581" cy="369456"/>
          </a:xfrm>
          <a:prstGeom prst="rect">
            <a:avLst/>
          </a:prstGeom>
        </p:spPr>
        <p:txBody>
          <a:bodyPr anchor="t" rtlCol="false" tIns="0" lIns="0" bIns="0" rIns="0">
            <a:spAutoFit/>
          </a:bodyPr>
          <a:lstStyle/>
          <a:p>
            <a:pPr algn="ctr">
              <a:lnSpc>
                <a:spcPts val="1377"/>
              </a:lnSpc>
            </a:pPr>
            <a:r>
              <a:rPr lang="en-US" b="true" sz="1275">
                <a:solidFill>
                  <a:srgbClr val="3A3A3A"/>
                </a:solidFill>
                <a:latin typeface="Arial Bold"/>
                <a:ea typeface="Arial Bold"/>
                <a:cs typeface="Arial Bold"/>
                <a:sym typeface="Arial Bold"/>
              </a:rPr>
              <a:t>© 2026 University of Southeastern Philippines |</a:t>
            </a:r>
            <a:r>
              <a:rPr lang="en-US" sz="1275">
                <a:solidFill>
                  <a:srgbClr val="3A3A3A"/>
                </a:solidFill>
                <a:latin typeface="Arial"/>
                <a:ea typeface="Arial"/>
                <a:cs typeface="Arial"/>
                <a:sym typeface="Arial"/>
              </a:rPr>
              <a:t> All Rights Reserved. This presentation contains confidential and proprietary information. Photography, video, and audio recording of these materials are prohibited without prior authorization.</a:t>
            </a:r>
          </a:p>
        </p:txBody>
      </p:sp>
      <p:sp>
        <p:nvSpPr>
          <p:cNvPr id="5" name="Title"/>
          <p:cNvSpPr txBox="1"/>
          <p:nvPr/>
        </p:nvSpPr>
        <p:spPr>
          <a:xfrm>
            <a:off x="914400" y="1600200"/>
            <a:ext cx="16459200" cy="914400"/>
          </a:xfrm>
          <a:prstGeom prst="rect">
            <a:avLst/>
          </a:prstGeom>
          <a:noFill/>
        </p:spPr>
        <p:txBody>
          <a:bodyPr wrap="square" lIns="0" rIns="0" tIns="0" bIns="0" anchor="ctr">
            <a:noAutofit/>
          </a:bodyPr>
          <a:lstStyle/>
          <a:p>
            <a:pPr algn="l">
              <a:lnSpc>
                <a:spcPct val="105000"/>
              </a:lnSpc>
              <a:spcAft>
                <a:spcPts val="1000"/>
              </a:spcAft>
            </a:pPr>
            <a:r>
              <a:rPr sz="4800" b="1" i="0">
                <a:solidFill>
                  <a:srgbClr val="7A1916"/>
                </a:solidFill>
                <a:latin typeface="Times New Roman"/>
              </a:rPr>
              <a:t>3. Data: the explanatory variables</a:t>
            </a:r>
          </a:p>
        </p:txBody>
      </p:sp>
      <p:sp>
        <p:nvSpPr>
          <p:cNvPr id="6" name="Key message"/>
          <p:cNvSpPr txBox="1"/>
          <p:nvPr/>
        </p:nvSpPr>
        <p:spPr>
          <a:xfrm>
            <a:off x="914400" y="2606040"/>
            <a:ext cx="16459200" cy="822960"/>
          </a:xfrm>
          <a:prstGeom prst="rect">
            <a:avLst/>
          </a:prstGeom>
          <a:noFill/>
        </p:spPr>
        <p:txBody>
          <a:bodyPr wrap="square" lIns="0" rIns="0" tIns="0" bIns="0" anchor="t">
            <a:noAutofit/>
          </a:bodyPr>
          <a:lstStyle/>
          <a:p>
            <a:pPr algn="l">
              <a:lnSpc>
                <a:spcPct val="105000"/>
              </a:lnSpc>
              <a:spcAft>
                <a:spcPts val="1000"/>
              </a:spcAft>
            </a:pPr>
            <a:r>
              <a:rPr sz="2800" b="1" i="1">
                <a:solidFill>
                  <a:srgbClr val="1A1A1A"/>
                </a:solidFill>
                <a:latin typeface="Times New Roman"/>
              </a:rPr>
              <a:t>Nine explanatory variables, grouped into economic, demographic and political factors.</a:t>
            </a:r>
          </a:p>
        </p:txBody>
      </p:sp>
      <p:graphicFrame>
        <p:nvGraphicFramePr>
          <p:cNvPr id="7" name="Variables table"/>
          <p:cNvGraphicFramePr>
            <a:graphicFrameLocks noGrp="1"/>
          </p:cNvGraphicFramePr>
          <p:nvPr/>
        </p:nvGraphicFramePr>
        <p:xfrm>
          <a:off x="914400" y="3611880"/>
          <a:ext cx="10241280" cy="5760720"/>
        </p:xfrm>
        <a:graphic>
          <a:graphicData uri="http://schemas.openxmlformats.org/drawingml/2006/table">
            <a:tbl>
              <a:tblPr firstRow="0" bandRow="0">
                <a:tableStyleId>{5940675A-B579-460E-94D1-54222C63F5DA}</a:tableStyleId>
              </a:tblPr>
              <a:tblGrid>
                <a:gridCol w="2011680"/>
                <a:gridCol w="3291840"/>
                <a:gridCol w="4937760"/>
              </a:tblGrid>
              <a:tr h="640080">
                <a:tc>
                  <a:txBody>
                    <a:bodyPr wrap="square"/>
                    <a:lstStyle/>
                    <a:p>
                      <a:r>
                        <a:rPr sz="2000" b="1" i="0">
                          <a:solidFill>
                            <a:srgbClr val="FFFFFF"/>
                          </a:solidFill>
                          <a:latin typeface="Times New Roman"/>
                        </a:rPr>
                        <a:t>Factor</a:t>
                      </a:r>
                    </a:p>
                  </a:txBody>
                  <a:tcPr marL="109728" marR="109728" marT="45720" marB="45720" anchor="ctr">
                    <a:solidFill>
                      <a:srgbClr val="7A1916"/>
                    </a:solidFill>
                  </a:tcPr>
                </a:tc>
                <a:tc>
                  <a:txBody>
                    <a:bodyPr wrap="square"/>
                    <a:lstStyle/>
                    <a:p>
                      <a:r>
                        <a:rPr sz="2000" b="1" i="0">
                          <a:solidFill>
                            <a:srgbClr val="FFFFFF"/>
                          </a:solidFill>
                          <a:latin typeface="Times New Roman"/>
                        </a:rPr>
                        <a:t>Variable</a:t>
                      </a:r>
                    </a:p>
                  </a:txBody>
                  <a:tcPr marL="109728" marR="109728" marT="45720" marB="45720" anchor="ctr">
                    <a:solidFill>
                      <a:srgbClr val="7A1916"/>
                    </a:solidFill>
                  </a:tcPr>
                </a:tc>
                <a:tc>
                  <a:txBody>
                    <a:bodyPr wrap="square"/>
                    <a:lstStyle/>
                    <a:p>
                      <a:r>
                        <a:rPr sz="2000" b="1" i="0">
                          <a:solidFill>
                            <a:srgbClr val="FFFFFF"/>
                          </a:solidFill>
                          <a:latin typeface="Times New Roman"/>
                        </a:rPr>
                        <a:t>Measure / proxy</a:t>
                      </a:r>
                    </a:p>
                  </a:txBody>
                  <a:tcPr marL="109728" marR="109728" marT="45720" marB="45720" anchor="ctr">
                    <a:solidFill>
                      <a:srgbClr val="7A1916"/>
                    </a:solidFill>
                  </a:tcPr>
                </a:tc>
              </a:tr>
              <a:tr h="640080">
                <a:tc>
                  <a:txBody>
                    <a:bodyPr wrap="square"/>
                    <a:lstStyle/>
                    <a:p>
                      <a:r>
                        <a:rPr sz="2000" b="1" i="0">
                          <a:solidFill>
                            <a:srgbClr val="1A1A1A"/>
                          </a:solidFill>
                          <a:latin typeface="Times New Roman"/>
                        </a:rPr>
                        <a:t>Economic</a:t>
                      </a:r>
                    </a:p>
                  </a:txBody>
                  <a:tcPr marL="109728" marR="109728" marT="45720" marB="45720" anchor="ctr">
                    <a:solidFill>
                      <a:srgbClr val="FFFFFF"/>
                    </a:solidFill>
                  </a:tcPr>
                </a:tc>
                <a:tc>
                  <a:txBody>
                    <a:bodyPr wrap="square"/>
                    <a:lstStyle/>
                    <a:p>
                      <a:r>
                        <a:rPr sz="2000" b="0" i="0">
                          <a:solidFill>
                            <a:srgbClr val="1A1A1A"/>
                          </a:solidFill>
                          <a:latin typeface="Times New Roman"/>
                        </a:rPr>
                        <a:t>Cost of migration (cm)</a:t>
                      </a:r>
                    </a:p>
                  </a:txBody>
                  <a:tcPr marL="109728" marR="109728" marT="45720" marB="45720" anchor="ctr">
                    <a:solidFill>
                      <a:srgbClr val="FFFFFF"/>
                    </a:solidFill>
                  </a:tcPr>
                </a:tc>
                <a:tc>
                  <a:txBody>
                    <a:bodyPr wrap="square"/>
                    <a:lstStyle/>
                    <a:p>
                      <a:r>
                        <a:rPr sz="2000" b="0" i="0">
                          <a:solidFill>
                            <a:srgbClr val="1A1A1A"/>
                          </a:solidFill>
                          <a:latin typeface="Times New Roman"/>
                        </a:rPr>
                        <a:t>Avg. one-way airfare, Manila → top 24 destinations</a:t>
                      </a:r>
                    </a:p>
                  </a:txBody>
                  <a:tcPr marL="109728" marR="109728" marT="45720" marB="45720" anchor="ctr">
                    <a:solidFill>
                      <a:srgbClr val="FFFFFF"/>
                    </a:solidFill>
                  </a:tcPr>
                </a:tc>
              </a:tr>
              <a:tr h="640080">
                <a:tc>
                  <a:txBody>
                    <a:bodyPr wrap="square"/>
                    <a:lstStyle/>
                    <a:p>
                      <a:r>
                        <a:rPr sz="2000" b="1" i="0">
                          <a:solidFill>
                            <a:srgbClr val="1A1A1A"/>
                          </a:solidFill>
                          <a:latin typeface="Times New Roman"/>
                        </a:rPr>
                        <a:t>Economic</a:t>
                      </a:r>
                    </a:p>
                  </a:txBody>
                  <a:tcPr marL="109728" marR="109728" marT="45720" marB="45720" anchor="ctr">
                    <a:solidFill>
                      <a:srgbClr val="F4F4F4"/>
                    </a:solidFill>
                  </a:tcPr>
                </a:tc>
                <a:tc>
                  <a:txBody>
                    <a:bodyPr wrap="square"/>
                    <a:lstStyle/>
                    <a:p>
                      <a:r>
                        <a:rPr sz="2000" b="0" i="0">
                          <a:solidFill>
                            <a:srgbClr val="1A1A1A"/>
                          </a:solidFill>
                          <a:latin typeface="Times New Roman"/>
                        </a:rPr>
                        <a:t>Real GDP per capita (y)</a:t>
                      </a:r>
                    </a:p>
                  </a:txBody>
                  <a:tcPr marL="109728" marR="109728" marT="45720" marB="45720" anchor="ctr">
                    <a:solidFill>
                      <a:srgbClr val="F4F4F4"/>
                    </a:solidFill>
                  </a:tcPr>
                </a:tc>
                <a:tc>
                  <a:txBody>
                    <a:bodyPr wrap="square"/>
                    <a:lstStyle/>
                    <a:p>
                      <a:r>
                        <a:rPr sz="2000" b="0" i="0">
                          <a:solidFill>
                            <a:srgbClr val="1A1A1A"/>
                          </a:solidFill>
                          <a:latin typeface="Times New Roman"/>
                        </a:rPr>
                        <a:t>Real per capita income</a:t>
                      </a:r>
                    </a:p>
                  </a:txBody>
                  <a:tcPr marL="109728" marR="109728" marT="45720" marB="45720" anchor="ctr">
                    <a:solidFill>
                      <a:srgbClr val="F4F4F4"/>
                    </a:solidFill>
                  </a:tcPr>
                </a:tc>
              </a:tr>
              <a:tr h="640080">
                <a:tc>
                  <a:txBody>
                    <a:bodyPr wrap="square"/>
                    <a:lstStyle/>
                    <a:p>
                      <a:r>
                        <a:rPr sz="2000" b="1" i="0">
                          <a:solidFill>
                            <a:srgbClr val="1A1A1A"/>
                          </a:solidFill>
                          <a:latin typeface="Times New Roman"/>
                        </a:rPr>
                        <a:t>Economic</a:t>
                      </a:r>
                    </a:p>
                  </a:txBody>
                  <a:tcPr marL="109728" marR="109728" marT="45720" marB="45720" anchor="ctr">
                    <a:solidFill>
                      <a:srgbClr val="FFFFFF"/>
                    </a:solidFill>
                  </a:tcPr>
                </a:tc>
                <a:tc>
                  <a:txBody>
                    <a:bodyPr wrap="square"/>
                    <a:lstStyle/>
                    <a:p>
                      <a:r>
                        <a:rPr sz="2000" b="0" i="0">
                          <a:solidFill>
                            <a:srgbClr val="1A1A1A"/>
                          </a:solidFill>
                          <a:latin typeface="Times New Roman"/>
                        </a:rPr>
                        <a:t>Unemployment rate (ur)</a:t>
                      </a:r>
                    </a:p>
                  </a:txBody>
                  <a:tcPr marL="109728" marR="109728" marT="45720" marB="45720" anchor="ctr">
                    <a:solidFill>
                      <a:srgbClr val="FFFFFF"/>
                    </a:solidFill>
                  </a:tcPr>
                </a:tc>
                <a:tc>
                  <a:txBody>
                    <a:bodyPr wrap="square"/>
                    <a:lstStyle/>
                    <a:p>
                      <a:r>
                        <a:rPr sz="2000" b="0" i="0">
                          <a:solidFill>
                            <a:srgbClr val="1A1A1A"/>
                          </a:solidFill>
                          <a:latin typeface="Times New Roman"/>
                        </a:rPr>
                        <a:t>Unemployment rate</a:t>
                      </a:r>
                    </a:p>
                  </a:txBody>
                  <a:tcPr marL="109728" marR="109728" marT="45720" marB="45720" anchor="ctr">
                    <a:solidFill>
                      <a:srgbClr val="FFFFFF"/>
                    </a:solidFill>
                  </a:tcPr>
                </a:tc>
              </a:tr>
              <a:tr h="640080">
                <a:tc>
                  <a:txBody>
                    <a:bodyPr wrap="square"/>
                    <a:lstStyle/>
                    <a:p>
                      <a:r>
                        <a:rPr sz="2000" b="1" i="0">
                          <a:solidFill>
                            <a:srgbClr val="1A1A1A"/>
                          </a:solidFill>
                          <a:latin typeface="Times New Roman"/>
                        </a:rPr>
                        <a:t>Economic</a:t>
                      </a:r>
                    </a:p>
                  </a:txBody>
                  <a:tcPr marL="109728" marR="109728" marT="45720" marB="45720" anchor="ctr">
                    <a:solidFill>
                      <a:srgbClr val="F4F4F4"/>
                    </a:solidFill>
                  </a:tcPr>
                </a:tc>
                <a:tc>
                  <a:txBody>
                    <a:bodyPr wrap="square"/>
                    <a:lstStyle/>
                    <a:p>
                      <a:r>
                        <a:rPr sz="2000" b="0" i="0">
                          <a:solidFill>
                            <a:srgbClr val="1A1A1A"/>
                          </a:solidFill>
                          <a:latin typeface="Times New Roman"/>
                        </a:rPr>
                        <a:t>Inflation rate (ir)</a:t>
                      </a:r>
                    </a:p>
                  </a:txBody>
                  <a:tcPr marL="109728" marR="109728" marT="45720" marB="45720" anchor="ctr">
                    <a:solidFill>
                      <a:srgbClr val="F4F4F4"/>
                    </a:solidFill>
                  </a:tcPr>
                </a:tc>
                <a:tc>
                  <a:txBody>
                    <a:bodyPr wrap="square"/>
                    <a:lstStyle/>
                    <a:p>
                      <a:r>
                        <a:rPr sz="2000" b="0" i="0">
                          <a:solidFill>
                            <a:srgbClr val="1A1A1A"/>
                          </a:solidFill>
                          <a:latin typeface="Times New Roman"/>
                        </a:rPr>
                        <a:t>From the consumer price index</a:t>
                      </a:r>
                    </a:p>
                  </a:txBody>
                  <a:tcPr marL="109728" marR="109728" marT="45720" marB="45720" anchor="ctr">
                    <a:solidFill>
                      <a:srgbClr val="F4F4F4"/>
                    </a:solidFill>
                  </a:tcPr>
                </a:tc>
              </a:tr>
              <a:tr h="640080">
                <a:tc>
                  <a:txBody>
                    <a:bodyPr wrap="square"/>
                    <a:lstStyle/>
                    <a:p>
                      <a:r>
                        <a:rPr sz="2000" b="1" i="0">
                          <a:solidFill>
                            <a:srgbClr val="1A1A1A"/>
                          </a:solidFill>
                          <a:latin typeface="Times New Roman"/>
                        </a:rPr>
                        <a:t>Economic</a:t>
                      </a:r>
                    </a:p>
                  </a:txBody>
                  <a:tcPr marL="109728" marR="109728" marT="45720" marB="45720" anchor="ctr">
                    <a:solidFill>
                      <a:srgbClr val="FFFFFF"/>
                    </a:solidFill>
                  </a:tcPr>
                </a:tc>
                <a:tc>
                  <a:txBody>
                    <a:bodyPr wrap="square"/>
                    <a:lstStyle/>
                    <a:p>
                      <a:r>
                        <a:rPr sz="2000" b="0" i="0">
                          <a:solidFill>
                            <a:srgbClr val="1A1A1A"/>
                          </a:solidFill>
                          <a:latin typeface="Times New Roman"/>
                        </a:rPr>
                        <a:t>Inequality (ineq), ineq²</a:t>
                      </a:r>
                    </a:p>
                  </a:txBody>
                  <a:tcPr marL="109728" marR="109728" marT="45720" marB="45720" anchor="ctr">
                    <a:solidFill>
                      <a:srgbClr val="FFFFFF"/>
                    </a:solidFill>
                  </a:tcPr>
                </a:tc>
                <a:tc>
                  <a:txBody>
                    <a:bodyPr wrap="square"/>
                    <a:lstStyle/>
                    <a:p>
                      <a:r>
                        <a:rPr sz="2000" b="0" i="0">
                          <a:solidFill>
                            <a:srgbClr val="1A1A1A"/>
                          </a:solidFill>
                          <a:latin typeface="Times New Roman"/>
                        </a:rPr>
                        <a:t>Gini coefficient and its square</a:t>
                      </a:r>
                    </a:p>
                  </a:txBody>
                  <a:tcPr marL="109728" marR="109728" marT="45720" marB="45720" anchor="ctr">
                    <a:solidFill>
                      <a:srgbClr val="FFFFFF"/>
                    </a:solidFill>
                  </a:tcPr>
                </a:tc>
              </a:tr>
              <a:tr h="640080">
                <a:tc>
                  <a:txBody>
                    <a:bodyPr wrap="square"/>
                    <a:lstStyle/>
                    <a:p>
                      <a:r>
                        <a:rPr sz="2000" b="1" i="0">
                          <a:solidFill>
                            <a:srgbClr val="1A1A1A"/>
                          </a:solidFill>
                          <a:latin typeface="Times New Roman"/>
                        </a:rPr>
                        <a:t>Demographic</a:t>
                      </a:r>
                    </a:p>
                  </a:txBody>
                  <a:tcPr marL="109728" marR="109728" marT="45720" marB="45720" anchor="ctr">
                    <a:solidFill>
                      <a:srgbClr val="F4F4F4"/>
                    </a:solidFill>
                  </a:tcPr>
                </a:tc>
                <a:tc>
                  <a:txBody>
                    <a:bodyPr wrap="square"/>
                    <a:lstStyle/>
                    <a:p>
                      <a:r>
                        <a:rPr sz="2000" b="0" i="0">
                          <a:solidFill>
                            <a:srgbClr val="1A1A1A"/>
                          </a:solidFill>
                          <a:latin typeface="Times New Roman"/>
                        </a:rPr>
                        <a:t>Adult literacy (adl)</a:t>
                      </a:r>
                    </a:p>
                  </a:txBody>
                  <a:tcPr marL="109728" marR="109728" marT="45720" marB="45720" anchor="ctr">
                    <a:solidFill>
                      <a:srgbClr val="F4F4F4"/>
                    </a:solidFill>
                  </a:tcPr>
                </a:tc>
                <a:tc>
                  <a:txBody>
                    <a:bodyPr wrap="square"/>
                    <a:lstStyle/>
                    <a:p>
                      <a:r>
                        <a:rPr sz="2000" b="0" i="0">
                          <a:solidFill>
                            <a:srgbClr val="1A1A1A"/>
                          </a:solidFill>
                          <a:latin typeface="Times New Roman"/>
                        </a:rPr>
                        <a:t>Proxy for education</a:t>
                      </a:r>
                    </a:p>
                  </a:txBody>
                  <a:tcPr marL="109728" marR="109728" marT="45720" marB="45720" anchor="ctr">
                    <a:solidFill>
                      <a:srgbClr val="F4F4F4"/>
                    </a:solidFill>
                  </a:tcPr>
                </a:tc>
              </a:tr>
              <a:tr h="640080">
                <a:tc>
                  <a:txBody>
                    <a:bodyPr wrap="square"/>
                    <a:lstStyle/>
                    <a:p>
                      <a:r>
                        <a:rPr sz="2000" b="1" i="0">
                          <a:solidFill>
                            <a:srgbClr val="1A1A1A"/>
                          </a:solidFill>
                          <a:latin typeface="Times New Roman"/>
                        </a:rPr>
                        <a:t>Demographic</a:t>
                      </a:r>
                    </a:p>
                  </a:txBody>
                  <a:tcPr marL="109728" marR="109728" marT="45720" marB="45720" anchor="ctr">
                    <a:solidFill>
                      <a:srgbClr val="FFFFFF"/>
                    </a:solidFill>
                  </a:tcPr>
                </a:tc>
                <a:tc>
                  <a:txBody>
                    <a:bodyPr wrap="square"/>
                    <a:lstStyle/>
                    <a:p>
                      <a:r>
                        <a:rPr sz="2000" b="0" i="0">
                          <a:solidFill>
                            <a:srgbClr val="1A1A1A"/>
                          </a:solidFill>
                          <a:latin typeface="Times New Roman"/>
                        </a:rPr>
                        <a:t>Population density (pd)</a:t>
                      </a:r>
                    </a:p>
                  </a:txBody>
                  <a:tcPr marL="109728" marR="109728" marT="45720" marB="45720" anchor="ctr">
                    <a:solidFill>
                      <a:srgbClr val="FFFFFF"/>
                    </a:solidFill>
                  </a:tcPr>
                </a:tc>
                <a:tc>
                  <a:txBody>
                    <a:bodyPr wrap="square"/>
                    <a:lstStyle/>
                    <a:p>
                      <a:r>
                        <a:rPr sz="2000" b="0" i="0">
                          <a:solidFill>
                            <a:srgbClr val="1A1A1A"/>
                          </a:solidFill>
                          <a:latin typeface="Times New Roman"/>
                        </a:rPr>
                        <a:t>People per km²</a:t>
                      </a:r>
                    </a:p>
                  </a:txBody>
                  <a:tcPr marL="109728" marR="109728" marT="45720" marB="45720" anchor="ctr">
                    <a:solidFill>
                      <a:srgbClr val="FFFFFF"/>
                    </a:solidFill>
                  </a:tcPr>
                </a:tc>
              </a:tr>
              <a:tr h="640080">
                <a:tc>
                  <a:txBody>
                    <a:bodyPr wrap="square"/>
                    <a:lstStyle/>
                    <a:p>
                      <a:r>
                        <a:rPr sz="2000" b="1" i="0">
                          <a:solidFill>
                            <a:srgbClr val="1A1A1A"/>
                          </a:solidFill>
                          <a:latin typeface="Times New Roman"/>
                        </a:rPr>
                        <a:t>Political</a:t>
                      </a:r>
                    </a:p>
                  </a:txBody>
                  <a:tcPr marL="109728" marR="109728" marT="45720" marB="45720" anchor="ctr">
                    <a:solidFill>
                      <a:srgbClr val="F4F4F4"/>
                    </a:solidFill>
                  </a:tcPr>
                </a:tc>
                <a:tc>
                  <a:txBody>
                    <a:bodyPr wrap="square"/>
                    <a:lstStyle/>
                    <a:p>
                      <a:r>
                        <a:rPr sz="2000" b="0" i="0">
                          <a:solidFill>
                            <a:srgbClr val="1A1A1A"/>
                          </a:solidFill>
                          <a:latin typeface="Times New Roman"/>
                        </a:rPr>
                        <a:t>Political instability (govs)</a:t>
                      </a:r>
                    </a:p>
                  </a:txBody>
                  <a:tcPr marL="109728" marR="109728" marT="45720" marB="45720" anchor="ctr">
                    <a:solidFill>
                      <a:srgbClr val="F4F4F4"/>
                    </a:solidFill>
                  </a:tcPr>
                </a:tc>
                <a:tc>
                  <a:txBody>
                    <a:bodyPr wrap="square"/>
                    <a:lstStyle/>
                    <a:p>
                      <a:r>
                        <a:rPr sz="2000" b="0" i="0">
                          <a:solidFill>
                            <a:srgbClr val="1A1A1A"/>
                          </a:solidFill>
                          <a:latin typeface="Times New Roman"/>
                        </a:rPr>
                        <a:t>Leadership changes; attempted and successful uprisings</a:t>
                      </a:r>
                    </a:p>
                  </a:txBody>
                  <a:tcPr marL="109728" marR="109728" marT="45720" marB="45720" anchor="ctr">
                    <a:solidFill>
                      <a:srgbClr val="F4F4F4"/>
                    </a:solidFill>
                  </a:tcPr>
                </a:tc>
              </a:tr>
            </a:tbl>
          </a:graphicData>
        </a:graphic>
      </p:graphicFrame>
      <p:sp>
        <p:nvSpPr>
          <p:cNvPr id="8" name="Evidence label"/>
          <p:cNvSpPr txBox="1"/>
          <p:nvPr/>
        </p:nvSpPr>
        <p:spPr>
          <a:xfrm>
            <a:off x="11521440" y="3611880"/>
            <a:ext cx="5852160" cy="365760"/>
          </a:xfrm>
          <a:prstGeom prst="rect">
            <a:avLst/>
          </a:prstGeom>
          <a:noFill/>
        </p:spPr>
        <p:txBody>
          <a:bodyPr wrap="square" lIns="0" rIns="0" tIns="0" bIns="0" anchor="t">
            <a:noAutofit/>
          </a:bodyPr>
          <a:lstStyle/>
          <a:p>
            <a:pPr algn="l">
              <a:lnSpc>
                <a:spcPct val="105000"/>
              </a:lnSpc>
              <a:spcAft>
                <a:spcPts val="1000"/>
              </a:spcAft>
            </a:pPr>
            <a:r>
              <a:rPr sz="1900" b="1" i="1">
                <a:solidFill>
                  <a:srgbClr val="595959"/>
                </a:solidFill>
                <a:latin typeface="Times New Roman"/>
              </a:rPr>
              <a:t>Evidence from the article (highlighted)</a:t>
            </a:r>
          </a:p>
        </p:txBody>
      </p:sp>
      <p:pic>
        <p:nvPicPr>
          <p:cNvPr id="9" name="Excerpt da_proxies" descr="da_proxies.png"/>
          <p:cNvPicPr>
            <a:picLocks noChangeAspect="1"/>
          </p:cNvPicPr>
          <p:nvPr/>
        </p:nvPicPr>
        <p:blipFill>
          <a:blip r:embed="rId2"/>
          <a:stretch>
            <a:fillRect/>
          </a:stretch>
        </p:blipFill>
        <p:spPr>
          <a:xfrm>
            <a:off x="11521440" y="4023360"/>
            <a:ext cx="5852160" cy="2560639"/>
          </a:xfrm>
          <a:prstGeom prst="rect">
            <a:avLst/>
          </a:prstGeom>
        </p:spPr>
      </p:pic>
      <p:sp>
        <p:nvSpPr>
          <p:cNvPr id="10" name="Caption da_proxies"/>
          <p:cNvSpPr txBox="1"/>
          <p:nvPr/>
        </p:nvSpPr>
        <p:spPr>
          <a:xfrm>
            <a:off x="11521440" y="6602287"/>
            <a:ext cx="5852160" cy="292608"/>
          </a:xfrm>
          <a:prstGeom prst="rect">
            <a:avLst/>
          </a:prstGeom>
          <a:noFill/>
        </p:spPr>
        <p:txBody>
          <a:bodyPr wrap="square" lIns="0" rIns="0" tIns="0" bIns="0" anchor="t">
            <a:noAutofit/>
          </a:bodyPr>
          <a:lstStyle/>
          <a:p>
            <a:pPr algn="r">
              <a:lnSpc>
                <a:spcPct val="105000"/>
              </a:lnSpc>
              <a:spcAft>
                <a:spcPts val="1000"/>
              </a:spcAft>
            </a:pPr>
            <a:r>
              <a:rPr sz="1700" b="0" i="1">
                <a:solidFill>
                  <a:srgbClr val="595959"/>
                </a:solidFill>
                <a:latin typeface="Times New Roman"/>
              </a:rPr>
              <a:t>Proxies: literacy, Gini, instability (Agbola &amp; Acupan, 2010, p. 392)</a:t>
            </a:r>
          </a:p>
        </p:txBody>
      </p:sp>
      <p:pic>
        <p:nvPicPr>
          <p:cNvPr id="11" name="Excerpt da_airfare" descr="da_airfare.png"/>
          <p:cNvPicPr>
            <a:picLocks noChangeAspect="1"/>
          </p:cNvPicPr>
          <p:nvPr/>
        </p:nvPicPr>
        <p:blipFill>
          <a:blip r:embed="rId4"/>
          <a:stretch>
            <a:fillRect/>
          </a:stretch>
        </p:blipFill>
        <p:spPr>
          <a:xfrm>
            <a:off x="11521440" y="6968047"/>
            <a:ext cx="5852160" cy="1226654"/>
          </a:xfrm>
          <a:prstGeom prst="rect">
            <a:avLst/>
          </a:prstGeom>
        </p:spPr>
      </p:pic>
      <p:sp>
        <p:nvSpPr>
          <p:cNvPr id="12" name="Caption da_airfare"/>
          <p:cNvSpPr txBox="1"/>
          <p:nvPr/>
        </p:nvSpPr>
        <p:spPr>
          <a:xfrm>
            <a:off x="11521440" y="8212989"/>
            <a:ext cx="5852160" cy="292608"/>
          </a:xfrm>
          <a:prstGeom prst="rect">
            <a:avLst/>
          </a:prstGeom>
          <a:noFill/>
        </p:spPr>
        <p:txBody>
          <a:bodyPr wrap="square" lIns="0" rIns="0" tIns="0" bIns="0" anchor="t">
            <a:noAutofit/>
          </a:bodyPr>
          <a:lstStyle/>
          <a:p>
            <a:pPr algn="r">
              <a:lnSpc>
                <a:spcPct val="105000"/>
              </a:lnSpc>
              <a:spcAft>
                <a:spcPts val="1000"/>
              </a:spcAft>
            </a:pPr>
            <a:r>
              <a:rPr sz="1700" b="0" i="1">
                <a:solidFill>
                  <a:srgbClr val="595959"/>
                </a:solidFill>
                <a:latin typeface="Times New Roman"/>
              </a:rPr>
              <a:t>Cost of migration (Agbola &amp; Acupan, 2010, p. 391)</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17" b="0"/>
              </a:stretch>
            </a:blipFill>
          </p:spPr>
        </p:sp>
      </p:grpSp>
      <p:sp>
        <p:nvSpPr>
          <p:cNvPr name="TextBox 4" id="4"/>
          <p:cNvSpPr txBox="true"/>
          <p:nvPr/>
        </p:nvSpPr>
        <p:spPr>
          <a:xfrm rot="0">
            <a:off x="91421" y="9983057"/>
            <a:ext cx="17981581" cy="369456"/>
          </a:xfrm>
          <a:prstGeom prst="rect">
            <a:avLst/>
          </a:prstGeom>
        </p:spPr>
        <p:txBody>
          <a:bodyPr anchor="t" rtlCol="false" tIns="0" lIns="0" bIns="0" rIns="0">
            <a:spAutoFit/>
          </a:bodyPr>
          <a:lstStyle/>
          <a:p>
            <a:pPr algn="ctr">
              <a:lnSpc>
                <a:spcPts val="1377"/>
              </a:lnSpc>
            </a:pPr>
            <a:r>
              <a:rPr lang="en-US" b="true" sz="1275">
                <a:solidFill>
                  <a:srgbClr val="3A3A3A"/>
                </a:solidFill>
                <a:latin typeface="Arial Bold"/>
                <a:ea typeface="Arial Bold"/>
                <a:cs typeface="Arial Bold"/>
                <a:sym typeface="Arial Bold"/>
              </a:rPr>
              <a:t>© 2026 University of Southeastern Philippines |</a:t>
            </a:r>
            <a:r>
              <a:rPr lang="en-US" sz="1275">
                <a:solidFill>
                  <a:srgbClr val="3A3A3A"/>
                </a:solidFill>
                <a:latin typeface="Arial"/>
                <a:ea typeface="Arial"/>
                <a:cs typeface="Arial"/>
                <a:sym typeface="Arial"/>
              </a:rPr>
              <a:t> All Rights Reserved. This presentation contains confidential and proprietary information. Photography, video, and audio recording of these materials are prohibited without prior authorization.</a:t>
            </a:r>
          </a:p>
        </p:txBody>
      </p:sp>
      <p:sp>
        <p:nvSpPr>
          <p:cNvPr id="5" name="Title"/>
          <p:cNvSpPr txBox="1"/>
          <p:nvPr/>
        </p:nvSpPr>
        <p:spPr>
          <a:xfrm>
            <a:off x="914400" y="1600200"/>
            <a:ext cx="16459200" cy="914400"/>
          </a:xfrm>
          <a:prstGeom prst="rect">
            <a:avLst/>
          </a:prstGeom>
          <a:noFill/>
        </p:spPr>
        <p:txBody>
          <a:bodyPr wrap="square" lIns="0" rIns="0" tIns="0" bIns="0" anchor="ctr">
            <a:noAutofit/>
          </a:bodyPr>
          <a:lstStyle/>
          <a:p>
            <a:pPr algn="l">
              <a:lnSpc>
                <a:spcPct val="105000"/>
              </a:lnSpc>
              <a:spcAft>
                <a:spcPts val="1000"/>
              </a:spcAft>
            </a:pPr>
            <a:r>
              <a:rPr sz="4800" b="1" i="0">
                <a:solidFill>
                  <a:srgbClr val="7A1916"/>
                </a:solidFill>
                <a:latin typeface="Times New Roman"/>
              </a:rPr>
              <a:t>4. Methodology: the procedure</a:t>
            </a:r>
          </a:p>
        </p:txBody>
      </p:sp>
      <p:sp>
        <p:nvSpPr>
          <p:cNvPr id="6" name="Key message"/>
          <p:cNvSpPr txBox="1"/>
          <p:nvPr/>
        </p:nvSpPr>
        <p:spPr>
          <a:xfrm>
            <a:off x="914400" y="2606040"/>
            <a:ext cx="16459200" cy="822960"/>
          </a:xfrm>
          <a:prstGeom prst="rect">
            <a:avLst/>
          </a:prstGeom>
          <a:noFill/>
        </p:spPr>
        <p:txBody>
          <a:bodyPr wrap="square" lIns="0" rIns="0" tIns="0" bIns="0" anchor="t">
            <a:noAutofit/>
          </a:bodyPr>
          <a:lstStyle/>
          <a:p>
            <a:pPr algn="l">
              <a:lnSpc>
                <a:spcPct val="105000"/>
              </a:lnSpc>
              <a:spcAft>
                <a:spcPts val="1000"/>
              </a:spcAft>
            </a:pPr>
            <a:r>
              <a:rPr sz="2800" b="1" i="1">
                <a:solidFill>
                  <a:srgbClr val="1A1A1A"/>
                </a:solidFill>
                <a:latin typeface="Times New Roman"/>
              </a:rPr>
              <a:t>A five-step time-series procedure that follows the textbook sequence.</a:t>
            </a:r>
          </a:p>
        </p:txBody>
      </p:sp>
      <p:sp>
        <p:nvSpPr>
          <p:cNvPr id="7" name="Steps"/>
          <p:cNvSpPr txBox="1"/>
          <p:nvPr/>
        </p:nvSpPr>
        <p:spPr>
          <a:xfrm>
            <a:off x="914400" y="3611880"/>
            <a:ext cx="7863840" cy="5943600"/>
          </a:xfrm>
          <a:prstGeom prst="rect">
            <a:avLst/>
          </a:prstGeom>
          <a:noFill/>
        </p:spPr>
        <p:txBody>
          <a:bodyPr wrap="square" lIns="0" rIns="0" tIns="0" bIns="0" anchor="t">
            <a:noAutofit/>
          </a:bodyPr>
          <a:lstStyle/>
          <a:p>
            <a:pPr algn="l">
              <a:lnSpc>
                <a:spcPct val="105000"/>
              </a:lnSpc>
              <a:spcAft>
                <a:spcPts val="1800"/>
              </a:spcAft>
            </a:pPr>
            <a:r>
              <a:rPr sz="2400" b="1" i="0">
                <a:solidFill>
                  <a:srgbClr val="7A1916"/>
                </a:solidFill>
                <a:latin typeface="Times New Roman"/>
              </a:rPr>
              <a:t>(i) Unit roots:</a:t>
            </a:r>
            <a:r>
              <a:rPr sz="2400" b="0" i="0">
                <a:solidFill>
                  <a:srgbClr val="1A1A1A"/>
                </a:solidFill>
                <a:latin typeface="Times New Roman"/>
              </a:rPr>
              <a:t> ADF and Phillips–Perron tests treat the series as I(1)</a:t>
            </a:r>
          </a:p>
          <a:p>
            <a:pPr algn="l">
              <a:lnSpc>
                <a:spcPct val="105000"/>
              </a:lnSpc>
              <a:spcAft>
                <a:spcPts val="1800"/>
              </a:spcAft>
            </a:pPr>
            <a:r>
              <a:rPr sz="2400" b="1" i="0">
                <a:solidFill>
                  <a:srgbClr val="7A1916"/>
                </a:solidFill>
                <a:latin typeface="Times New Roman"/>
              </a:rPr>
              <a:t>(ii) Cointegration:</a:t>
            </a:r>
            <a:r>
              <a:rPr sz="2400" b="0" i="0">
                <a:solidFill>
                  <a:srgbClr val="1A1A1A"/>
                </a:solidFill>
                <a:latin typeface="Times New Roman"/>
              </a:rPr>
              <a:t> Engle–Granger, Johansen and Pesaran bounds tests confirm a long-run relationship</a:t>
            </a:r>
          </a:p>
          <a:p>
            <a:pPr algn="l">
              <a:lnSpc>
                <a:spcPct val="105000"/>
              </a:lnSpc>
              <a:spcAft>
                <a:spcPts val="1800"/>
              </a:spcAft>
            </a:pPr>
            <a:r>
              <a:rPr sz="2400" b="1" i="0">
                <a:solidFill>
                  <a:srgbClr val="7A1916"/>
                </a:solidFill>
                <a:latin typeface="Times New Roman"/>
              </a:rPr>
              <a:t>(iii) Specification:</a:t>
            </a:r>
            <a:r>
              <a:rPr sz="2400" b="0" i="0">
                <a:solidFill>
                  <a:srgbClr val="1A1A1A"/>
                </a:solidFill>
                <a:latin typeface="Times New Roman"/>
              </a:rPr>
              <a:t> general-to-specific reduction to a parsimonious model</a:t>
            </a:r>
          </a:p>
          <a:p>
            <a:pPr algn="l">
              <a:lnSpc>
                <a:spcPct val="105000"/>
              </a:lnSpc>
              <a:spcAft>
                <a:spcPts val="1800"/>
              </a:spcAft>
            </a:pPr>
            <a:r>
              <a:rPr sz="2400" b="1" i="0">
                <a:solidFill>
                  <a:srgbClr val="7A1916"/>
                </a:solidFill>
                <a:latin typeface="Times New Roman"/>
              </a:rPr>
              <a:t>(iv) Estimation:</a:t>
            </a:r>
            <a:r>
              <a:rPr sz="2400" b="0" i="0">
                <a:solidFill>
                  <a:srgbClr val="1A1A1A"/>
                </a:solidFill>
                <a:latin typeface="Times New Roman"/>
              </a:rPr>
              <a:t> unrestricted ECM by OLS</a:t>
            </a:r>
          </a:p>
          <a:p>
            <a:pPr algn="l">
              <a:lnSpc>
                <a:spcPct val="105000"/>
              </a:lnSpc>
              <a:spcAft>
                <a:spcPts val="1800"/>
              </a:spcAft>
            </a:pPr>
            <a:r>
              <a:rPr sz="2400" b="1" i="0">
                <a:solidFill>
                  <a:srgbClr val="7A1916"/>
                </a:solidFill>
                <a:latin typeface="Times New Roman"/>
              </a:rPr>
              <a:t>(v) Diagnostics:</a:t>
            </a:r>
            <a:r>
              <a:rPr sz="2400" b="0" i="0">
                <a:solidFill>
                  <a:srgbClr val="1A1A1A"/>
                </a:solidFill>
                <a:latin typeface="Times New Roman"/>
              </a:rPr>
              <a:t> Breusch–Godfrey, RESET, Jarque–Bera, ARCH and CUSUM/CUSUMSQ, all passed</a:t>
            </a:r>
          </a:p>
        </p:txBody>
      </p:sp>
      <p:sp>
        <p:nvSpPr>
          <p:cNvPr id="8" name="Evidence label"/>
          <p:cNvSpPr txBox="1"/>
          <p:nvPr/>
        </p:nvSpPr>
        <p:spPr>
          <a:xfrm>
            <a:off x="9235440" y="3611880"/>
            <a:ext cx="8138160" cy="365760"/>
          </a:xfrm>
          <a:prstGeom prst="rect">
            <a:avLst/>
          </a:prstGeom>
          <a:noFill/>
        </p:spPr>
        <p:txBody>
          <a:bodyPr wrap="square" lIns="0" rIns="0" tIns="0" bIns="0" anchor="t">
            <a:noAutofit/>
          </a:bodyPr>
          <a:lstStyle/>
          <a:p>
            <a:pPr algn="l">
              <a:lnSpc>
                <a:spcPct val="105000"/>
              </a:lnSpc>
              <a:spcAft>
                <a:spcPts val="1000"/>
              </a:spcAft>
            </a:pPr>
            <a:r>
              <a:rPr sz="1900" b="1" i="1">
                <a:solidFill>
                  <a:srgbClr val="595959"/>
                </a:solidFill>
                <a:latin typeface="Times New Roman"/>
              </a:rPr>
              <a:t>Evidence from the article (highlighted)</a:t>
            </a:r>
          </a:p>
        </p:txBody>
      </p:sp>
      <p:pic>
        <p:nvPicPr>
          <p:cNvPr id="9" name="Excerpt me_unitroot" descr="me_unitroot.png"/>
          <p:cNvPicPr>
            <a:picLocks noChangeAspect="1"/>
          </p:cNvPicPr>
          <p:nvPr/>
        </p:nvPicPr>
        <p:blipFill>
          <a:blip r:embed="rId2"/>
          <a:stretch>
            <a:fillRect/>
          </a:stretch>
        </p:blipFill>
        <p:spPr>
          <a:xfrm>
            <a:off x="9235440" y="4023360"/>
            <a:ext cx="8138160" cy="1911935"/>
          </a:xfrm>
          <a:prstGeom prst="rect">
            <a:avLst/>
          </a:prstGeom>
        </p:spPr>
      </p:pic>
      <p:sp>
        <p:nvSpPr>
          <p:cNvPr id="10" name="Caption me_unitroot"/>
          <p:cNvSpPr txBox="1"/>
          <p:nvPr/>
        </p:nvSpPr>
        <p:spPr>
          <a:xfrm>
            <a:off x="9235440" y="5953582"/>
            <a:ext cx="8138160" cy="292608"/>
          </a:xfrm>
          <a:prstGeom prst="rect">
            <a:avLst/>
          </a:prstGeom>
          <a:noFill/>
        </p:spPr>
        <p:txBody>
          <a:bodyPr wrap="square" lIns="0" rIns="0" tIns="0" bIns="0" anchor="t">
            <a:noAutofit/>
          </a:bodyPr>
          <a:lstStyle/>
          <a:p>
            <a:pPr algn="r">
              <a:lnSpc>
                <a:spcPct val="105000"/>
              </a:lnSpc>
              <a:spcAft>
                <a:spcPts val="1000"/>
              </a:spcAft>
            </a:pPr>
            <a:r>
              <a:rPr sz="1700" b="0" i="1">
                <a:solidFill>
                  <a:srgbClr val="595959"/>
                </a:solidFill>
                <a:latin typeface="Times New Roman"/>
              </a:rPr>
              <a:t>(i)–(ii) Unit root and Engle–Granger tests (Agbola &amp; Acupan, 2010, p. 390)</a:t>
            </a:r>
          </a:p>
        </p:txBody>
      </p:sp>
      <p:pic>
        <p:nvPicPr>
          <p:cNvPr id="11" name="Excerpt me_diag" descr="me_diag.png"/>
          <p:cNvPicPr>
            <a:picLocks noChangeAspect="1"/>
          </p:cNvPicPr>
          <p:nvPr/>
        </p:nvPicPr>
        <p:blipFill>
          <a:blip r:embed="rId4"/>
          <a:stretch>
            <a:fillRect/>
          </a:stretch>
        </p:blipFill>
        <p:spPr>
          <a:xfrm>
            <a:off x="9235440" y="6319342"/>
            <a:ext cx="8138160" cy="1101672"/>
          </a:xfrm>
          <a:prstGeom prst="rect">
            <a:avLst/>
          </a:prstGeom>
        </p:spPr>
      </p:pic>
      <p:sp>
        <p:nvSpPr>
          <p:cNvPr id="12" name="Caption me_diag"/>
          <p:cNvSpPr txBox="1"/>
          <p:nvPr/>
        </p:nvSpPr>
        <p:spPr>
          <a:xfrm>
            <a:off x="9235440" y="7439302"/>
            <a:ext cx="8138160" cy="292608"/>
          </a:xfrm>
          <a:prstGeom prst="rect">
            <a:avLst/>
          </a:prstGeom>
          <a:noFill/>
        </p:spPr>
        <p:txBody>
          <a:bodyPr wrap="square" lIns="0" rIns="0" tIns="0" bIns="0" anchor="t">
            <a:noAutofit/>
          </a:bodyPr>
          <a:lstStyle/>
          <a:p>
            <a:pPr algn="r">
              <a:lnSpc>
                <a:spcPct val="105000"/>
              </a:lnSpc>
              <a:spcAft>
                <a:spcPts val="1000"/>
              </a:spcAft>
            </a:pPr>
            <a:r>
              <a:rPr sz="1700" b="0" i="1">
                <a:solidFill>
                  <a:srgbClr val="595959"/>
                </a:solidFill>
                <a:latin typeface="Times New Roman"/>
              </a:rPr>
              <a:t>(v) Diagnostic tests (Agbola &amp; Acupan, 2010, p. 392)</a:t>
            </a:r>
          </a:p>
        </p:txBody>
      </p:sp>
      <p:pic>
        <p:nvPicPr>
          <p:cNvPr id="13" name="Excerpt me_cusum" descr="me_cusum.png"/>
          <p:cNvPicPr>
            <a:picLocks noChangeAspect="1"/>
          </p:cNvPicPr>
          <p:nvPr/>
        </p:nvPicPr>
        <p:blipFill>
          <a:blip r:embed="rId5"/>
          <a:stretch>
            <a:fillRect/>
          </a:stretch>
        </p:blipFill>
        <p:spPr>
          <a:xfrm>
            <a:off x="9235440" y="7805062"/>
            <a:ext cx="8138160" cy="469099"/>
          </a:xfrm>
          <a:prstGeom prst="rect">
            <a:avLst/>
          </a:prstGeom>
        </p:spPr>
      </p:pic>
      <p:sp>
        <p:nvSpPr>
          <p:cNvPr id="14" name="Caption me_cusum"/>
          <p:cNvSpPr txBox="1"/>
          <p:nvPr/>
        </p:nvSpPr>
        <p:spPr>
          <a:xfrm>
            <a:off x="9235440" y="8292450"/>
            <a:ext cx="8138160" cy="292608"/>
          </a:xfrm>
          <a:prstGeom prst="rect">
            <a:avLst/>
          </a:prstGeom>
          <a:noFill/>
        </p:spPr>
        <p:txBody>
          <a:bodyPr wrap="square" lIns="0" rIns="0" tIns="0" bIns="0" anchor="t">
            <a:noAutofit/>
          </a:bodyPr>
          <a:lstStyle/>
          <a:p>
            <a:pPr algn="r">
              <a:lnSpc>
                <a:spcPct val="105000"/>
              </a:lnSpc>
              <a:spcAft>
                <a:spcPts val="1000"/>
              </a:spcAft>
            </a:pPr>
            <a:r>
              <a:rPr sz="1700" b="0" i="1">
                <a:solidFill>
                  <a:srgbClr val="595959"/>
                </a:solidFill>
                <a:latin typeface="Times New Roman"/>
              </a:rPr>
              <a:t>(v) CUSUM and CUSUMSQ (Agbola &amp; Acupan, 2010, p. 393)</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17" b="0"/>
              </a:stretch>
            </a:blipFill>
          </p:spPr>
        </p:sp>
      </p:grpSp>
      <p:sp>
        <p:nvSpPr>
          <p:cNvPr name="TextBox 4" id="4"/>
          <p:cNvSpPr txBox="true"/>
          <p:nvPr/>
        </p:nvSpPr>
        <p:spPr>
          <a:xfrm rot="0">
            <a:off x="91421" y="9908915"/>
            <a:ext cx="17981581" cy="369456"/>
          </a:xfrm>
          <a:prstGeom prst="rect">
            <a:avLst/>
          </a:prstGeom>
        </p:spPr>
        <p:txBody>
          <a:bodyPr anchor="t" rtlCol="false" tIns="0" lIns="0" bIns="0" rIns="0">
            <a:spAutoFit/>
          </a:bodyPr>
          <a:lstStyle/>
          <a:p>
            <a:pPr algn="ctr">
              <a:lnSpc>
                <a:spcPts val="1377"/>
              </a:lnSpc>
            </a:pPr>
            <a:r>
              <a:rPr lang="en-US" b="true" sz="1275">
                <a:solidFill>
                  <a:srgbClr val="3A3A3A"/>
                </a:solidFill>
                <a:latin typeface="Arial Bold"/>
                <a:ea typeface="Arial Bold"/>
                <a:cs typeface="Arial Bold"/>
                <a:sym typeface="Arial Bold"/>
              </a:rPr>
              <a:t>© 2026 University of Southeastern Philippines |</a:t>
            </a:r>
            <a:r>
              <a:rPr lang="en-US" sz="1275">
                <a:solidFill>
                  <a:srgbClr val="3A3A3A"/>
                </a:solidFill>
                <a:latin typeface="Arial"/>
                <a:ea typeface="Arial"/>
                <a:cs typeface="Arial"/>
                <a:sym typeface="Arial"/>
              </a:rPr>
              <a:t> All Rights Reserved. This presentation contains confidential and proprietary information. Photography, video, and audio recording of these materials are prohibited without prior authorization.</a:t>
            </a:r>
          </a:p>
        </p:txBody>
      </p:sp>
      <p:sp>
        <p:nvSpPr>
          <p:cNvPr id="5" name="Title"/>
          <p:cNvSpPr txBox="1"/>
          <p:nvPr/>
        </p:nvSpPr>
        <p:spPr>
          <a:xfrm>
            <a:off x="914400" y="1600200"/>
            <a:ext cx="16459200" cy="914400"/>
          </a:xfrm>
          <a:prstGeom prst="rect">
            <a:avLst/>
          </a:prstGeom>
          <a:noFill/>
        </p:spPr>
        <p:txBody>
          <a:bodyPr wrap="square" lIns="0" rIns="0" tIns="0" bIns="0" anchor="ctr">
            <a:noAutofit/>
          </a:bodyPr>
          <a:lstStyle/>
          <a:p>
            <a:pPr algn="l">
              <a:lnSpc>
                <a:spcPct val="105000"/>
              </a:lnSpc>
              <a:spcAft>
                <a:spcPts val="1000"/>
              </a:spcAft>
            </a:pPr>
            <a:r>
              <a:rPr sz="4800" b="1" i="0">
                <a:solidFill>
                  <a:srgbClr val="7A1916"/>
                </a:solidFill>
                <a:latin typeface="Times New Roman"/>
              </a:rPr>
              <a:t>4. Methodology: assessment</a:t>
            </a:r>
          </a:p>
        </p:txBody>
      </p:sp>
      <p:sp>
        <p:nvSpPr>
          <p:cNvPr id="6" name="Key message"/>
          <p:cNvSpPr txBox="1"/>
          <p:nvPr/>
        </p:nvSpPr>
        <p:spPr>
          <a:xfrm>
            <a:off x="914400" y="2606040"/>
            <a:ext cx="16459200" cy="822960"/>
          </a:xfrm>
          <a:prstGeom prst="rect">
            <a:avLst/>
          </a:prstGeom>
          <a:noFill/>
        </p:spPr>
        <p:txBody>
          <a:bodyPr wrap="square" lIns="0" rIns="0" tIns="0" bIns="0" anchor="t">
            <a:noAutofit/>
          </a:bodyPr>
          <a:lstStyle/>
          <a:p>
            <a:pPr algn="l">
              <a:lnSpc>
                <a:spcPct val="105000"/>
              </a:lnSpc>
              <a:spcAft>
                <a:spcPts val="1000"/>
              </a:spcAft>
            </a:pPr>
            <a:r>
              <a:rPr sz="2800" b="1" i="1">
                <a:solidFill>
                  <a:srgbClr val="1A1A1A"/>
                </a:solidFill>
                <a:latin typeface="Times New Roman"/>
              </a:rPr>
              <a:t>The textbook sequence, but one ECT for five to eight cointegrating vectors, and little power.</a:t>
            </a:r>
          </a:p>
        </p:txBody>
      </p:sp>
      <p:sp>
        <p:nvSpPr>
          <p:cNvPr id="7" name="strength box"/>
          <p:cNvSpPr/>
          <p:nvPr/>
        </p:nvSpPr>
        <p:spPr>
          <a:xfrm>
            <a:off x="914400" y="3611880"/>
            <a:ext cx="7863840" cy="1737360"/>
          </a:xfrm>
          <a:prstGeom prst="roundRect">
            <a:avLst>
              <a:gd name="adj" fmla="val 4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trength edge"/>
          <p:cNvSpPr/>
          <p:nvPr/>
        </p:nvSpPr>
        <p:spPr>
          <a:xfrm>
            <a:off x="914400" y="3611880"/>
            <a:ext cx="109728" cy="1737360"/>
          </a:xfrm>
          <a:prstGeom prst="roundRect">
            <a:avLst>
              <a:gd name="adj" fmla="val 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rength text"/>
          <p:cNvSpPr txBox="1"/>
          <p:nvPr/>
        </p:nvSpPr>
        <p:spPr>
          <a:xfrm>
            <a:off x="1280160" y="3776472"/>
            <a:ext cx="7315200" cy="1481328"/>
          </a:xfrm>
          <a:prstGeom prst="rect">
            <a:avLst/>
          </a:prstGeom>
          <a:noFill/>
        </p:spPr>
        <p:txBody>
          <a:bodyPr wrap="square" lIns="0" rIns="0" tIns="0" bIns="0" anchor="t">
            <a:noAutofit/>
          </a:bodyPr>
          <a:lstStyle/>
          <a:p>
            <a:pPr algn="l">
              <a:lnSpc>
                <a:spcPct val="105000"/>
              </a:lnSpc>
              <a:spcAft>
                <a:spcPts val="400"/>
              </a:spcAft>
            </a:pPr>
            <a:r>
              <a:rPr sz="2300" b="1" i="0">
                <a:solidFill>
                  <a:srgbClr val="2E7D32"/>
                </a:solidFill>
                <a:latin typeface="Times New Roman"/>
              </a:rPr>
              <a:t>Strength</a:t>
            </a:r>
          </a:p>
          <a:p>
            <a:pPr algn="l">
              <a:lnSpc>
                <a:spcPct val="105000"/>
              </a:lnSpc>
              <a:spcAft>
                <a:spcPts val="500"/>
              </a:spcAft>
            </a:pPr>
            <a:r>
              <a:rPr sz="2500" b="0" i="0">
                <a:solidFill>
                  <a:srgbClr val="1A1A1A"/>
                </a:solidFill>
                <a:latin typeface="Times New Roman"/>
              </a:rPr>
              <a:t>The methodology </a:t>
            </a:r>
            <a:r>
              <a:rPr sz="2500" b="1" i="0">
                <a:solidFill>
                  <a:srgbClr val="2E7D32"/>
                </a:solidFill>
                <a:latin typeface="Times New Roman"/>
              </a:rPr>
              <a:t>follows the textbook sequence</a:t>
            </a:r>
            <a:r>
              <a:rPr sz="2500" b="0" i="0">
                <a:solidFill>
                  <a:srgbClr val="1A1A1A"/>
                </a:solidFill>
                <a:latin typeface="Times New Roman"/>
              </a:rPr>
              <a:t>.</a:t>
            </a:r>
          </a:p>
        </p:txBody>
      </p:sp>
      <p:sp>
        <p:nvSpPr>
          <p:cNvPr id="10" name="critique box"/>
          <p:cNvSpPr/>
          <p:nvPr/>
        </p:nvSpPr>
        <p:spPr>
          <a:xfrm>
            <a:off x="914400" y="5577840"/>
            <a:ext cx="7863840" cy="3977639"/>
          </a:xfrm>
          <a:prstGeom prst="roundRect">
            <a:avLst>
              <a:gd name="adj" fmla="val 4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ritique edge"/>
          <p:cNvSpPr/>
          <p:nvPr/>
        </p:nvSpPr>
        <p:spPr>
          <a:xfrm>
            <a:off x="914400" y="5577840"/>
            <a:ext cx="109728" cy="3977639"/>
          </a:xfrm>
          <a:prstGeom prst="roundRect">
            <a:avLst>
              <a:gd name="adj" fmla="val 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ritique text"/>
          <p:cNvSpPr txBox="1"/>
          <p:nvPr/>
        </p:nvSpPr>
        <p:spPr>
          <a:xfrm>
            <a:off x="1280160" y="5742431"/>
            <a:ext cx="7315200" cy="3721607"/>
          </a:xfrm>
          <a:prstGeom prst="rect">
            <a:avLst/>
          </a:prstGeom>
          <a:noFill/>
        </p:spPr>
        <p:txBody>
          <a:bodyPr wrap="square" lIns="0" rIns="0" tIns="0" bIns="0" anchor="t">
            <a:noAutofit/>
          </a:bodyPr>
          <a:lstStyle/>
          <a:p>
            <a:pPr algn="l">
              <a:lnSpc>
                <a:spcPct val="105000"/>
              </a:lnSpc>
              <a:spcAft>
                <a:spcPts val="400"/>
              </a:spcAft>
            </a:pPr>
            <a:r>
              <a:rPr sz="2300" b="1" i="0">
                <a:solidFill>
                  <a:srgbClr val="C00000"/>
                </a:solidFill>
                <a:latin typeface="Times New Roman"/>
              </a:rPr>
              <a:t>Critical note</a:t>
            </a:r>
          </a:p>
          <a:p>
            <a:pPr algn="l" marL="384048" indent="-384048">
              <a:lnSpc>
                <a:spcPct val="105000"/>
              </a:lnSpc>
              <a:spcAft>
                <a:spcPts val="500"/>
              </a:spcAft>
              <a:buClr>
                <a:srgbClr val="C00000"/>
              </a:buClr>
              <a:buFont typeface="Times New Roman"/>
              <a:buChar char="•"/>
            </a:pPr>
            <a:r>
              <a:rPr sz="2500" b="0" i="0">
                <a:solidFill>
                  <a:srgbClr val="1A1A1A"/>
                </a:solidFill>
                <a:latin typeface="Times New Roman"/>
              </a:rPr>
              <a:t>The Johansen test finds </a:t>
            </a:r>
            <a:r>
              <a:rPr sz="2500" b="1" i="0">
                <a:solidFill>
                  <a:srgbClr val="C00000"/>
                </a:solidFill>
                <a:latin typeface="Times New Roman"/>
              </a:rPr>
              <a:t>five to eight cointegrating vectors</a:t>
            </a:r>
            <a:r>
              <a:rPr sz="2500" b="0" i="0">
                <a:solidFill>
                  <a:srgbClr val="1A1A1A"/>
                </a:solidFill>
                <a:latin typeface="Times New Roman"/>
              </a:rPr>
              <a:t>, yet </a:t>
            </a:r>
            <a:r>
              <a:rPr sz="2500" b="1" i="0">
                <a:solidFill>
                  <a:srgbClr val="C00000"/>
                </a:solidFill>
                <a:latin typeface="Times New Roman"/>
              </a:rPr>
              <a:t>only one error correction term (ECT)</a:t>
            </a:r>
            <a:r>
              <a:rPr sz="2500" b="0" i="0">
                <a:solidFill>
                  <a:srgbClr val="1A1A1A"/>
                </a:solidFill>
                <a:latin typeface="Times New Roman"/>
              </a:rPr>
              <a:t> is kept</a:t>
            </a:r>
          </a:p>
          <a:p>
            <a:pPr algn="l" marL="384048" indent="-384048">
              <a:lnSpc>
                <a:spcPct val="105000"/>
              </a:lnSpc>
              <a:spcAft>
                <a:spcPts val="500"/>
              </a:spcAft>
              <a:buClr>
                <a:srgbClr val="C00000"/>
              </a:buClr>
              <a:buFont typeface="Times New Roman"/>
              <a:buChar char="•"/>
            </a:pPr>
            <a:r>
              <a:rPr sz="2500" b="1" i="0">
                <a:solidFill>
                  <a:srgbClr val="C00000"/>
                </a:solidFill>
                <a:latin typeface="Times New Roman"/>
              </a:rPr>
              <a:t>31 observations for 10 estimated terms</a:t>
            </a:r>
            <a:r>
              <a:rPr sz="2500" b="0" i="0">
                <a:solidFill>
                  <a:srgbClr val="1A1A1A"/>
                </a:solidFill>
                <a:latin typeface="Times New Roman"/>
              </a:rPr>
              <a:t> leave little power</a:t>
            </a:r>
          </a:p>
        </p:txBody>
      </p:sp>
      <p:sp>
        <p:nvSpPr>
          <p:cNvPr id="13" name="Evidence label"/>
          <p:cNvSpPr txBox="1"/>
          <p:nvPr/>
        </p:nvSpPr>
        <p:spPr>
          <a:xfrm>
            <a:off x="9235440" y="3611880"/>
            <a:ext cx="8138160" cy="365760"/>
          </a:xfrm>
          <a:prstGeom prst="rect">
            <a:avLst/>
          </a:prstGeom>
          <a:noFill/>
        </p:spPr>
        <p:txBody>
          <a:bodyPr wrap="square" lIns="0" rIns="0" tIns="0" bIns="0" anchor="t">
            <a:noAutofit/>
          </a:bodyPr>
          <a:lstStyle/>
          <a:p>
            <a:pPr algn="l">
              <a:lnSpc>
                <a:spcPct val="105000"/>
              </a:lnSpc>
              <a:spcAft>
                <a:spcPts val="1000"/>
              </a:spcAft>
            </a:pPr>
            <a:r>
              <a:rPr sz="1900" b="1" i="1">
                <a:solidFill>
                  <a:srgbClr val="595959"/>
                </a:solidFill>
                <a:latin typeface="Times New Roman"/>
              </a:rPr>
              <a:t>Evidence from the article (highlighted)</a:t>
            </a:r>
          </a:p>
        </p:txBody>
      </p:sp>
      <p:pic>
        <p:nvPicPr>
          <p:cNvPr id="14" name="Excerpt me_johansen" descr="me_johansen.png"/>
          <p:cNvPicPr>
            <a:picLocks noChangeAspect="1"/>
          </p:cNvPicPr>
          <p:nvPr/>
        </p:nvPicPr>
        <p:blipFill>
          <a:blip r:embed="rId2"/>
          <a:stretch>
            <a:fillRect/>
          </a:stretch>
        </p:blipFill>
        <p:spPr>
          <a:xfrm>
            <a:off x="9235440" y="4023360"/>
            <a:ext cx="8138160" cy="2942531"/>
          </a:xfrm>
          <a:prstGeom prst="rect">
            <a:avLst/>
          </a:prstGeom>
        </p:spPr>
      </p:pic>
      <p:sp>
        <p:nvSpPr>
          <p:cNvPr id="15" name="Caption me_johansen"/>
          <p:cNvSpPr txBox="1"/>
          <p:nvPr/>
        </p:nvSpPr>
        <p:spPr>
          <a:xfrm>
            <a:off x="9235440" y="6984179"/>
            <a:ext cx="8138160" cy="292608"/>
          </a:xfrm>
          <a:prstGeom prst="rect">
            <a:avLst/>
          </a:prstGeom>
          <a:noFill/>
        </p:spPr>
        <p:txBody>
          <a:bodyPr wrap="square" lIns="0" rIns="0" tIns="0" bIns="0" anchor="t">
            <a:noAutofit/>
          </a:bodyPr>
          <a:lstStyle/>
          <a:p>
            <a:pPr algn="r">
              <a:lnSpc>
                <a:spcPct val="105000"/>
              </a:lnSpc>
              <a:spcAft>
                <a:spcPts val="1000"/>
              </a:spcAft>
            </a:pPr>
            <a:r>
              <a:rPr sz="1700" b="0" i="1">
                <a:solidFill>
                  <a:srgbClr val="595959"/>
                </a:solidFill>
                <a:latin typeface="Times New Roman"/>
              </a:rPr>
              <a:t>Johansen: five (λmax) to eight (trace) vectors (Agbola &amp; Acupan, 2010, p. 391)</a:t>
            </a:r>
          </a:p>
        </p:txBody>
      </p:sp>
      <p:pic>
        <p:nvPicPr>
          <p:cNvPr id="16" name="Excerpt me_oneect" descr="me_oneect.png"/>
          <p:cNvPicPr>
            <a:picLocks noChangeAspect="1"/>
          </p:cNvPicPr>
          <p:nvPr/>
        </p:nvPicPr>
        <p:blipFill>
          <a:blip r:embed="rId4"/>
          <a:stretch>
            <a:fillRect/>
          </a:stretch>
        </p:blipFill>
        <p:spPr>
          <a:xfrm>
            <a:off x="9235440" y="7349939"/>
            <a:ext cx="8138160" cy="881338"/>
          </a:xfrm>
          <a:prstGeom prst="rect">
            <a:avLst/>
          </a:prstGeom>
        </p:spPr>
      </p:pic>
      <p:sp>
        <p:nvSpPr>
          <p:cNvPr id="17" name="Caption me_oneect"/>
          <p:cNvSpPr txBox="1"/>
          <p:nvPr/>
        </p:nvSpPr>
        <p:spPr>
          <a:xfrm>
            <a:off x="9235440" y="8249565"/>
            <a:ext cx="8138160" cy="292608"/>
          </a:xfrm>
          <a:prstGeom prst="rect">
            <a:avLst/>
          </a:prstGeom>
          <a:noFill/>
        </p:spPr>
        <p:txBody>
          <a:bodyPr wrap="square" lIns="0" rIns="0" tIns="0" bIns="0" anchor="t">
            <a:noAutofit/>
          </a:bodyPr>
          <a:lstStyle/>
          <a:p>
            <a:pPr algn="r">
              <a:lnSpc>
                <a:spcPct val="105000"/>
              </a:lnSpc>
              <a:spcAft>
                <a:spcPts val="1000"/>
              </a:spcAft>
            </a:pPr>
            <a:r>
              <a:rPr sz="1700" b="0" i="1">
                <a:solidFill>
                  <a:srgbClr val="595959"/>
                </a:solidFill>
                <a:latin typeface="Times New Roman"/>
              </a:rPr>
              <a:t>Only one ECT is kept (Agbola &amp; Acupan, 2010, p. 392)</a:t>
            </a:r>
          </a:p>
        </p:txBody>
      </p:sp>
      <p:pic>
        <p:nvPicPr>
          <p:cNvPr id="18" name="Excerpt me_sample" descr="me_sample.png"/>
          <p:cNvPicPr>
            <a:picLocks noChangeAspect="1"/>
          </p:cNvPicPr>
          <p:nvPr/>
        </p:nvPicPr>
        <p:blipFill>
          <a:blip r:embed="rId5"/>
          <a:stretch>
            <a:fillRect/>
          </a:stretch>
        </p:blipFill>
        <p:spPr>
          <a:xfrm>
            <a:off x="9235440" y="8615325"/>
            <a:ext cx="8138160" cy="461992"/>
          </a:xfrm>
          <a:prstGeom prst="rect">
            <a:avLst/>
          </a:prstGeom>
        </p:spPr>
      </p:pic>
      <p:sp>
        <p:nvSpPr>
          <p:cNvPr id="19" name="Caption me_sample"/>
          <p:cNvSpPr txBox="1"/>
          <p:nvPr/>
        </p:nvSpPr>
        <p:spPr>
          <a:xfrm>
            <a:off x="9235440" y="9095604"/>
            <a:ext cx="8138160" cy="292608"/>
          </a:xfrm>
          <a:prstGeom prst="rect">
            <a:avLst/>
          </a:prstGeom>
          <a:noFill/>
        </p:spPr>
        <p:txBody>
          <a:bodyPr wrap="square" lIns="0" rIns="0" tIns="0" bIns="0" anchor="t">
            <a:noAutofit/>
          </a:bodyPr>
          <a:lstStyle/>
          <a:p>
            <a:pPr algn="r">
              <a:lnSpc>
                <a:spcPct val="105000"/>
              </a:lnSpc>
              <a:spcAft>
                <a:spcPts val="1000"/>
              </a:spcAft>
            </a:pPr>
            <a:r>
              <a:rPr sz="1700" b="0" i="1">
                <a:solidFill>
                  <a:srgbClr val="595959"/>
                </a:solidFill>
                <a:latin typeface="Times New Roman"/>
              </a:rPr>
              <a:t>Annual data, 1975–2005 → T = 31 (Agbola &amp; Acupan, 2010, p. 391)</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17" b="0"/>
              </a:stretch>
            </a:blipFill>
          </p:spPr>
        </p:sp>
      </p:grpSp>
      <p:sp>
        <p:nvSpPr>
          <p:cNvPr name="TextBox 4" id="4"/>
          <p:cNvSpPr txBox="true"/>
          <p:nvPr/>
        </p:nvSpPr>
        <p:spPr>
          <a:xfrm rot="0">
            <a:off x="91421" y="9983057"/>
            <a:ext cx="17981581" cy="369456"/>
          </a:xfrm>
          <a:prstGeom prst="rect">
            <a:avLst/>
          </a:prstGeom>
        </p:spPr>
        <p:txBody>
          <a:bodyPr anchor="t" rtlCol="false" tIns="0" lIns="0" bIns="0" rIns="0">
            <a:spAutoFit/>
          </a:bodyPr>
          <a:lstStyle/>
          <a:p>
            <a:pPr algn="ctr">
              <a:lnSpc>
                <a:spcPts val="1377"/>
              </a:lnSpc>
            </a:pPr>
            <a:r>
              <a:rPr lang="en-US" b="true" sz="1275">
                <a:solidFill>
                  <a:srgbClr val="3A3A3A"/>
                </a:solidFill>
                <a:latin typeface="Arial Bold"/>
                <a:ea typeface="Arial Bold"/>
                <a:cs typeface="Arial Bold"/>
                <a:sym typeface="Arial Bold"/>
              </a:rPr>
              <a:t>© 2026 University of Southeastern Philippines |</a:t>
            </a:r>
            <a:r>
              <a:rPr lang="en-US" sz="1275">
                <a:solidFill>
                  <a:srgbClr val="3A3A3A"/>
                </a:solidFill>
                <a:latin typeface="Arial"/>
                <a:ea typeface="Arial"/>
                <a:cs typeface="Arial"/>
                <a:sym typeface="Arial"/>
              </a:rPr>
              <a:t> All Rights Reserved. This presentation contains confidential and proprietary information. Photography, video, and audio recording of these materials are prohibited without prior authorization.</a:t>
            </a:r>
          </a:p>
        </p:txBody>
      </p:sp>
      <p:sp>
        <p:nvSpPr>
          <p:cNvPr id="5" name="Title"/>
          <p:cNvSpPr txBox="1"/>
          <p:nvPr/>
        </p:nvSpPr>
        <p:spPr>
          <a:xfrm>
            <a:off x="914400" y="1600200"/>
            <a:ext cx="16459200" cy="914400"/>
          </a:xfrm>
          <a:prstGeom prst="rect">
            <a:avLst/>
          </a:prstGeom>
          <a:noFill/>
        </p:spPr>
        <p:txBody>
          <a:bodyPr wrap="square" lIns="0" rIns="0" tIns="0" bIns="0" anchor="ctr">
            <a:noAutofit/>
          </a:bodyPr>
          <a:lstStyle/>
          <a:p>
            <a:pPr algn="l">
              <a:lnSpc>
                <a:spcPct val="105000"/>
              </a:lnSpc>
              <a:spcAft>
                <a:spcPts val="1000"/>
              </a:spcAft>
            </a:pPr>
            <a:r>
              <a:rPr sz="4800" b="1" i="0">
                <a:solidFill>
                  <a:srgbClr val="7A1916"/>
                </a:solidFill>
                <a:latin typeface="Times New Roman"/>
              </a:rPr>
              <a:t>5. Key Findings: the results</a:t>
            </a:r>
          </a:p>
        </p:txBody>
      </p:sp>
      <p:sp>
        <p:nvSpPr>
          <p:cNvPr id="6" name="Key message"/>
          <p:cNvSpPr txBox="1"/>
          <p:nvPr/>
        </p:nvSpPr>
        <p:spPr>
          <a:xfrm>
            <a:off x="914400" y="2606040"/>
            <a:ext cx="16459200" cy="822960"/>
          </a:xfrm>
          <a:prstGeom prst="rect">
            <a:avLst/>
          </a:prstGeom>
          <a:noFill/>
        </p:spPr>
        <p:txBody>
          <a:bodyPr wrap="square" lIns="0" rIns="0" tIns="0" bIns="0" anchor="t">
            <a:noAutofit/>
          </a:bodyPr>
          <a:lstStyle/>
          <a:p>
            <a:pPr algn="l">
              <a:lnSpc>
                <a:spcPct val="105000"/>
              </a:lnSpc>
              <a:spcAft>
                <a:spcPts val="1000"/>
              </a:spcAft>
            </a:pPr>
            <a:r>
              <a:rPr sz="2800" b="1" i="1">
                <a:solidFill>
                  <a:srgbClr val="1A1A1A"/>
                </a:solidFill>
                <a:latin typeface="Times New Roman"/>
              </a:rPr>
              <a:t>Four push factors are significant; about 78% of any deviation is corrected within a year.</a:t>
            </a:r>
          </a:p>
        </p:txBody>
      </p:sp>
      <p:graphicFrame>
        <p:nvGraphicFramePr>
          <p:cNvPr id="7" name="Table 1"/>
          <p:cNvGraphicFramePr>
            <a:graphicFrameLocks noGrp="1"/>
          </p:cNvGraphicFramePr>
          <p:nvPr/>
        </p:nvGraphicFramePr>
        <p:xfrm>
          <a:off x="914400" y="3611880"/>
          <a:ext cx="8778240" cy="3621024"/>
        </p:xfrm>
        <a:graphic>
          <a:graphicData uri="http://schemas.openxmlformats.org/drawingml/2006/table">
            <a:tbl>
              <a:tblPr firstRow="0" bandRow="0">
                <a:tableStyleId>{5940675A-B579-460E-94D1-54222C63F5DA}</a:tableStyleId>
              </a:tblPr>
              <a:tblGrid>
                <a:gridCol w="3383280"/>
                <a:gridCol w="1463040"/>
                <a:gridCol w="1463040"/>
                <a:gridCol w="2468880"/>
              </a:tblGrid>
              <a:tr h="603504">
                <a:tc>
                  <a:txBody>
                    <a:bodyPr wrap="square"/>
                    <a:lstStyle/>
                    <a:p>
                      <a:r>
                        <a:rPr sz="2000" b="1" i="0">
                          <a:solidFill>
                            <a:srgbClr val="FFFFFF"/>
                          </a:solidFill>
                          <a:latin typeface="Times New Roman"/>
                        </a:rPr>
                        <a:t>Explanatory variable</a:t>
                      </a:r>
                    </a:p>
                  </a:txBody>
                  <a:tcPr marL="109728" marR="109728" marT="45720" marB="45720" anchor="ctr">
                    <a:solidFill>
                      <a:srgbClr val="7A1916"/>
                    </a:solidFill>
                  </a:tcPr>
                </a:tc>
                <a:tc>
                  <a:txBody>
                    <a:bodyPr wrap="square"/>
                    <a:lstStyle/>
                    <a:p>
                      <a:r>
                        <a:rPr sz="2000" b="1" i="0">
                          <a:solidFill>
                            <a:srgbClr val="FFFFFF"/>
                          </a:solidFill>
                          <a:latin typeface="Times New Roman"/>
                        </a:rPr>
                        <a:t>Coefficient</a:t>
                      </a:r>
                    </a:p>
                  </a:txBody>
                  <a:tcPr marL="109728" marR="109728" marT="45720" marB="45720" anchor="ctr">
                    <a:solidFill>
                      <a:srgbClr val="7A1916"/>
                    </a:solidFill>
                  </a:tcPr>
                </a:tc>
                <a:tc>
                  <a:txBody>
                    <a:bodyPr wrap="square"/>
                    <a:lstStyle/>
                    <a:p>
                      <a:r>
                        <a:rPr sz="2000" b="1" i="0">
                          <a:solidFill>
                            <a:srgbClr val="FFFFFF"/>
                          </a:solidFill>
                          <a:latin typeface="Times New Roman"/>
                        </a:rPr>
                        <a:t>t-statistic</a:t>
                      </a:r>
                    </a:p>
                  </a:txBody>
                  <a:tcPr marL="109728" marR="109728" marT="45720" marB="45720" anchor="ctr">
                    <a:solidFill>
                      <a:srgbClr val="7A1916"/>
                    </a:solidFill>
                  </a:tcPr>
                </a:tc>
                <a:tc>
                  <a:txBody>
                    <a:bodyPr wrap="square"/>
                    <a:lstStyle/>
                    <a:p>
                      <a:r>
                        <a:rPr sz="2000" b="1" i="0">
                          <a:solidFill>
                            <a:srgbClr val="FFFFFF"/>
                          </a:solidFill>
                          <a:latin typeface="Times New Roman"/>
                        </a:rPr>
                        <a:t>Result (5%)</a:t>
                      </a:r>
                    </a:p>
                  </a:txBody>
                  <a:tcPr marL="109728" marR="109728" marT="45720" marB="45720" anchor="ctr">
                    <a:solidFill>
                      <a:srgbClr val="7A1916"/>
                    </a:solidFill>
                  </a:tcPr>
                </a:tc>
              </a:tr>
              <a:tr h="603504">
                <a:tc>
                  <a:txBody>
                    <a:bodyPr wrap="square"/>
                    <a:lstStyle/>
                    <a:p>
                      <a:r>
                        <a:rPr sz="2000" b="1" i="0">
                          <a:solidFill>
                            <a:srgbClr val="7A1916"/>
                          </a:solidFill>
                          <a:latin typeface="Times New Roman"/>
                        </a:rPr>
                        <a:t>Unemployment</a:t>
                      </a:r>
                    </a:p>
                  </a:txBody>
                  <a:tcPr marL="109728" marR="109728" marT="45720" marB="45720" anchor="ctr">
                    <a:solidFill>
                      <a:srgbClr val="F6ECEB"/>
                    </a:solidFill>
                  </a:tcPr>
                </a:tc>
                <a:tc>
                  <a:txBody>
                    <a:bodyPr wrap="square"/>
                    <a:lstStyle/>
                    <a:p>
                      <a:r>
                        <a:rPr sz="2000" b="0" i="0">
                          <a:solidFill>
                            <a:srgbClr val="1A1A1A"/>
                          </a:solidFill>
                          <a:latin typeface="Times New Roman"/>
                        </a:rPr>
                        <a:t>+0.236</a:t>
                      </a:r>
                    </a:p>
                  </a:txBody>
                  <a:tcPr marL="109728" marR="109728" marT="45720" marB="45720" anchor="ctr">
                    <a:solidFill>
                      <a:srgbClr val="F6ECEB"/>
                    </a:solidFill>
                  </a:tcPr>
                </a:tc>
                <a:tc>
                  <a:txBody>
                    <a:bodyPr wrap="square"/>
                    <a:lstStyle/>
                    <a:p>
                      <a:r>
                        <a:rPr sz="2000" b="0" i="0">
                          <a:solidFill>
                            <a:srgbClr val="1A1A1A"/>
                          </a:solidFill>
                          <a:latin typeface="Times New Roman"/>
                        </a:rPr>
                        <a:t>4.629</a:t>
                      </a:r>
                    </a:p>
                  </a:txBody>
                  <a:tcPr marL="109728" marR="109728" marT="45720" marB="45720" anchor="ctr">
                    <a:solidFill>
                      <a:srgbClr val="F6ECEB"/>
                    </a:solidFill>
                  </a:tcPr>
                </a:tc>
                <a:tc>
                  <a:txBody>
                    <a:bodyPr wrap="square"/>
                    <a:lstStyle/>
                    <a:p>
                      <a:r>
                        <a:rPr sz="2000" b="1" i="0">
                          <a:solidFill>
                            <a:srgbClr val="7A1916"/>
                          </a:solidFill>
                          <a:latin typeface="Times New Roman"/>
                        </a:rPr>
                        <a:t>Significant (+)</a:t>
                      </a:r>
                    </a:p>
                  </a:txBody>
                  <a:tcPr marL="109728" marR="109728" marT="45720" marB="45720" anchor="ctr">
                    <a:solidFill>
                      <a:srgbClr val="F6ECEB"/>
                    </a:solidFill>
                  </a:tcPr>
                </a:tc>
              </a:tr>
              <a:tr h="603504">
                <a:tc>
                  <a:txBody>
                    <a:bodyPr wrap="square"/>
                    <a:lstStyle/>
                    <a:p>
                      <a:r>
                        <a:rPr sz="2000" b="1" i="0">
                          <a:solidFill>
                            <a:srgbClr val="7A1916"/>
                          </a:solidFill>
                          <a:latin typeface="Times New Roman"/>
                        </a:rPr>
                        <a:t>Adult literacy</a:t>
                      </a:r>
                    </a:p>
                  </a:txBody>
                  <a:tcPr marL="109728" marR="109728" marT="45720" marB="45720" anchor="ctr">
                    <a:solidFill>
                      <a:srgbClr val="F6ECEB"/>
                    </a:solidFill>
                  </a:tcPr>
                </a:tc>
                <a:tc>
                  <a:txBody>
                    <a:bodyPr wrap="square"/>
                    <a:lstStyle/>
                    <a:p>
                      <a:r>
                        <a:rPr sz="2000" b="0" i="0">
                          <a:solidFill>
                            <a:srgbClr val="1A1A1A"/>
                          </a:solidFill>
                          <a:latin typeface="Times New Roman"/>
                        </a:rPr>
                        <a:t>−0.659</a:t>
                      </a:r>
                    </a:p>
                  </a:txBody>
                  <a:tcPr marL="109728" marR="109728" marT="45720" marB="45720" anchor="ctr">
                    <a:solidFill>
                      <a:srgbClr val="F6ECEB"/>
                    </a:solidFill>
                  </a:tcPr>
                </a:tc>
                <a:tc>
                  <a:txBody>
                    <a:bodyPr wrap="square"/>
                    <a:lstStyle/>
                    <a:p>
                      <a:r>
                        <a:rPr sz="2000" b="0" i="0">
                          <a:solidFill>
                            <a:srgbClr val="1A1A1A"/>
                          </a:solidFill>
                          <a:latin typeface="Times New Roman"/>
                        </a:rPr>
                        <a:t>−5.225</a:t>
                      </a:r>
                    </a:p>
                  </a:txBody>
                  <a:tcPr marL="109728" marR="109728" marT="45720" marB="45720" anchor="ctr">
                    <a:solidFill>
                      <a:srgbClr val="F6ECEB"/>
                    </a:solidFill>
                  </a:tcPr>
                </a:tc>
                <a:tc>
                  <a:txBody>
                    <a:bodyPr wrap="square"/>
                    <a:lstStyle/>
                    <a:p>
                      <a:r>
                        <a:rPr sz="2000" b="1" i="0">
                          <a:solidFill>
                            <a:srgbClr val="7A1916"/>
                          </a:solidFill>
                          <a:latin typeface="Times New Roman"/>
                        </a:rPr>
                        <a:t>Significant (−)</a:t>
                      </a:r>
                    </a:p>
                  </a:txBody>
                  <a:tcPr marL="109728" marR="109728" marT="45720" marB="45720" anchor="ctr">
                    <a:solidFill>
                      <a:srgbClr val="F6ECEB"/>
                    </a:solidFill>
                  </a:tcPr>
                </a:tc>
              </a:tr>
              <a:tr h="603504">
                <a:tc>
                  <a:txBody>
                    <a:bodyPr wrap="square"/>
                    <a:lstStyle/>
                    <a:p>
                      <a:r>
                        <a:rPr sz="2000" b="1" i="0">
                          <a:solidFill>
                            <a:srgbClr val="7A1916"/>
                          </a:solidFill>
                          <a:latin typeface="Times New Roman"/>
                        </a:rPr>
                        <a:t>Political instability</a:t>
                      </a:r>
                    </a:p>
                  </a:txBody>
                  <a:tcPr marL="109728" marR="109728" marT="45720" marB="45720" anchor="ctr">
                    <a:solidFill>
                      <a:srgbClr val="F6ECEB"/>
                    </a:solidFill>
                  </a:tcPr>
                </a:tc>
                <a:tc>
                  <a:txBody>
                    <a:bodyPr wrap="square"/>
                    <a:lstStyle/>
                    <a:p>
                      <a:r>
                        <a:rPr sz="2000" b="0" i="0">
                          <a:solidFill>
                            <a:srgbClr val="1A1A1A"/>
                          </a:solidFill>
                          <a:latin typeface="Times New Roman"/>
                        </a:rPr>
                        <a:t>−0.482</a:t>
                      </a:r>
                    </a:p>
                  </a:txBody>
                  <a:tcPr marL="109728" marR="109728" marT="45720" marB="45720" anchor="ctr">
                    <a:solidFill>
                      <a:srgbClr val="F6ECEB"/>
                    </a:solidFill>
                  </a:tcPr>
                </a:tc>
                <a:tc>
                  <a:txBody>
                    <a:bodyPr wrap="square"/>
                    <a:lstStyle/>
                    <a:p>
                      <a:r>
                        <a:rPr sz="2000" b="0" i="0">
                          <a:solidFill>
                            <a:srgbClr val="1A1A1A"/>
                          </a:solidFill>
                          <a:latin typeface="Times New Roman"/>
                        </a:rPr>
                        <a:t>−3.444</a:t>
                      </a:r>
                    </a:p>
                  </a:txBody>
                  <a:tcPr marL="109728" marR="109728" marT="45720" marB="45720" anchor="ctr">
                    <a:solidFill>
                      <a:srgbClr val="F6ECEB"/>
                    </a:solidFill>
                  </a:tcPr>
                </a:tc>
                <a:tc>
                  <a:txBody>
                    <a:bodyPr wrap="square"/>
                    <a:lstStyle/>
                    <a:p>
                      <a:r>
                        <a:rPr sz="2000" b="1" i="0">
                          <a:solidFill>
                            <a:srgbClr val="7A1916"/>
                          </a:solidFill>
                          <a:latin typeface="Times New Roman"/>
                        </a:rPr>
                        <a:t>Significant (−)</a:t>
                      </a:r>
                    </a:p>
                  </a:txBody>
                  <a:tcPr marL="109728" marR="109728" marT="45720" marB="45720" anchor="ctr">
                    <a:solidFill>
                      <a:srgbClr val="F6ECEB"/>
                    </a:solidFill>
                  </a:tcPr>
                </a:tc>
              </a:tr>
              <a:tr h="603504">
                <a:tc>
                  <a:txBody>
                    <a:bodyPr wrap="square"/>
                    <a:lstStyle/>
                    <a:p>
                      <a:r>
                        <a:rPr sz="2000" b="1" i="0">
                          <a:solidFill>
                            <a:srgbClr val="7A1916"/>
                          </a:solidFill>
                          <a:latin typeface="Times New Roman"/>
                        </a:rPr>
                        <a:t>Population density</a:t>
                      </a:r>
                    </a:p>
                  </a:txBody>
                  <a:tcPr marL="109728" marR="109728" marT="45720" marB="45720" anchor="ctr">
                    <a:solidFill>
                      <a:srgbClr val="F6ECEB"/>
                    </a:solidFill>
                  </a:tcPr>
                </a:tc>
                <a:tc>
                  <a:txBody>
                    <a:bodyPr wrap="square"/>
                    <a:lstStyle/>
                    <a:p>
                      <a:r>
                        <a:rPr sz="2000" b="0" i="0">
                          <a:solidFill>
                            <a:srgbClr val="1A1A1A"/>
                          </a:solidFill>
                          <a:latin typeface="Times New Roman"/>
                        </a:rPr>
                        <a:t>−0.254</a:t>
                      </a:r>
                    </a:p>
                  </a:txBody>
                  <a:tcPr marL="109728" marR="109728" marT="45720" marB="45720" anchor="ctr">
                    <a:solidFill>
                      <a:srgbClr val="F6ECEB"/>
                    </a:solidFill>
                  </a:tcPr>
                </a:tc>
                <a:tc>
                  <a:txBody>
                    <a:bodyPr wrap="square"/>
                    <a:lstStyle/>
                    <a:p>
                      <a:r>
                        <a:rPr sz="2000" b="0" i="0">
                          <a:solidFill>
                            <a:srgbClr val="1A1A1A"/>
                          </a:solidFill>
                          <a:latin typeface="Times New Roman"/>
                        </a:rPr>
                        <a:t>−2.756</a:t>
                      </a:r>
                    </a:p>
                  </a:txBody>
                  <a:tcPr marL="109728" marR="109728" marT="45720" marB="45720" anchor="ctr">
                    <a:solidFill>
                      <a:srgbClr val="F6ECEB"/>
                    </a:solidFill>
                  </a:tcPr>
                </a:tc>
                <a:tc>
                  <a:txBody>
                    <a:bodyPr wrap="square"/>
                    <a:lstStyle/>
                    <a:p>
                      <a:r>
                        <a:rPr sz="2000" b="1" i="0">
                          <a:solidFill>
                            <a:srgbClr val="7A1916"/>
                          </a:solidFill>
                          <a:latin typeface="Times New Roman"/>
                        </a:rPr>
                        <a:t>Significant (−)</a:t>
                      </a:r>
                    </a:p>
                  </a:txBody>
                  <a:tcPr marL="109728" marR="109728" marT="45720" marB="45720" anchor="ctr">
                    <a:solidFill>
                      <a:srgbClr val="F6ECEB"/>
                    </a:solidFill>
                  </a:tcPr>
                </a:tc>
              </a:tr>
              <a:tr h="603504">
                <a:tc>
                  <a:txBody>
                    <a:bodyPr wrap="square"/>
                    <a:lstStyle/>
                    <a:p>
                      <a:r>
                        <a:rPr sz="2000" b="1" i="0">
                          <a:solidFill>
                            <a:srgbClr val="1A1A1A"/>
                          </a:solidFill>
                          <a:latin typeface="Times New Roman"/>
                        </a:rPr>
                        <a:t>Inequality, inflation, cost, income</a:t>
                      </a:r>
                    </a:p>
                  </a:txBody>
                  <a:tcPr marL="109728" marR="109728" marT="45720" marB="45720" anchor="ctr">
                    <a:solidFill>
                      <a:srgbClr val="FFFFFF"/>
                    </a:solidFill>
                  </a:tcPr>
                </a:tc>
                <a:tc>
                  <a:txBody>
                    <a:bodyPr wrap="square"/>
                    <a:lstStyle/>
                    <a:p>
                      <a:r>
                        <a:rPr sz="2000" b="0" i="0">
                          <a:solidFill>
                            <a:srgbClr val="1A1A1A"/>
                          </a:solidFill>
                          <a:latin typeface="Times New Roman"/>
                        </a:rPr>
                        <a:t>—</a:t>
                      </a:r>
                    </a:p>
                  </a:txBody>
                  <a:tcPr marL="109728" marR="109728" marT="45720" marB="45720" anchor="ctr">
                    <a:solidFill>
                      <a:srgbClr val="FFFFFF"/>
                    </a:solidFill>
                  </a:tcPr>
                </a:tc>
                <a:tc>
                  <a:txBody>
                    <a:bodyPr wrap="square"/>
                    <a:lstStyle/>
                    <a:p>
                      <a:r>
                        <a:rPr sz="2000" b="0" i="0">
                          <a:solidFill>
                            <a:srgbClr val="1A1A1A"/>
                          </a:solidFill>
                          <a:latin typeface="Times New Roman"/>
                        </a:rPr>
                        <a:t>|t| &lt; 1.6</a:t>
                      </a:r>
                    </a:p>
                  </a:txBody>
                  <a:tcPr marL="109728" marR="109728" marT="45720" marB="45720" anchor="ctr">
                    <a:solidFill>
                      <a:srgbClr val="FFFFFF"/>
                    </a:solidFill>
                  </a:tcPr>
                </a:tc>
                <a:tc>
                  <a:txBody>
                    <a:bodyPr wrap="square"/>
                    <a:lstStyle/>
                    <a:p>
                      <a:r>
                        <a:rPr sz="2000" b="0" i="0">
                          <a:solidFill>
                            <a:srgbClr val="1A1A1A"/>
                          </a:solidFill>
                          <a:latin typeface="Times New Roman"/>
                        </a:rPr>
                        <a:t>Not significant</a:t>
                      </a:r>
                    </a:p>
                  </a:txBody>
                  <a:tcPr marL="109728" marR="109728" marT="45720" marB="45720" anchor="ctr">
                    <a:solidFill>
                      <a:srgbClr val="FFFFFF"/>
                    </a:solidFill>
                  </a:tcPr>
                </a:tc>
              </a:tr>
            </a:tbl>
          </a:graphicData>
        </a:graphic>
      </p:graphicFrame>
      <p:sp>
        <p:nvSpPr>
          <p:cNvPr id="8" name="Table note"/>
          <p:cNvSpPr txBox="1"/>
          <p:nvPr/>
        </p:nvSpPr>
        <p:spPr>
          <a:xfrm>
            <a:off x="914400" y="7543800"/>
            <a:ext cx="8778240" cy="457200"/>
          </a:xfrm>
          <a:prstGeom prst="rect">
            <a:avLst/>
          </a:prstGeom>
          <a:noFill/>
        </p:spPr>
        <p:txBody>
          <a:bodyPr wrap="square" lIns="0" rIns="0" tIns="0" bIns="0" anchor="t">
            <a:noAutofit/>
          </a:bodyPr>
          <a:lstStyle/>
          <a:p>
            <a:pPr algn="l">
              <a:lnSpc>
                <a:spcPct val="105000"/>
              </a:lnSpc>
              <a:spcAft>
                <a:spcPts val="1000"/>
              </a:spcAft>
            </a:pPr>
            <a:r>
              <a:rPr sz="1900" b="0" i="1">
                <a:solidFill>
                  <a:srgbClr val="595959"/>
                </a:solidFill>
                <a:latin typeface="Times New Roman"/>
              </a:rPr>
              <a:t>Notes:</a:t>
            </a:r>
            <a:r>
              <a:rPr sz="1900" b="0" i="0">
                <a:solidFill>
                  <a:srgbClr val="595959"/>
                </a:solidFill>
                <a:latin typeface="Times New Roman"/>
              </a:rPr>
              <a:t> adjusted R² = 0.63; F = 5.848 (p = 0.000). Adapted from Agbola and Acupan (2010, p. 392).</a:t>
            </a:r>
          </a:p>
        </p:txBody>
      </p:sp>
      <p:sp>
        <p:nvSpPr>
          <p:cNvPr id="9" name="ECT box"/>
          <p:cNvSpPr/>
          <p:nvPr/>
        </p:nvSpPr>
        <p:spPr>
          <a:xfrm>
            <a:off x="914400" y="8183879"/>
            <a:ext cx="8778240" cy="1371600"/>
          </a:xfrm>
          <a:prstGeom prst="roundRect">
            <a:avLst>
              <a:gd name="adj" fmla="val 4000"/>
            </a:avLst>
          </a:prstGeom>
          <a:solidFill>
            <a:srgbClr val="7A19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CT"/>
          <p:cNvSpPr txBox="1"/>
          <p:nvPr/>
        </p:nvSpPr>
        <p:spPr>
          <a:xfrm>
            <a:off x="1280160" y="8183879"/>
            <a:ext cx="8046719" cy="1371600"/>
          </a:xfrm>
          <a:prstGeom prst="rect">
            <a:avLst/>
          </a:prstGeom>
          <a:noFill/>
        </p:spPr>
        <p:txBody>
          <a:bodyPr wrap="square" lIns="0" rIns="0" tIns="0" bIns="0" anchor="ctr">
            <a:noAutofit/>
          </a:bodyPr>
          <a:lstStyle/>
          <a:p>
            <a:pPr algn="l">
              <a:lnSpc>
                <a:spcPct val="105000"/>
              </a:lnSpc>
              <a:spcAft>
                <a:spcPts val="1000"/>
              </a:spcAft>
            </a:pPr>
            <a:r>
              <a:rPr sz="2400" b="1" i="0">
                <a:solidFill>
                  <a:srgbClr val="F2C14E"/>
                </a:solidFill>
                <a:latin typeface="Times New Roman"/>
              </a:rPr>
              <a:t>ECT = −0.776 (t = −4.224):</a:t>
            </a:r>
            <a:r>
              <a:rPr sz="2400" b="0" i="0">
                <a:solidFill>
                  <a:srgbClr val="FFFFFF"/>
                </a:solidFill>
                <a:latin typeface="Times New Roman"/>
              </a:rPr>
              <a:t> about </a:t>
            </a:r>
            <a:r>
              <a:rPr sz="2400" b="1" i="0">
                <a:solidFill>
                  <a:srgbClr val="F2C14E"/>
                </a:solidFill>
                <a:latin typeface="Times New Roman"/>
              </a:rPr>
              <a:t>78%</a:t>
            </a:r>
            <a:r>
              <a:rPr sz="2400" b="0" i="0">
                <a:solidFill>
                  <a:srgbClr val="FFFFFF"/>
                </a:solidFill>
                <a:latin typeface="Times New Roman"/>
              </a:rPr>
              <a:t> of any deviation from equilibrium is corrected within a year.</a:t>
            </a:r>
          </a:p>
        </p:txBody>
      </p:sp>
      <p:sp>
        <p:nvSpPr>
          <p:cNvPr id="11" name="Evidence label"/>
          <p:cNvSpPr txBox="1"/>
          <p:nvPr/>
        </p:nvSpPr>
        <p:spPr>
          <a:xfrm>
            <a:off x="10058400" y="3611880"/>
            <a:ext cx="7315200" cy="365760"/>
          </a:xfrm>
          <a:prstGeom prst="rect">
            <a:avLst/>
          </a:prstGeom>
          <a:noFill/>
        </p:spPr>
        <p:txBody>
          <a:bodyPr wrap="square" lIns="0" rIns="0" tIns="0" bIns="0" anchor="t">
            <a:noAutofit/>
          </a:bodyPr>
          <a:lstStyle/>
          <a:p>
            <a:pPr algn="l">
              <a:lnSpc>
                <a:spcPct val="105000"/>
              </a:lnSpc>
              <a:spcAft>
                <a:spcPts val="1000"/>
              </a:spcAft>
            </a:pPr>
            <a:r>
              <a:rPr sz="1900" b="1" i="1">
                <a:solidFill>
                  <a:srgbClr val="595959"/>
                </a:solidFill>
                <a:latin typeface="Times New Roman"/>
              </a:rPr>
              <a:t>Evidence from the article (highlighted)</a:t>
            </a:r>
          </a:p>
        </p:txBody>
      </p:sp>
      <p:pic>
        <p:nvPicPr>
          <p:cNvPr id="12" name="Excerpt fi_table3" descr="fi_table3.png"/>
          <p:cNvPicPr>
            <a:picLocks noChangeAspect="1"/>
          </p:cNvPicPr>
          <p:nvPr/>
        </p:nvPicPr>
        <p:blipFill>
          <a:blip r:embed="rId2"/>
          <a:stretch>
            <a:fillRect/>
          </a:stretch>
        </p:blipFill>
        <p:spPr>
          <a:xfrm>
            <a:off x="10058400" y="4023360"/>
            <a:ext cx="7315200" cy="3616073"/>
          </a:xfrm>
          <a:prstGeom prst="rect">
            <a:avLst/>
          </a:prstGeom>
        </p:spPr>
      </p:pic>
      <p:sp>
        <p:nvSpPr>
          <p:cNvPr id="13" name="Caption fi_table3"/>
          <p:cNvSpPr txBox="1"/>
          <p:nvPr/>
        </p:nvSpPr>
        <p:spPr>
          <a:xfrm>
            <a:off x="10058400" y="7657720"/>
            <a:ext cx="7315200" cy="292608"/>
          </a:xfrm>
          <a:prstGeom prst="rect">
            <a:avLst/>
          </a:prstGeom>
          <a:noFill/>
        </p:spPr>
        <p:txBody>
          <a:bodyPr wrap="square" lIns="0" rIns="0" tIns="0" bIns="0" anchor="t">
            <a:noAutofit/>
          </a:bodyPr>
          <a:lstStyle/>
          <a:p>
            <a:pPr algn="r">
              <a:lnSpc>
                <a:spcPct val="105000"/>
              </a:lnSpc>
              <a:spcAft>
                <a:spcPts val="1000"/>
              </a:spcAft>
            </a:pPr>
            <a:r>
              <a:rPr sz="1700" b="0" i="1">
                <a:solidFill>
                  <a:srgbClr val="595959"/>
                </a:solidFill>
                <a:latin typeface="Times New Roman"/>
              </a:rPr>
              <a:t>Table 3: significant rows highlighted (Agbola &amp; Acupan, 2010, p. 392)</a:t>
            </a:r>
          </a:p>
        </p:txBody>
      </p:sp>
      <p:pic>
        <p:nvPicPr>
          <p:cNvPr id="14" name="Excerpt fi_ect" descr="fi_ect.png"/>
          <p:cNvPicPr>
            <a:picLocks noChangeAspect="1"/>
          </p:cNvPicPr>
          <p:nvPr/>
        </p:nvPicPr>
        <p:blipFill>
          <a:blip r:embed="rId4"/>
          <a:stretch>
            <a:fillRect/>
          </a:stretch>
        </p:blipFill>
        <p:spPr>
          <a:xfrm>
            <a:off x="10058400" y="8023480"/>
            <a:ext cx="7315200" cy="606938"/>
          </a:xfrm>
          <a:prstGeom prst="rect">
            <a:avLst/>
          </a:prstGeom>
        </p:spPr>
      </p:pic>
      <p:sp>
        <p:nvSpPr>
          <p:cNvPr id="15" name="Caption fi_ect"/>
          <p:cNvSpPr txBox="1"/>
          <p:nvPr/>
        </p:nvSpPr>
        <p:spPr>
          <a:xfrm>
            <a:off x="10058400" y="8648706"/>
            <a:ext cx="7315200" cy="292608"/>
          </a:xfrm>
          <a:prstGeom prst="rect">
            <a:avLst/>
          </a:prstGeom>
          <a:noFill/>
        </p:spPr>
        <p:txBody>
          <a:bodyPr wrap="square" lIns="0" rIns="0" tIns="0" bIns="0" anchor="t">
            <a:noAutofit/>
          </a:bodyPr>
          <a:lstStyle/>
          <a:p>
            <a:pPr algn="r">
              <a:lnSpc>
                <a:spcPct val="105000"/>
              </a:lnSpc>
              <a:spcAft>
                <a:spcPts val="1000"/>
              </a:spcAft>
            </a:pPr>
            <a:r>
              <a:rPr sz="1700" b="0" i="1">
                <a:solidFill>
                  <a:srgbClr val="595959"/>
                </a:solidFill>
                <a:latin typeface="Times New Roman"/>
              </a:rPr>
              <a:t>Speed of adjustment (Agbola &amp; Acupan, 2010, p. 392)</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17" b="0"/>
              </a:stretch>
            </a:blipFill>
          </p:spPr>
        </p:sp>
      </p:grpSp>
      <p:sp>
        <p:nvSpPr>
          <p:cNvPr name="TextBox 4" id="4"/>
          <p:cNvSpPr txBox="true"/>
          <p:nvPr/>
        </p:nvSpPr>
        <p:spPr>
          <a:xfrm rot="0">
            <a:off x="91421" y="9908915"/>
            <a:ext cx="17981581" cy="369456"/>
          </a:xfrm>
          <a:prstGeom prst="rect">
            <a:avLst/>
          </a:prstGeom>
        </p:spPr>
        <p:txBody>
          <a:bodyPr anchor="t" rtlCol="false" tIns="0" lIns="0" bIns="0" rIns="0">
            <a:spAutoFit/>
          </a:bodyPr>
          <a:lstStyle/>
          <a:p>
            <a:pPr algn="ctr">
              <a:lnSpc>
                <a:spcPts val="1377"/>
              </a:lnSpc>
            </a:pPr>
            <a:r>
              <a:rPr lang="en-US" b="true" sz="1275">
                <a:solidFill>
                  <a:srgbClr val="3A3A3A"/>
                </a:solidFill>
                <a:latin typeface="Arial Bold"/>
                <a:ea typeface="Arial Bold"/>
                <a:cs typeface="Arial Bold"/>
                <a:sym typeface="Arial Bold"/>
              </a:rPr>
              <a:t>© 2026 University of Southeastern Philippines |</a:t>
            </a:r>
            <a:r>
              <a:rPr lang="en-US" sz="1275">
                <a:solidFill>
                  <a:srgbClr val="3A3A3A"/>
                </a:solidFill>
                <a:latin typeface="Arial"/>
                <a:ea typeface="Arial"/>
                <a:cs typeface="Arial"/>
                <a:sym typeface="Arial"/>
              </a:rPr>
              <a:t> All Rights Reserved. This presentation contains confidential and proprietary information. Photography, video, and audio recording of these materials are prohibited without prior authorization.</a:t>
            </a:r>
          </a:p>
        </p:txBody>
      </p:sp>
      <p:sp>
        <p:nvSpPr>
          <p:cNvPr id="5" name="Title"/>
          <p:cNvSpPr txBox="1"/>
          <p:nvPr/>
        </p:nvSpPr>
        <p:spPr>
          <a:xfrm>
            <a:off x="914400" y="1600200"/>
            <a:ext cx="16459200" cy="914400"/>
          </a:xfrm>
          <a:prstGeom prst="rect">
            <a:avLst/>
          </a:prstGeom>
          <a:noFill/>
        </p:spPr>
        <p:txBody>
          <a:bodyPr wrap="square" lIns="0" rIns="0" tIns="0" bIns="0" anchor="ctr">
            <a:noAutofit/>
          </a:bodyPr>
          <a:lstStyle/>
          <a:p>
            <a:pPr algn="l">
              <a:lnSpc>
                <a:spcPct val="105000"/>
              </a:lnSpc>
              <a:spcAft>
                <a:spcPts val="1000"/>
              </a:spcAft>
            </a:pPr>
            <a:r>
              <a:rPr sz="4800" b="1" i="0">
                <a:solidFill>
                  <a:srgbClr val="7A1916"/>
                </a:solidFill>
                <a:latin typeface="Times New Roman"/>
              </a:rPr>
              <a:t>5. Key Findings: interpretation</a:t>
            </a:r>
          </a:p>
        </p:txBody>
      </p:sp>
      <p:sp>
        <p:nvSpPr>
          <p:cNvPr id="6" name="Key message"/>
          <p:cNvSpPr txBox="1"/>
          <p:nvPr/>
        </p:nvSpPr>
        <p:spPr>
          <a:xfrm>
            <a:off x="914400" y="2606040"/>
            <a:ext cx="16459200" cy="822960"/>
          </a:xfrm>
          <a:prstGeom prst="rect">
            <a:avLst/>
          </a:prstGeom>
          <a:noFill/>
        </p:spPr>
        <p:txBody>
          <a:bodyPr wrap="square" lIns="0" rIns="0" tIns="0" bIns="0" anchor="t">
            <a:noAutofit/>
          </a:bodyPr>
          <a:lstStyle/>
          <a:p>
            <a:pPr algn="l">
              <a:lnSpc>
                <a:spcPct val="105000"/>
              </a:lnSpc>
              <a:spcAft>
                <a:spcPts val="1000"/>
              </a:spcAft>
            </a:pPr>
            <a:r>
              <a:rPr sz="2800" b="1" i="1">
                <a:solidFill>
                  <a:srgbClr val="1A1A1A"/>
                </a:solidFill>
                <a:latin typeface="Times New Roman"/>
              </a:rPr>
              <a:t>Unemployment raises emigration; adult literacy, instability and density lower it.</a:t>
            </a:r>
          </a:p>
        </p:txBody>
      </p:sp>
      <p:sp>
        <p:nvSpPr>
          <p:cNvPr id="7" name="Points"/>
          <p:cNvSpPr txBox="1"/>
          <p:nvPr/>
        </p:nvSpPr>
        <p:spPr>
          <a:xfrm>
            <a:off x="914400" y="3611880"/>
            <a:ext cx="7863840" cy="5943600"/>
          </a:xfrm>
          <a:prstGeom prst="rect">
            <a:avLst/>
          </a:prstGeom>
          <a:noFill/>
        </p:spPr>
        <p:txBody>
          <a:bodyPr wrap="square" lIns="0" rIns="0" tIns="0" bIns="0" anchor="t">
            <a:noAutofit/>
          </a:bodyPr>
          <a:lstStyle/>
          <a:p>
            <a:pPr algn="l" marL="384048" indent="-384048">
              <a:lnSpc>
                <a:spcPct val="105000"/>
              </a:lnSpc>
              <a:spcAft>
                <a:spcPts val="1400"/>
              </a:spcAft>
              <a:buClr>
                <a:srgbClr val="7A1916"/>
              </a:buClr>
              <a:buFont typeface="Times New Roman"/>
              <a:buChar char="•"/>
            </a:pPr>
            <a:r>
              <a:rPr sz="2400" b="1" i="0">
                <a:solidFill>
                  <a:srgbClr val="7A1916"/>
                </a:solidFill>
                <a:latin typeface="Times New Roman"/>
              </a:rPr>
              <a:t>Unemployment ↑ → emigration ↑:</a:t>
            </a:r>
            <a:r>
              <a:rPr sz="2400" b="0" i="0">
                <a:solidFill>
                  <a:srgbClr val="1A1A1A"/>
                </a:solidFill>
                <a:latin typeface="Times New Roman"/>
              </a:rPr>
              <a:t> consistent with emigration as a </a:t>
            </a:r>
            <a:r>
              <a:rPr sz="2400" b="1" i="0">
                <a:solidFill>
                  <a:srgbClr val="7A1916"/>
                </a:solidFill>
                <a:latin typeface="Times New Roman"/>
              </a:rPr>
              <a:t>safety valve for surplus labor</a:t>
            </a:r>
          </a:p>
          <a:p>
            <a:pPr algn="l" marL="384048" indent="-384048">
              <a:lnSpc>
                <a:spcPct val="105000"/>
              </a:lnSpc>
              <a:spcAft>
                <a:spcPts val="1400"/>
              </a:spcAft>
              <a:buClr>
                <a:srgbClr val="7A1916"/>
              </a:buClr>
              <a:buFont typeface="Times New Roman"/>
              <a:buChar char="•"/>
            </a:pPr>
            <a:r>
              <a:rPr sz="2400" b="1" i="0">
                <a:solidFill>
                  <a:srgbClr val="7A1916"/>
                </a:solidFill>
                <a:latin typeface="Times New Roman"/>
              </a:rPr>
              <a:t>Adult literacy ↑ → emigration ↓:</a:t>
            </a:r>
            <a:r>
              <a:rPr sz="2400" b="0" i="0">
                <a:solidFill>
                  <a:srgbClr val="1A1A1A"/>
                </a:solidFill>
                <a:latin typeface="Times New Roman"/>
              </a:rPr>
              <a:t> </a:t>
            </a:r>
            <a:r>
              <a:rPr sz="2400" b="1" i="0">
                <a:solidFill>
                  <a:srgbClr val="7A1916"/>
                </a:solidFill>
                <a:latin typeface="Times New Roman"/>
              </a:rPr>
              <a:t>contradicts human capital theory</a:t>
            </a:r>
            <a:r>
              <a:rPr sz="2400" b="0" i="0">
                <a:solidFill>
                  <a:srgbClr val="1A1A1A"/>
                </a:solidFill>
                <a:latin typeface="Times New Roman"/>
              </a:rPr>
              <a:t>; the authors attribute this to the </a:t>
            </a:r>
            <a:r>
              <a:rPr sz="2400" b="1" i="0">
                <a:solidFill>
                  <a:srgbClr val="7A1916"/>
                </a:solidFill>
                <a:latin typeface="Times New Roman"/>
              </a:rPr>
              <a:t>low-skilled profile</a:t>
            </a:r>
            <a:r>
              <a:rPr sz="2400" b="0" i="0">
                <a:solidFill>
                  <a:srgbClr val="1A1A1A"/>
                </a:solidFill>
                <a:latin typeface="Times New Roman"/>
              </a:rPr>
              <a:t> of migrants</a:t>
            </a:r>
          </a:p>
          <a:p>
            <a:pPr algn="l" marL="384048" indent="-384048">
              <a:lnSpc>
                <a:spcPct val="105000"/>
              </a:lnSpc>
              <a:spcAft>
                <a:spcPts val="1400"/>
              </a:spcAft>
              <a:buClr>
                <a:srgbClr val="7A1916"/>
              </a:buClr>
              <a:buFont typeface="Times New Roman"/>
              <a:buChar char="•"/>
            </a:pPr>
            <a:r>
              <a:rPr sz="2400" b="1" i="0">
                <a:solidFill>
                  <a:srgbClr val="7A1916"/>
                </a:solidFill>
                <a:latin typeface="Times New Roman"/>
              </a:rPr>
              <a:t>Political instability and population density</a:t>
            </a:r>
            <a:r>
              <a:rPr sz="2400" b="0" i="0">
                <a:solidFill>
                  <a:srgbClr val="1A1A1A"/>
                </a:solidFill>
                <a:latin typeface="Times New Roman"/>
              </a:rPr>
              <a:t> also lower emigration</a:t>
            </a:r>
          </a:p>
          <a:p>
            <a:pPr algn="l" marL="384048" indent="-384048">
              <a:lnSpc>
                <a:spcPct val="105000"/>
              </a:lnSpc>
              <a:spcAft>
                <a:spcPts val="1400"/>
              </a:spcAft>
              <a:buClr>
                <a:srgbClr val="7A1916"/>
              </a:buClr>
              <a:buFont typeface="Times New Roman"/>
              <a:buChar char="•"/>
            </a:pPr>
            <a:r>
              <a:rPr sz="2400" b="0" i="0">
                <a:solidFill>
                  <a:srgbClr val="1A1A1A"/>
                </a:solidFill>
                <a:latin typeface="Times New Roman"/>
              </a:rPr>
              <a:t>The other variables are not significant → </a:t>
            </a:r>
            <a:r>
              <a:rPr sz="2400" b="1" i="0">
                <a:solidFill>
                  <a:srgbClr val="7A1916"/>
                </a:solidFill>
                <a:latin typeface="Times New Roman"/>
              </a:rPr>
              <a:t>Roy effect rejected</a:t>
            </a:r>
          </a:p>
        </p:txBody>
      </p:sp>
      <p:sp>
        <p:nvSpPr>
          <p:cNvPr id="8" name="Evidence label"/>
          <p:cNvSpPr txBox="1"/>
          <p:nvPr/>
        </p:nvSpPr>
        <p:spPr>
          <a:xfrm>
            <a:off x="9235440" y="3611880"/>
            <a:ext cx="8138160" cy="365760"/>
          </a:xfrm>
          <a:prstGeom prst="rect">
            <a:avLst/>
          </a:prstGeom>
          <a:noFill/>
        </p:spPr>
        <p:txBody>
          <a:bodyPr wrap="square" lIns="0" rIns="0" tIns="0" bIns="0" anchor="t">
            <a:noAutofit/>
          </a:bodyPr>
          <a:lstStyle/>
          <a:p>
            <a:pPr algn="l">
              <a:lnSpc>
                <a:spcPct val="105000"/>
              </a:lnSpc>
              <a:spcAft>
                <a:spcPts val="1000"/>
              </a:spcAft>
            </a:pPr>
            <a:r>
              <a:rPr sz="1900" b="1" i="1">
                <a:solidFill>
                  <a:srgbClr val="595959"/>
                </a:solidFill>
                <a:latin typeface="Times New Roman"/>
              </a:rPr>
              <a:t>Evidence from the article (highlighted)</a:t>
            </a:r>
          </a:p>
        </p:txBody>
      </p:sp>
      <p:pic>
        <p:nvPicPr>
          <p:cNvPr id="9" name="Excerpt fi_unemp" descr="fi_unemp.png"/>
          <p:cNvPicPr>
            <a:picLocks noChangeAspect="1"/>
          </p:cNvPicPr>
          <p:nvPr/>
        </p:nvPicPr>
        <p:blipFill>
          <a:blip r:embed="rId2"/>
          <a:stretch>
            <a:fillRect/>
          </a:stretch>
        </p:blipFill>
        <p:spPr>
          <a:xfrm>
            <a:off x="9235440" y="4023360"/>
            <a:ext cx="8138160" cy="1499696"/>
          </a:xfrm>
          <a:prstGeom prst="rect">
            <a:avLst/>
          </a:prstGeom>
        </p:spPr>
      </p:pic>
      <p:sp>
        <p:nvSpPr>
          <p:cNvPr id="10" name="Caption fi_unemp"/>
          <p:cNvSpPr txBox="1"/>
          <p:nvPr/>
        </p:nvSpPr>
        <p:spPr>
          <a:xfrm>
            <a:off x="9235440" y="5541343"/>
            <a:ext cx="8138160" cy="292608"/>
          </a:xfrm>
          <a:prstGeom prst="rect">
            <a:avLst/>
          </a:prstGeom>
          <a:noFill/>
        </p:spPr>
        <p:txBody>
          <a:bodyPr wrap="square" lIns="0" rIns="0" tIns="0" bIns="0" anchor="t">
            <a:noAutofit/>
          </a:bodyPr>
          <a:lstStyle/>
          <a:p>
            <a:pPr algn="r">
              <a:lnSpc>
                <a:spcPct val="105000"/>
              </a:lnSpc>
              <a:spcAft>
                <a:spcPts val="1000"/>
              </a:spcAft>
            </a:pPr>
            <a:r>
              <a:rPr sz="1700" b="0" i="1">
                <a:solidFill>
                  <a:srgbClr val="595959"/>
                </a:solidFill>
                <a:latin typeface="Times New Roman"/>
              </a:rPr>
              <a:t>Unemployment: safety valve (Agbola &amp; Acupan, 2010, p. 394)</a:t>
            </a:r>
          </a:p>
        </p:txBody>
      </p:sp>
      <p:pic>
        <p:nvPicPr>
          <p:cNvPr id="11" name="Excerpt fi_lit" descr="fi_lit.png"/>
          <p:cNvPicPr>
            <a:picLocks noChangeAspect="1"/>
          </p:cNvPicPr>
          <p:nvPr/>
        </p:nvPicPr>
        <p:blipFill>
          <a:blip r:embed="rId4"/>
          <a:stretch>
            <a:fillRect/>
          </a:stretch>
        </p:blipFill>
        <p:spPr>
          <a:xfrm>
            <a:off x="9235440" y="5907103"/>
            <a:ext cx="8138160" cy="2324173"/>
          </a:xfrm>
          <a:prstGeom prst="rect">
            <a:avLst/>
          </a:prstGeom>
        </p:spPr>
      </p:pic>
      <p:sp>
        <p:nvSpPr>
          <p:cNvPr id="12" name="Caption fi_lit"/>
          <p:cNvSpPr txBox="1"/>
          <p:nvPr/>
        </p:nvSpPr>
        <p:spPr>
          <a:xfrm>
            <a:off x="9235440" y="8249565"/>
            <a:ext cx="8138160" cy="292608"/>
          </a:xfrm>
          <a:prstGeom prst="rect">
            <a:avLst/>
          </a:prstGeom>
          <a:noFill/>
        </p:spPr>
        <p:txBody>
          <a:bodyPr wrap="square" lIns="0" rIns="0" tIns="0" bIns="0" anchor="t">
            <a:noAutofit/>
          </a:bodyPr>
          <a:lstStyle/>
          <a:p>
            <a:pPr algn="r">
              <a:lnSpc>
                <a:spcPct val="105000"/>
              </a:lnSpc>
              <a:spcAft>
                <a:spcPts val="1000"/>
              </a:spcAft>
            </a:pPr>
            <a:r>
              <a:rPr sz="1700" b="0" i="1">
                <a:solidFill>
                  <a:srgbClr val="595959"/>
                </a:solidFill>
                <a:latin typeface="Times New Roman"/>
              </a:rPr>
              <a:t>Adult literacy: against human capital theory (Agbola &amp; Acupan, 2010, p. 393)</a:t>
            </a:r>
          </a:p>
        </p:txBody>
      </p:sp>
      <p:pic>
        <p:nvPicPr>
          <p:cNvPr id="13" name="Excerpt fi_roy" descr="fi_roy.png"/>
          <p:cNvPicPr>
            <a:picLocks noChangeAspect="1"/>
          </p:cNvPicPr>
          <p:nvPr/>
        </p:nvPicPr>
        <p:blipFill>
          <a:blip r:embed="rId5"/>
          <a:stretch>
            <a:fillRect/>
          </a:stretch>
        </p:blipFill>
        <p:spPr>
          <a:xfrm>
            <a:off x="9235440" y="8615325"/>
            <a:ext cx="8138160" cy="461992"/>
          </a:xfrm>
          <a:prstGeom prst="rect">
            <a:avLst/>
          </a:prstGeom>
        </p:spPr>
      </p:pic>
      <p:sp>
        <p:nvSpPr>
          <p:cNvPr id="14" name="Caption fi_roy"/>
          <p:cNvSpPr txBox="1"/>
          <p:nvPr/>
        </p:nvSpPr>
        <p:spPr>
          <a:xfrm>
            <a:off x="9235440" y="9095604"/>
            <a:ext cx="8138160" cy="292608"/>
          </a:xfrm>
          <a:prstGeom prst="rect">
            <a:avLst/>
          </a:prstGeom>
          <a:noFill/>
        </p:spPr>
        <p:txBody>
          <a:bodyPr wrap="square" lIns="0" rIns="0" tIns="0" bIns="0" anchor="t">
            <a:noAutofit/>
          </a:bodyPr>
          <a:lstStyle/>
          <a:p>
            <a:pPr algn="r">
              <a:lnSpc>
                <a:spcPct val="105000"/>
              </a:lnSpc>
              <a:spcAft>
                <a:spcPts val="1000"/>
              </a:spcAft>
            </a:pPr>
            <a:r>
              <a:rPr sz="1700" b="0" i="1">
                <a:solidFill>
                  <a:srgbClr val="595959"/>
                </a:solidFill>
                <a:latin typeface="Times New Roman"/>
              </a:rPr>
              <a:t>Roy effect does not hold (Agbola &amp; Acupan, 2010, p. 395)</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17" b="0"/>
              </a:stretch>
            </a:blipFill>
          </p:spPr>
        </p:sp>
      </p:grpSp>
      <p:sp>
        <p:nvSpPr>
          <p:cNvPr name="TextBox 4" id="4"/>
          <p:cNvSpPr txBox="true"/>
          <p:nvPr/>
        </p:nvSpPr>
        <p:spPr>
          <a:xfrm rot="0">
            <a:off x="91421" y="9983057"/>
            <a:ext cx="17981581" cy="369456"/>
          </a:xfrm>
          <a:prstGeom prst="rect">
            <a:avLst/>
          </a:prstGeom>
        </p:spPr>
        <p:txBody>
          <a:bodyPr anchor="t" rtlCol="false" tIns="0" lIns="0" bIns="0" rIns="0">
            <a:spAutoFit/>
          </a:bodyPr>
          <a:lstStyle/>
          <a:p>
            <a:pPr algn="ctr">
              <a:lnSpc>
                <a:spcPts val="1377"/>
              </a:lnSpc>
            </a:pPr>
            <a:r>
              <a:rPr lang="en-US" b="true" sz="1275">
                <a:solidFill>
                  <a:srgbClr val="3A3A3A"/>
                </a:solidFill>
                <a:latin typeface="Arial Bold"/>
                <a:ea typeface="Arial Bold"/>
                <a:cs typeface="Arial Bold"/>
                <a:sym typeface="Arial Bold"/>
              </a:rPr>
              <a:t>© 2026 University of Southeastern Philippines |</a:t>
            </a:r>
            <a:r>
              <a:rPr lang="en-US" sz="1275">
                <a:solidFill>
                  <a:srgbClr val="3A3A3A"/>
                </a:solidFill>
                <a:latin typeface="Arial"/>
                <a:ea typeface="Arial"/>
                <a:cs typeface="Arial"/>
                <a:sym typeface="Arial"/>
              </a:rPr>
              <a:t> All Rights Reserved. This presentation contains confidential and proprietary information. Photography, video, and audio recording of these materials are prohibited without prior authorization.</a:t>
            </a:r>
          </a:p>
        </p:txBody>
      </p:sp>
      <p:sp>
        <p:nvSpPr>
          <p:cNvPr id="5" name="Title"/>
          <p:cNvSpPr txBox="1"/>
          <p:nvPr/>
        </p:nvSpPr>
        <p:spPr>
          <a:xfrm>
            <a:off x="914400" y="1600200"/>
            <a:ext cx="16459200" cy="914400"/>
          </a:xfrm>
          <a:prstGeom prst="rect">
            <a:avLst/>
          </a:prstGeom>
          <a:noFill/>
        </p:spPr>
        <p:txBody>
          <a:bodyPr wrap="square" lIns="0" rIns="0" tIns="0" bIns="0" anchor="ctr">
            <a:noAutofit/>
          </a:bodyPr>
          <a:lstStyle/>
          <a:p>
            <a:pPr algn="l">
              <a:lnSpc>
                <a:spcPct val="105000"/>
              </a:lnSpc>
              <a:spcAft>
                <a:spcPts val="1000"/>
              </a:spcAft>
            </a:pPr>
            <a:r>
              <a:rPr sz="4800" b="1" i="0">
                <a:solidFill>
                  <a:srgbClr val="7A1916"/>
                </a:solidFill>
                <a:latin typeface="Times New Roman"/>
              </a:rPr>
              <a:t>5. Key Findings: the authors’ recommendations</a:t>
            </a:r>
          </a:p>
        </p:txBody>
      </p:sp>
      <p:sp>
        <p:nvSpPr>
          <p:cNvPr id="6" name="Key message"/>
          <p:cNvSpPr txBox="1"/>
          <p:nvPr/>
        </p:nvSpPr>
        <p:spPr>
          <a:xfrm>
            <a:off x="914400" y="2606040"/>
            <a:ext cx="16459200" cy="822960"/>
          </a:xfrm>
          <a:prstGeom prst="rect">
            <a:avLst/>
          </a:prstGeom>
          <a:noFill/>
        </p:spPr>
        <p:txBody>
          <a:bodyPr wrap="square" lIns="0" rIns="0" tIns="0" bIns="0" anchor="t">
            <a:noAutofit/>
          </a:bodyPr>
          <a:lstStyle/>
          <a:p>
            <a:pPr algn="l">
              <a:lnSpc>
                <a:spcPct val="105000"/>
              </a:lnSpc>
              <a:spcAft>
                <a:spcPts val="1000"/>
              </a:spcAft>
            </a:pPr>
            <a:r>
              <a:rPr sz="2800" b="1" i="1">
                <a:solidFill>
                  <a:srgbClr val="1A1A1A"/>
                </a:solidFill>
                <a:latin typeface="Times New Roman"/>
              </a:rPr>
              <a:t>Better statistics, bilateral protection, and a domestic economy able to absorb labor.</a:t>
            </a:r>
          </a:p>
        </p:txBody>
      </p:sp>
      <p:sp>
        <p:nvSpPr>
          <p:cNvPr id="7" name="Recommendations"/>
          <p:cNvSpPr txBox="1"/>
          <p:nvPr/>
        </p:nvSpPr>
        <p:spPr>
          <a:xfrm>
            <a:off x="914400" y="3611880"/>
            <a:ext cx="7680960" cy="5943600"/>
          </a:xfrm>
          <a:prstGeom prst="rect">
            <a:avLst/>
          </a:prstGeom>
          <a:noFill/>
        </p:spPr>
        <p:txBody>
          <a:bodyPr wrap="square" lIns="0" rIns="0" tIns="0" bIns="0" anchor="t">
            <a:noAutofit/>
          </a:bodyPr>
          <a:lstStyle/>
          <a:p>
            <a:pPr algn="l">
              <a:lnSpc>
                <a:spcPct val="105000"/>
              </a:lnSpc>
              <a:spcAft>
                <a:spcPts val="2400"/>
              </a:spcAft>
            </a:pPr>
            <a:r>
              <a:rPr sz="2600" b="1" i="0">
                <a:solidFill>
                  <a:srgbClr val="7A1916"/>
                </a:solidFill>
                <a:latin typeface="Times New Roman"/>
              </a:rPr>
              <a:t>1. Better migration statistics:</a:t>
            </a:r>
            <a:r>
              <a:rPr sz="2600" b="0" i="0">
                <a:solidFill>
                  <a:srgbClr val="1A1A1A"/>
                </a:solidFill>
                <a:latin typeface="Times New Roman"/>
              </a:rPr>
              <a:t> effective monitoring and collection of comprehensive statistics</a:t>
            </a:r>
          </a:p>
          <a:p>
            <a:pPr algn="l">
              <a:lnSpc>
                <a:spcPct val="105000"/>
              </a:lnSpc>
              <a:spcAft>
                <a:spcPts val="2400"/>
              </a:spcAft>
            </a:pPr>
            <a:r>
              <a:rPr sz="2600" b="1" i="0">
                <a:solidFill>
                  <a:srgbClr val="7A1916"/>
                </a:solidFill>
                <a:latin typeface="Times New Roman"/>
              </a:rPr>
              <a:t>2. Bilateral protection agreements</a:t>
            </a:r>
            <a:r>
              <a:rPr sz="2600" b="0" i="0">
                <a:solidFill>
                  <a:srgbClr val="1A1A1A"/>
                </a:solidFill>
                <a:latin typeface="Times New Roman"/>
              </a:rPr>
              <a:t> with migrant-receiving countries</a:t>
            </a:r>
          </a:p>
          <a:p>
            <a:pPr algn="l">
              <a:lnSpc>
                <a:spcPct val="105000"/>
              </a:lnSpc>
              <a:spcAft>
                <a:spcPts val="2400"/>
              </a:spcAft>
            </a:pPr>
            <a:r>
              <a:rPr sz="2600" b="1" i="0">
                <a:solidFill>
                  <a:srgbClr val="7A1916"/>
                </a:solidFill>
                <a:latin typeface="Times New Roman"/>
              </a:rPr>
              <a:t>3. A domestic economy able to absorb labor</a:t>
            </a:r>
            <a:r>
              <a:rPr sz="2600" b="0" i="0">
                <a:solidFill>
                  <a:srgbClr val="1A1A1A"/>
                </a:solidFill>
                <a:latin typeface="Times New Roman"/>
              </a:rPr>
              <a:t>, reducing reliance on unpredictable foreign demand</a:t>
            </a:r>
          </a:p>
        </p:txBody>
      </p:sp>
      <p:sp>
        <p:nvSpPr>
          <p:cNvPr id="8" name="Evidence label"/>
          <p:cNvSpPr txBox="1"/>
          <p:nvPr/>
        </p:nvSpPr>
        <p:spPr>
          <a:xfrm>
            <a:off x="9052560" y="3611880"/>
            <a:ext cx="8321040" cy="365760"/>
          </a:xfrm>
          <a:prstGeom prst="rect">
            <a:avLst/>
          </a:prstGeom>
          <a:noFill/>
        </p:spPr>
        <p:txBody>
          <a:bodyPr wrap="square" lIns="0" rIns="0" tIns="0" bIns="0" anchor="t">
            <a:noAutofit/>
          </a:bodyPr>
          <a:lstStyle/>
          <a:p>
            <a:pPr algn="l">
              <a:lnSpc>
                <a:spcPct val="105000"/>
              </a:lnSpc>
              <a:spcAft>
                <a:spcPts val="1000"/>
              </a:spcAft>
            </a:pPr>
            <a:r>
              <a:rPr sz="1900" b="1" i="1">
                <a:solidFill>
                  <a:srgbClr val="595959"/>
                </a:solidFill>
                <a:latin typeface="Times New Roman"/>
              </a:rPr>
              <a:t>Evidence from the article (highlighted)</a:t>
            </a:r>
          </a:p>
        </p:txBody>
      </p:sp>
      <p:pic>
        <p:nvPicPr>
          <p:cNvPr id="9" name="Excerpt fi_rec" descr="fi_rec.png"/>
          <p:cNvPicPr>
            <a:picLocks noChangeAspect="1"/>
          </p:cNvPicPr>
          <p:nvPr/>
        </p:nvPicPr>
        <p:blipFill>
          <a:blip r:embed="rId2"/>
          <a:stretch>
            <a:fillRect/>
          </a:stretch>
        </p:blipFill>
        <p:spPr>
          <a:xfrm>
            <a:off x="9052560" y="4023360"/>
            <a:ext cx="8321040" cy="1954899"/>
          </a:xfrm>
          <a:prstGeom prst="rect">
            <a:avLst/>
          </a:prstGeom>
        </p:spPr>
      </p:pic>
      <p:sp>
        <p:nvSpPr>
          <p:cNvPr id="10" name="Caption fi_rec"/>
          <p:cNvSpPr txBox="1"/>
          <p:nvPr/>
        </p:nvSpPr>
        <p:spPr>
          <a:xfrm>
            <a:off x="9052560" y="5996547"/>
            <a:ext cx="8321040" cy="292608"/>
          </a:xfrm>
          <a:prstGeom prst="rect">
            <a:avLst/>
          </a:prstGeom>
          <a:noFill/>
        </p:spPr>
        <p:txBody>
          <a:bodyPr wrap="square" lIns="0" rIns="0" tIns="0" bIns="0" anchor="t">
            <a:noAutofit/>
          </a:bodyPr>
          <a:lstStyle/>
          <a:p>
            <a:pPr algn="r">
              <a:lnSpc>
                <a:spcPct val="105000"/>
              </a:lnSpc>
              <a:spcAft>
                <a:spcPts val="1000"/>
              </a:spcAft>
            </a:pPr>
            <a:r>
              <a:rPr sz="1800" b="0" i="1">
                <a:solidFill>
                  <a:srgbClr val="595959"/>
                </a:solidFill>
                <a:latin typeface="Times New Roman"/>
              </a:rPr>
              <a:t>Policy recommendations in the conclusion (Agbola &amp; Acupan, 2010, p. 395)</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17" b="0"/>
              </a:stretch>
            </a:blipFill>
          </p:spPr>
        </p:sp>
      </p:grpSp>
      <p:sp>
        <p:nvSpPr>
          <p:cNvPr name="TextBox 4" id="4"/>
          <p:cNvSpPr txBox="true"/>
          <p:nvPr/>
        </p:nvSpPr>
        <p:spPr>
          <a:xfrm rot="0">
            <a:off x="91421" y="9908915"/>
            <a:ext cx="17981581" cy="369456"/>
          </a:xfrm>
          <a:prstGeom prst="rect">
            <a:avLst/>
          </a:prstGeom>
        </p:spPr>
        <p:txBody>
          <a:bodyPr anchor="t" rtlCol="false" tIns="0" lIns="0" bIns="0" rIns="0">
            <a:spAutoFit/>
          </a:bodyPr>
          <a:lstStyle/>
          <a:p>
            <a:pPr algn="ctr">
              <a:lnSpc>
                <a:spcPts val="1377"/>
              </a:lnSpc>
            </a:pPr>
            <a:r>
              <a:rPr lang="en-US" b="true" sz="1275">
                <a:solidFill>
                  <a:srgbClr val="3A3A3A"/>
                </a:solidFill>
                <a:latin typeface="Arial Bold"/>
                <a:ea typeface="Arial Bold"/>
                <a:cs typeface="Arial Bold"/>
                <a:sym typeface="Arial Bold"/>
              </a:rPr>
              <a:t>© 2026 University of Southeastern Philippines |</a:t>
            </a:r>
            <a:r>
              <a:rPr lang="en-US" sz="1275">
                <a:solidFill>
                  <a:srgbClr val="3A3A3A"/>
                </a:solidFill>
                <a:latin typeface="Arial"/>
                <a:ea typeface="Arial"/>
                <a:cs typeface="Arial"/>
                <a:sym typeface="Arial"/>
              </a:rPr>
              <a:t> All Rights Reserved. This presentation contains confidential and proprietary information. Photography, video, and audio recording of these materials are prohibited without prior authorization.</a:t>
            </a:r>
          </a:p>
        </p:txBody>
      </p:sp>
      <p:sp>
        <p:nvSpPr>
          <p:cNvPr id="5" name="Title"/>
          <p:cNvSpPr txBox="1"/>
          <p:nvPr/>
        </p:nvSpPr>
        <p:spPr>
          <a:xfrm>
            <a:off x="914400" y="1600200"/>
            <a:ext cx="16459200" cy="914400"/>
          </a:xfrm>
          <a:prstGeom prst="rect">
            <a:avLst/>
          </a:prstGeom>
          <a:noFill/>
        </p:spPr>
        <p:txBody>
          <a:bodyPr wrap="square" lIns="0" rIns="0" tIns="0" bIns="0" anchor="ctr">
            <a:noAutofit/>
          </a:bodyPr>
          <a:lstStyle/>
          <a:p>
            <a:pPr algn="l">
              <a:lnSpc>
                <a:spcPct val="105000"/>
              </a:lnSpc>
              <a:spcAft>
                <a:spcPts val="1000"/>
              </a:spcAft>
            </a:pPr>
            <a:r>
              <a:rPr sz="4800" b="1" i="0">
                <a:solidFill>
                  <a:srgbClr val="7A1916"/>
                </a:solidFill>
                <a:latin typeface="Times New Roman"/>
              </a:rPr>
              <a:t>6. Areas for Further Research: the authors</a:t>
            </a:r>
          </a:p>
        </p:txBody>
      </p:sp>
      <p:sp>
        <p:nvSpPr>
          <p:cNvPr id="6" name="Key message"/>
          <p:cNvSpPr txBox="1"/>
          <p:nvPr/>
        </p:nvSpPr>
        <p:spPr>
          <a:xfrm>
            <a:off x="914400" y="2606040"/>
            <a:ext cx="16459200" cy="822960"/>
          </a:xfrm>
          <a:prstGeom prst="rect">
            <a:avLst/>
          </a:prstGeom>
          <a:noFill/>
        </p:spPr>
        <p:txBody>
          <a:bodyPr wrap="square" lIns="0" rIns="0" tIns="0" bIns="0" anchor="t">
            <a:noAutofit/>
          </a:bodyPr>
          <a:lstStyle/>
          <a:p>
            <a:pPr algn="l">
              <a:lnSpc>
                <a:spcPct val="105000"/>
              </a:lnSpc>
              <a:spcAft>
                <a:spcPts val="1000"/>
              </a:spcAft>
            </a:pPr>
            <a:r>
              <a:rPr sz="2800" b="1" i="1">
                <a:solidFill>
                  <a:srgbClr val="1A1A1A"/>
                </a:solidFill>
                <a:latin typeface="Times New Roman"/>
              </a:rPr>
              <a:t>The authors acknowledge four limitations and call for two lines of work.</a:t>
            </a:r>
          </a:p>
        </p:txBody>
      </p:sp>
      <p:sp>
        <p:nvSpPr>
          <p:cNvPr id="7" name="Points"/>
          <p:cNvSpPr txBox="1"/>
          <p:nvPr/>
        </p:nvSpPr>
        <p:spPr>
          <a:xfrm>
            <a:off x="914400" y="3611880"/>
            <a:ext cx="7680960" cy="4023360"/>
          </a:xfrm>
          <a:prstGeom prst="rect">
            <a:avLst/>
          </a:prstGeom>
          <a:noFill/>
        </p:spPr>
        <p:txBody>
          <a:bodyPr wrap="square" lIns="0" rIns="0" tIns="0" bIns="0" anchor="t">
            <a:noAutofit/>
          </a:bodyPr>
          <a:lstStyle/>
          <a:p>
            <a:pPr algn="l" marL="384048" indent="-384048">
              <a:lnSpc>
                <a:spcPct val="105000"/>
              </a:lnSpc>
              <a:spcAft>
                <a:spcPts val="1400"/>
              </a:spcAft>
              <a:buClr>
                <a:srgbClr val="7A1916"/>
              </a:buClr>
              <a:buFont typeface="Times New Roman"/>
              <a:buChar char="•"/>
            </a:pPr>
            <a:r>
              <a:rPr sz="2400" b="0" i="0">
                <a:solidFill>
                  <a:srgbClr val="1A1A1A"/>
                </a:solidFill>
                <a:latin typeface="Times New Roman"/>
              </a:rPr>
              <a:t>Migration statistics are </a:t>
            </a:r>
            <a:r>
              <a:rPr sz="2400" b="1" i="0">
                <a:solidFill>
                  <a:srgbClr val="7A1916"/>
                </a:solidFill>
                <a:latin typeface="Times New Roman"/>
              </a:rPr>
              <a:t>hard to compile</a:t>
            </a:r>
          </a:p>
          <a:p>
            <a:pPr algn="l" marL="384048" indent="-384048">
              <a:lnSpc>
                <a:spcPct val="105000"/>
              </a:lnSpc>
              <a:spcAft>
                <a:spcPts val="1400"/>
              </a:spcAft>
              <a:buClr>
                <a:srgbClr val="7A1916"/>
              </a:buClr>
              <a:buFont typeface="Times New Roman"/>
              <a:buChar char="•"/>
            </a:pPr>
            <a:r>
              <a:rPr sz="2400" b="0" i="0">
                <a:solidFill>
                  <a:srgbClr val="1A1A1A"/>
                </a:solidFill>
                <a:latin typeface="Times New Roman"/>
              </a:rPr>
              <a:t>Airfare is only the </a:t>
            </a:r>
            <a:r>
              <a:rPr sz="2400" b="1" i="0">
                <a:solidFill>
                  <a:srgbClr val="7A1916"/>
                </a:solidFill>
                <a:latin typeface="Times New Roman"/>
              </a:rPr>
              <a:t>minimum cost</a:t>
            </a:r>
            <a:r>
              <a:rPr sz="2400" b="0" i="0">
                <a:solidFill>
                  <a:srgbClr val="1A1A1A"/>
                </a:solidFill>
                <a:latin typeface="Times New Roman"/>
              </a:rPr>
              <a:t> of migration</a:t>
            </a:r>
          </a:p>
          <a:p>
            <a:pPr algn="l" marL="384048" indent="-384048">
              <a:lnSpc>
                <a:spcPct val="105000"/>
              </a:lnSpc>
              <a:spcAft>
                <a:spcPts val="1400"/>
              </a:spcAft>
              <a:buClr>
                <a:srgbClr val="7A1916"/>
              </a:buClr>
              <a:buFont typeface="Times New Roman"/>
              <a:buChar char="•"/>
            </a:pPr>
            <a:r>
              <a:rPr sz="2400" b="0" i="0">
                <a:solidFill>
                  <a:srgbClr val="1A1A1A"/>
                </a:solidFill>
                <a:latin typeface="Times New Roman"/>
              </a:rPr>
              <a:t>The </a:t>
            </a:r>
            <a:r>
              <a:rPr sz="2400" b="1" i="0">
                <a:solidFill>
                  <a:srgbClr val="7A1916"/>
                </a:solidFill>
                <a:latin typeface="Times New Roman"/>
              </a:rPr>
              <a:t>density result</a:t>
            </a:r>
            <a:r>
              <a:rPr sz="2400" b="0" i="0">
                <a:solidFill>
                  <a:srgbClr val="1A1A1A"/>
                </a:solidFill>
                <a:latin typeface="Times New Roman"/>
              </a:rPr>
              <a:t> needs further research</a:t>
            </a:r>
          </a:p>
          <a:p>
            <a:pPr algn="l" marL="384048" indent="-384048">
              <a:lnSpc>
                <a:spcPct val="105000"/>
              </a:lnSpc>
              <a:spcAft>
                <a:spcPts val="1400"/>
              </a:spcAft>
              <a:buClr>
                <a:srgbClr val="7A1916"/>
              </a:buClr>
              <a:buFont typeface="Times New Roman"/>
              <a:buChar char="•"/>
            </a:pPr>
            <a:r>
              <a:rPr sz="2400" b="0" i="0">
                <a:solidFill>
                  <a:srgbClr val="1A1A1A"/>
                </a:solidFill>
                <a:latin typeface="Times New Roman"/>
              </a:rPr>
              <a:t>Their data do not “</a:t>
            </a:r>
            <a:r>
              <a:rPr sz="2400" b="1" i="0">
                <a:solidFill>
                  <a:srgbClr val="7A1916"/>
                </a:solidFill>
                <a:latin typeface="Times New Roman"/>
              </a:rPr>
              <a:t>permit us to move beyond speculation</a:t>
            </a:r>
            <a:r>
              <a:rPr sz="2400" b="0" i="0">
                <a:solidFill>
                  <a:srgbClr val="1A1A1A"/>
                </a:solidFill>
                <a:latin typeface="Times New Roman"/>
              </a:rPr>
              <a:t>” on political instability (p. 394)</a:t>
            </a:r>
          </a:p>
        </p:txBody>
      </p:sp>
      <p:sp>
        <p:nvSpPr>
          <p:cNvPr id="8" name="authors box"/>
          <p:cNvSpPr/>
          <p:nvPr/>
        </p:nvSpPr>
        <p:spPr>
          <a:xfrm>
            <a:off x="914400" y="7726679"/>
            <a:ext cx="7680960" cy="18288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uthors edge"/>
          <p:cNvSpPr/>
          <p:nvPr/>
        </p:nvSpPr>
        <p:spPr>
          <a:xfrm>
            <a:off x="914400" y="7726679"/>
            <a:ext cx="109728" cy="1828800"/>
          </a:xfrm>
          <a:prstGeom prst="roundRect">
            <a:avLst>
              <a:gd name="adj" fmla="val 0"/>
            </a:avLst>
          </a:prstGeom>
          <a:solidFill>
            <a:srgbClr val="7A19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uthors text"/>
          <p:cNvSpPr txBox="1"/>
          <p:nvPr/>
        </p:nvSpPr>
        <p:spPr>
          <a:xfrm>
            <a:off x="1280160" y="7891271"/>
            <a:ext cx="7132320" cy="1572768"/>
          </a:xfrm>
          <a:prstGeom prst="rect">
            <a:avLst/>
          </a:prstGeom>
          <a:noFill/>
        </p:spPr>
        <p:txBody>
          <a:bodyPr wrap="square" lIns="0" rIns="0" tIns="0" bIns="0" anchor="t">
            <a:noAutofit/>
          </a:bodyPr>
          <a:lstStyle/>
          <a:p>
            <a:pPr algn="l">
              <a:lnSpc>
                <a:spcPct val="105000"/>
              </a:lnSpc>
              <a:spcAft>
                <a:spcPts val="400"/>
              </a:spcAft>
            </a:pPr>
            <a:r>
              <a:rPr sz="2300" b="1" i="0">
                <a:solidFill>
                  <a:srgbClr val="7A1916"/>
                </a:solidFill>
                <a:latin typeface="Times New Roman"/>
              </a:rPr>
              <a:t>The authors call for</a:t>
            </a:r>
          </a:p>
          <a:p>
            <a:pPr algn="l">
              <a:lnSpc>
                <a:spcPct val="105000"/>
              </a:lnSpc>
              <a:spcAft>
                <a:spcPts val="500"/>
              </a:spcAft>
            </a:pPr>
            <a:r>
              <a:rPr sz="2400" b="0" i="0">
                <a:solidFill>
                  <a:srgbClr val="1A1A1A"/>
                </a:solidFill>
                <a:latin typeface="Times New Roman"/>
              </a:rPr>
              <a:t>Call for: </a:t>
            </a:r>
            <a:r>
              <a:rPr sz="2400" b="1" i="0">
                <a:solidFill>
                  <a:srgbClr val="7A1916"/>
                </a:solidFill>
                <a:latin typeface="Times New Roman"/>
              </a:rPr>
              <a:t>explaining the density effect</a:t>
            </a:r>
            <a:r>
              <a:rPr sz="2400" b="0" i="0">
                <a:solidFill>
                  <a:srgbClr val="1A1A1A"/>
                </a:solidFill>
                <a:latin typeface="Times New Roman"/>
              </a:rPr>
              <a:t> and </a:t>
            </a:r>
            <a:r>
              <a:rPr sz="2400" b="1" i="0">
                <a:solidFill>
                  <a:srgbClr val="7A1916"/>
                </a:solidFill>
                <a:latin typeface="Times New Roman"/>
              </a:rPr>
              <a:t>better monitoring</a:t>
            </a:r>
            <a:r>
              <a:rPr sz="2400" b="0" i="0">
                <a:solidFill>
                  <a:srgbClr val="1A1A1A"/>
                </a:solidFill>
                <a:latin typeface="Times New Roman"/>
              </a:rPr>
              <a:t> of migration statistics.</a:t>
            </a:r>
          </a:p>
        </p:txBody>
      </p:sp>
      <p:sp>
        <p:nvSpPr>
          <p:cNvPr id="11" name="Evidence label"/>
          <p:cNvSpPr txBox="1"/>
          <p:nvPr/>
        </p:nvSpPr>
        <p:spPr>
          <a:xfrm>
            <a:off x="9601200" y="3611880"/>
            <a:ext cx="7772400" cy="365760"/>
          </a:xfrm>
          <a:prstGeom prst="rect">
            <a:avLst/>
          </a:prstGeom>
          <a:noFill/>
        </p:spPr>
        <p:txBody>
          <a:bodyPr wrap="square" lIns="0" rIns="0" tIns="0" bIns="0" anchor="t">
            <a:noAutofit/>
          </a:bodyPr>
          <a:lstStyle/>
          <a:p>
            <a:pPr algn="l">
              <a:lnSpc>
                <a:spcPct val="105000"/>
              </a:lnSpc>
              <a:spcAft>
                <a:spcPts val="1000"/>
              </a:spcAft>
            </a:pPr>
            <a:r>
              <a:rPr sz="1900" b="1" i="1">
                <a:solidFill>
                  <a:srgbClr val="595959"/>
                </a:solidFill>
                <a:latin typeface="Times New Roman"/>
              </a:rPr>
              <a:t>Evidence from the article (highlighted)</a:t>
            </a:r>
          </a:p>
        </p:txBody>
      </p:sp>
      <p:pic>
        <p:nvPicPr>
          <p:cNvPr id="12" name="Excerpt fr_problems" descr="fr_problems.png"/>
          <p:cNvPicPr>
            <a:picLocks noChangeAspect="1"/>
          </p:cNvPicPr>
          <p:nvPr/>
        </p:nvPicPr>
        <p:blipFill>
          <a:blip r:embed="rId2"/>
          <a:stretch>
            <a:fillRect/>
          </a:stretch>
        </p:blipFill>
        <p:spPr>
          <a:xfrm>
            <a:off x="9601200" y="4023360"/>
            <a:ext cx="7772400" cy="638083"/>
          </a:xfrm>
          <a:prstGeom prst="rect">
            <a:avLst/>
          </a:prstGeom>
        </p:spPr>
      </p:pic>
      <p:sp>
        <p:nvSpPr>
          <p:cNvPr id="13" name="Caption fr_problems"/>
          <p:cNvSpPr txBox="1"/>
          <p:nvPr/>
        </p:nvSpPr>
        <p:spPr>
          <a:xfrm>
            <a:off x="9601200" y="4679731"/>
            <a:ext cx="7772400" cy="292608"/>
          </a:xfrm>
          <a:prstGeom prst="rect">
            <a:avLst/>
          </a:prstGeom>
          <a:noFill/>
        </p:spPr>
        <p:txBody>
          <a:bodyPr wrap="square" lIns="0" rIns="0" tIns="0" bIns="0" anchor="t">
            <a:noAutofit/>
          </a:bodyPr>
          <a:lstStyle/>
          <a:p>
            <a:pPr algn="r">
              <a:lnSpc>
                <a:spcPct val="105000"/>
              </a:lnSpc>
              <a:spcAft>
                <a:spcPts val="1000"/>
              </a:spcAft>
            </a:pPr>
            <a:r>
              <a:rPr sz="1700" b="0" i="1">
                <a:solidFill>
                  <a:srgbClr val="595959"/>
                </a:solidFill>
                <a:latin typeface="Times New Roman"/>
              </a:rPr>
              <a:t>Statistics are hard to compile (Agbola &amp; Acupan, 2010, p. 391)</a:t>
            </a:r>
          </a:p>
        </p:txBody>
      </p:sp>
      <p:pic>
        <p:nvPicPr>
          <p:cNvPr id="14" name="Excerpt fr_airfare" descr="fr_airfare.png"/>
          <p:cNvPicPr>
            <a:picLocks noChangeAspect="1"/>
          </p:cNvPicPr>
          <p:nvPr/>
        </p:nvPicPr>
        <p:blipFill>
          <a:blip r:embed="rId4"/>
          <a:stretch>
            <a:fillRect/>
          </a:stretch>
        </p:blipFill>
        <p:spPr>
          <a:xfrm>
            <a:off x="9601200" y="5045491"/>
            <a:ext cx="7772400" cy="1038583"/>
          </a:xfrm>
          <a:prstGeom prst="rect">
            <a:avLst/>
          </a:prstGeom>
        </p:spPr>
      </p:pic>
      <p:sp>
        <p:nvSpPr>
          <p:cNvPr id="15" name="Caption fr_airfare"/>
          <p:cNvSpPr txBox="1"/>
          <p:nvPr/>
        </p:nvSpPr>
        <p:spPr>
          <a:xfrm>
            <a:off x="9601200" y="6102362"/>
            <a:ext cx="7772400" cy="292608"/>
          </a:xfrm>
          <a:prstGeom prst="rect">
            <a:avLst/>
          </a:prstGeom>
          <a:noFill/>
        </p:spPr>
        <p:txBody>
          <a:bodyPr wrap="square" lIns="0" rIns="0" tIns="0" bIns="0" anchor="t">
            <a:noAutofit/>
          </a:bodyPr>
          <a:lstStyle/>
          <a:p>
            <a:pPr algn="r">
              <a:lnSpc>
                <a:spcPct val="105000"/>
              </a:lnSpc>
              <a:spcAft>
                <a:spcPts val="1000"/>
              </a:spcAft>
            </a:pPr>
            <a:r>
              <a:rPr sz="1700" b="0" i="1">
                <a:solidFill>
                  <a:srgbClr val="595959"/>
                </a:solidFill>
                <a:latin typeface="Times New Roman"/>
              </a:rPr>
              <a:t>Airfare = minimum cost (Agbola &amp; Acupan, 2010, p. 392)</a:t>
            </a:r>
          </a:p>
        </p:txBody>
      </p:sp>
      <p:pic>
        <p:nvPicPr>
          <p:cNvPr id="16" name="Excerpt fr_density" descr="fr_density.png"/>
          <p:cNvPicPr>
            <a:picLocks noChangeAspect="1"/>
          </p:cNvPicPr>
          <p:nvPr/>
        </p:nvPicPr>
        <p:blipFill>
          <a:blip r:embed="rId5"/>
          <a:stretch>
            <a:fillRect/>
          </a:stretch>
        </p:blipFill>
        <p:spPr>
          <a:xfrm>
            <a:off x="9601200" y="6468122"/>
            <a:ext cx="7772400" cy="841727"/>
          </a:xfrm>
          <a:prstGeom prst="rect">
            <a:avLst/>
          </a:prstGeom>
        </p:spPr>
      </p:pic>
      <p:sp>
        <p:nvSpPr>
          <p:cNvPr id="17" name="Caption fr_density"/>
          <p:cNvSpPr txBox="1"/>
          <p:nvPr/>
        </p:nvSpPr>
        <p:spPr>
          <a:xfrm>
            <a:off x="9601200" y="7328137"/>
            <a:ext cx="7772400" cy="292608"/>
          </a:xfrm>
          <a:prstGeom prst="rect">
            <a:avLst/>
          </a:prstGeom>
          <a:noFill/>
        </p:spPr>
        <p:txBody>
          <a:bodyPr wrap="square" lIns="0" rIns="0" tIns="0" bIns="0" anchor="t">
            <a:noAutofit/>
          </a:bodyPr>
          <a:lstStyle/>
          <a:p>
            <a:pPr algn="r">
              <a:lnSpc>
                <a:spcPct val="105000"/>
              </a:lnSpc>
              <a:spcAft>
                <a:spcPts val="1000"/>
              </a:spcAft>
            </a:pPr>
            <a:r>
              <a:rPr sz="1700" b="0" i="1">
                <a:solidFill>
                  <a:srgbClr val="595959"/>
                </a:solidFill>
                <a:latin typeface="Times New Roman"/>
              </a:rPr>
              <a:t>Density: further research warranted (Agbola &amp; Acupan, 2010, p. 393)</a:t>
            </a:r>
          </a:p>
        </p:txBody>
      </p:sp>
      <p:pic>
        <p:nvPicPr>
          <p:cNvPr id="18" name="Excerpt fr_instab" descr="fr_instab.png"/>
          <p:cNvPicPr>
            <a:picLocks noChangeAspect="1"/>
          </p:cNvPicPr>
          <p:nvPr/>
        </p:nvPicPr>
        <p:blipFill>
          <a:blip r:embed="rId6"/>
          <a:stretch>
            <a:fillRect/>
          </a:stretch>
        </p:blipFill>
        <p:spPr>
          <a:xfrm>
            <a:off x="9601200" y="7693897"/>
            <a:ext cx="7772400" cy="441228"/>
          </a:xfrm>
          <a:prstGeom prst="rect">
            <a:avLst/>
          </a:prstGeom>
        </p:spPr>
      </p:pic>
      <p:sp>
        <p:nvSpPr>
          <p:cNvPr id="19" name="Caption fr_instab"/>
          <p:cNvSpPr txBox="1"/>
          <p:nvPr/>
        </p:nvSpPr>
        <p:spPr>
          <a:xfrm>
            <a:off x="9601200" y="8153413"/>
            <a:ext cx="7772400" cy="292608"/>
          </a:xfrm>
          <a:prstGeom prst="rect">
            <a:avLst/>
          </a:prstGeom>
          <a:noFill/>
        </p:spPr>
        <p:txBody>
          <a:bodyPr wrap="square" lIns="0" rIns="0" tIns="0" bIns="0" anchor="t">
            <a:noAutofit/>
          </a:bodyPr>
          <a:lstStyle/>
          <a:p>
            <a:pPr algn="r">
              <a:lnSpc>
                <a:spcPct val="105000"/>
              </a:lnSpc>
              <a:spcAft>
                <a:spcPts val="1000"/>
              </a:spcAft>
            </a:pPr>
            <a:r>
              <a:rPr sz="1700" b="0" i="1">
                <a:solidFill>
                  <a:srgbClr val="595959"/>
                </a:solidFill>
                <a:latin typeface="Times New Roman"/>
              </a:rPr>
              <a:t>Instability: beyond speculation (Agbola &amp; Acupan, 2010, p. 394)</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17" b="0"/>
              </a:stretch>
            </a:blipFill>
          </p:spPr>
        </p:sp>
      </p:grpSp>
      <p:sp>
        <p:nvSpPr>
          <p:cNvPr name="TextBox 4" id="4"/>
          <p:cNvSpPr txBox="true"/>
          <p:nvPr/>
        </p:nvSpPr>
        <p:spPr>
          <a:xfrm rot="0">
            <a:off x="91421" y="9983057"/>
            <a:ext cx="17981581" cy="369456"/>
          </a:xfrm>
          <a:prstGeom prst="rect">
            <a:avLst/>
          </a:prstGeom>
        </p:spPr>
        <p:txBody>
          <a:bodyPr anchor="t" rtlCol="false" tIns="0" lIns="0" bIns="0" rIns="0">
            <a:spAutoFit/>
          </a:bodyPr>
          <a:lstStyle/>
          <a:p>
            <a:pPr algn="ctr">
              <a:lnSpc>
                <a:spcPts val="1377"/>
              </a:lnSpc>
            </a:pPr>
            <a:r>
              <a:rPr lang="en-US" b="true" sz="1275">
                <a:solidFill>
                  <a:srgbClr val="3A3A3A"/>
                </a:solidFill>
                <a:latin typeface="Arial Bold"/>
                <a:ea typeface="Arial Bold"/>
                <a:cs typeface="Arial Bold"/>
                <a:sym typeface="Arial Bold"/>
              </a:rPr>
              <a:t>© 2026 University of Southeastern Philippines |</a:t>
            </a:r>
            <a:r>
              <a:rPr lang="en-US" sz="1275">
                <a:solidFill>
                  <a:srgbClr val="3A3A3A"/>
                </a:solidFill>
                <a:latin typeface="Arial"/>
                <a:ea typeface="Arial"/>
                <a:cs typeface="Arial"/>
                <a:sym typeface="Arial"/>
              </a:rPr>
              <a:t> All Rights Reserved. This presentation contains confidential and proprietary information. Photography, video, and audio recording of these materials are prohibited without prior authorization.</a:t>
            </a:r>
          </a:p>
        </p:txBody>
      </p:sp>
      <p:sp>
        <p:nvSpPr>
          <p:cNvPr id="5" name="Title"/>
          <p:cNvSpPr txBox="1"/>
          <p:nvPr/>
        </p:nvSpPr>
        <p:spPr>
          <a:xfrm>
            <a:off x="914400" y="1600200"/>
            <a:ext cx="16459200" cy="914400"/>
          </a:xfrm>
          <a:prstGeom prst="rect">
            <a:avLst/>
          </a:prstGeom>
          <a:noFill/>
        </p:spPr>
        <p:txBody>
          <a:bodyPr wrap="square" lIns="0" rIns="0" tIns="0" bIns="0" anchor="ctr">
            <a:noAutofit/>
          </a:bodyPr>
          <a:lstStyle/>
          <a:p>
            <a:pPr algn="l">
              <a:lnSpc>
                <a:spcPct val="105000"/>
              </a:lnSpc>
              <a:spcAft>
                <a:spcPts val="1000"/>
              </a:spcAft>
            </a:pPr>
            <a:r>
              <a:rPr sz="4800" b="1" i="0">
                <a:solidFill>
                  <a:srgbClr val="7A1916"/>
                </a:solidFill>
                <a:latin typeface="Times New Roman"/>
              </a:rPr>
              <a:t>6. Areas for Further Research: my suggestions</a:t>
            </a:r>
          </a:p>
        </p:txBody>
      </p:sp>
      <p:sp>
        <p:nvSpPr>
          <p:cNvPr id="6" name="Key message"/>
          <p:cNvSpPr txBox="1"/>
          <p:nvPr/>
        </p:nvSpPr>
        <p:spPr>
          <a:xfrm>
            <a:off x="914400" y="2606040"/>
            <a:ext cx="16459200" cy="822960"/>
          </a:xfrm>
          <a:prstGeom prst="rect">
            <a:avLst/>
          </a:prstGeom>
          <a:noFill/>
        </p:spPr>
        <p:txBody>
          <a:bodyPr wrap="square" lIns="0" rIns="0" tIns="0" bIns="0" anchor="t">
            <a:noAutofit/>
          </a:bodyPr>
          <a:lstStyle/>
          <a:p>
            <a:pPr algn="l">
              <a:lnSpc>
                <a:spcPct val="105000"/>
              </a:lnSpc>
              <a:spcAft>
                <a:spcPts val="1000"/>
              </a:spcAft>
            </a:pPr>
            <a:r>
              <a:rPr sz="2800" b="1" i="1">
                <a:solidFill>
                  <a:srgbClr val="1A1A1A"/>
                </a:solidFill>
                <a:latin typeface="Times New Roman"/>
              </a:rPr>
              <a:t>Four further directions, each rooted in a feature of the study.</a:t>
            </a:r>
          </a:p>
        </p:txBody>
      </p:sp>
      <p:sp>
        <p:nvSpPr>
          <p:cNvPr id="7" name="suggest box"/>
          <p:cNvSpPr/>
          <p:nvPr/>
        </p:nvSpPr>
        <p:spPr>
          <a:xfrm>
            <a:off x="914400" y="3611880"/>
            <a:ext cx="8092440" cy="1417320"/>
          </a:xfrm>
          <a:prstGeom prst="roundRect">
            <a:avLst>
              <a:gd name="adj" fmla="val 4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uggest edge"/>
          <p:cNvSpPr/>
          <p:nvPr/>
        </p:nvSpPr>
        <p:spPr>
          <a:xfrm>
            <a:off x="914400" y="3611880"/>
            <a:ext cx="109728" cy="1417320"/>
          </a:xfrm>
          <a:prstGeom prst="roundRect">
            <a:avLst>
              <a:gd name="adj" fmla="val 0"/>
            </a:avLst>
          </a:prstGeom>
          <a:solidFill>
            <a:srgbClr val="1F4E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uggest text"/>
          <p:cNvSpPr txBox="1"/>
          <p:nvPr/>
        </p:nvSpPr>
        <p:spPr>
          <a:xfrm>
            <a:off x="1280160" y="3776472"/>
            <a:ext cx="7543800" cy="1161288"/>
          </a:xfrm>
          <a:prstGeom prst="rect">
            <a:avLst/>
          </a:prstGeom>
          <a:noFill/>
        </p:spPr>
        <p:txBody>
          <a:bodyPr wrap="square" lIns="0" rIns="0" tIns="0" bIns="0" anchor="t">
            <a:noAutofit/>
          </a:bodyPr>
          <a:lstStyle/>
          <a:p>
            <a:pPr algn="l">
              <a:lnSpc>
                <a:spcPct val="105000"/>
              </a:lnSpc>
              <a:spcAft>
                <a:spcPts val="400"/>
              </a:spcAft>
            </a:pPr>
            <a:r>
              <a:rPr sz="2300" b="1" i="0">
                <a:solidFill>
                  <a:srgbClr val="1F4E9A"/>
                </a:solidFill>
                <a:latin typeface="Times New Roman"/>
              </a:rPr>
              <a:t>(i) Disaggregate the migration share by type</a:t>
            </a:r>
          </a:p>
          <a:p>
            <a:pPr algn="l">
              <a:lnSpc>
                <a:spcPct val="105000"/>
              </a:lnSpc>
              <a:spcAft>
                <a:spcPts val="500"/>
              </a:spcAft>
            </a:pPr>
            <a:r>
              <a:rPr sz="2200" b="0" i="1">
                <a:solidFill>
                  <a:srgbClr val="1A1A1A"/>
                </a:solidFill>
                <a:latin typeface="Times New Roman"/>
              </a:rPr>
              <a:t>Why:</a:t>
            </a:r>
            <a:r>
              <a:rPr sz="2200" b="0" i="0">
                <a:solidFill>
                  <a:srgbClr val="1A1A1A"/>
                </a:solidFill>
                <a:latin typeface="Times New Roman"/>
              </a:rPr>
              <a:t> temporary vs. permanent are pooled</a:t>
            </a:r>
          </a:p>
        </p:txBody>
      </p:sp>
      <p:pic>
        <p:nvPicPr>
          <p:cNvPr id="10" name="Excerpt da_sources" descr="da_sources.png"/>
          <p:cNvPicPr>
            <a:picLocks noChangeAspect="1"/>
          </p:cNvPicPr>
          <p:nvPr/>
        </p:nvPicPr>
        <p:blipFill>
          <a:blip r:embed="rId2"/>
          <a:stretch>
            <a:fillRect/>
          </a:stretch>
        </p:blipFill>
        <p:spPr>
          <a:xfrm>
            <a:off x="1797843" y="5093208"/>
            <a:ext cx="6325552" cy="1325880"/>
          </a:xfrm>
          <a:prstGeom prst="rect">
            <a:avLst/>
          </a:prstGeom>
        </p:spPr>
      </p:pic>
      <p:sp>
        <p:nvSpPr>
          <p:cNvPr id="11" name="suggest box"/>
          <p:cNvSpPr/>
          <p:nvPr/>
        </p:nvSpPr>
        <p:spPr>
          <a:xfrm>
            <a:off x="9281160" y="3611880"/>
            <a:ext cx="8092440" cy="1417320"/>
          </a:xfrm>
          <a:prstGeom prst="roundRect">
            <a:avLst>
              <a:gd name="adj" fmla="val 4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uggest edge"/>
          <p:cNvSpPr/>
          <p:nvPr/>
        </p:nvSpPr>
        <p:spPr>
          <a:xfrm>
            <a:off x="9281160" y="3611880"/>
            <a:ext cx="109728" cy="1417320"/>
          </a:xfrm>
          <a:prstGeom prst="roundRect">
            <a:avLst>
              <a:gd name="adj" fmla="val 0"/>
            </a:avLst>
          </a:prstGeom>
          <a:solidFill>
            <a:srgbClr val="1F4E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uggest text"/>
          <p:cNvSpPr txBox="1"/>
          <p:nvPr/>
        </p:nvSpPr>
        <p:spPr>
          <a:xfrm>
            <a:off x="9646920" y="3776472"/>
            <a:ext cx="7543800" cy="1161288"/>
          </a:xfrm>
          <a:prstGeom prst="rect">
            <a:avLst/>
          </a:prstGeom>
          <a:noFill/>
        </p:spPr>
        <p:txBody>
          <a:bodyPr wrap="square" lIns="0" rIns="0" tIns="0" bIns="0" anchor="t">
            <a:noAutofit/>
          </a:bodyPr>
          <a:lstStyle/>
          <a:p>
            <a:pPr algn="l">
              <a:lnSpc>
                <a:spcPct val="105000"/>
              </a:lnSpc>
              <a:spcAft>
                <a:spcPts val="400"/>
              </a:spcAft>
            </a:pPr>
            <a:r>
              <a:rPr sz="2300" b="1" i="0">
                <a:solidFill>
                  <a:srgbClr val="1F4E9A"/>
                </a:solidFill>
                <a:latin typeface="Times New Roman"/>
              </a:rPr>
              <a:t>(ii) Add pull factors</a:t>
            </a:r>
          </a:p>
          <a:p>
            <a:pPr algn="l">
              <a:lnSpc>
                <a:spcPct val="105000"/>
              </a:lnSpc>
              <a:spcAft>
                <a:spcPts val="500"/>
              </a:spcAft>
            </a:pPr>
            <a:r>
              <a:rPr sz="2200" b="0" i="1">
                <a:solidFill>
                  <a:srgbClr val="1A1A1A"/>
                </a:solidFill>
                <a:latin typeface="Times New Roman"/>
              </a:rPr>
              <a:t>Why:</a:t>
            </a:r>
            <a:r>
              <a:rPr sz="2200" b="0" i="0">
                <a:solidFill>
                  <a:srgbClr val="1A1A1A"/>
                </a:solidFill>
                <a:latin typeface="Times New Roman"/>
              </a:rPr>
              <a:t> destination wages and labor demand; the model uses domestic factors only</a:t>
            </a:r>
          </a:p>
        </p:txBody>
      </p:sp>
      <p:pic>
        <p:nvPicPr>
          <p:cNvPr id="14" name="Excerpt th_gravity" descr="th_gravity.png"/>
          <p:cNvPicPr>
            <a:picLocks noChangeAspect="1"/>
          </p:cNvPicPr>
          <p:nvPr/>
        </p:nvPicPr>
        <p:blipFill>
          <a:blip r:embed="rId4"/>
          <a:stretch>
            <a:fillRect/>
          </a:stretch>
        </p:blipFill>
        <p:spPr>
          <a:xfrm>
            <a:off x="10894475" y="5093208"/>
            <a:ext cx="4865809" cy="1325880"/>
          </a:xfrm>
          <a:prstGeom prst="rect">
            <a:avLst/>
          </a:prstGeom>
        </p:spPr>
      </p:pic>
      <p:sp>
        <p:nvSpPr>
          <p:cNvPr id="15" name="suggest box"/>
          <p:cNvSpPr/>
          <p:nvPr/>
        </p:nvSpPr>
        <p:spPr>
          <a:xfrm>
            <a:off x="914400" y="6629400"/>
            <a:ext cx="8092440" cy="1417320"/>
          </a:xfrm>
          <a:prstGeom prst="roundRect">
            <a:avLst>
              <a:gd name="adj" fmla="val 4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uggest edge"/>
          <p:cNvSpPr/>
          <p:nvPr/>
        </p:nvSpPr>
        <p:spPr>
          <a:xfrm>
            <a:off x="914400" y="6629400"/>
            <a:ext cx="109728" cy="1417320"/>
          </a:xfrm>
          <a:prstGeom prst="roundRect">
            <a:avLst>
              <a:gd name="adj" fmla="val 0"/>
            </a:avLst>
          </a:prstGeom>
          <a:solidFill>
            <a:srgbClr val="1F4E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uggest text"/>
          <p:cNvSpPr txBox="1"/>
          <p:nvPr/>
        </p:nvSpPr>
        <p:spPr>
          <a:xfrm>
            <a:off x="1280160" y="6793992"/>
            <a:ext cx="7543800" cy="1161288"/>
          </a:xfrm>
          <a:prstGeom prst="rect">
            <a:avLst/>
          </a:prstGeom>
          <a:noFill/>
        </p:spPr>
        <p:txBody>
          <a:bodyPr wrap="square" lIns="0" rIns="0" tIns="0" bIns="0" anchor="t">
            <a:noAutofit/>
          </a:bodyPr>
          <a:lstStyle/>
          <a:p>
            <a:pPr algn="l">
              <a:lnSpc>
                <a:spcPct val="105000"/>
              </a:lnSpc>
              <a:spcAft>
                <a:spcPts val="400"/>
              </a:spcAft>
            </a:pPr>
            <a:r>
              <a:rPr sz="2300" b="1" i="0">
                <a:solidFill>
                  <a:srgbClr val="1F4E9A"/>
                </a:solidFill>
                <a:latin typeface="Times New Roman"/>
              </a:rPr>
              <a:t>(iii) Extend the sample past 2005</a:t>
            </a:r>
          </a:p>
          <a:p>
            <a:pPr algn="l">
              <a:lnSpc>
                <a:spcPct val="105000"/>
              </a:lnSpc>
              <a:spcAft>
                <a:spcPts val="500"/>
              </a:spcAft>
            </a:pPr>
            <a:r>
              <a:rPr sz="2200" b="0" i="1">
                <a:solidFill>
                  <a:srgbClr val="1A1A1A"/>
                </a:solidFill>
                <a:latin typeface="Times New Roman"/>
              </a:rPr>
              <a:t>Why:</a:t>
            </a:r>
            <a:r>
              <a:rPr sz="2200" b="0" i="0">
                <a:solidFill>
                  <a:srgbClr val="1A1A1A"/>
                </a:solidFill>
                <a:latin typeface="Times New Roman"/>
              </a:rPr>
              <a:t> the data stop in 2005 (T = 31)</a:t>
            </a:r>
          </a:p>
        </p:txBody>
      </p:sp>
      <p:pic>
        <p:nvPicPr>
          <p:cNvPr id="18" name="Excerpt me_sample" descr="me_sample.png"/>
          <p:cNvPicPr>
            <a:picLocks noChangeAspect="1"/>
          </p:cNvPicPr>
          <p:nvPr/>
        </p:nvPicPr>
        <p:blipFill>
          <a:blip r:embed="rId5"/>
          <a:stretch>
            <a:fillRect/>
          </a:stretch>
        </p:blipFill>
        <p:spPr>
          <a:xfrm>
            <a:off x="914400" y="8110728"/>
            <a:ext cx="8092440" cy="459396"/>
          </a:xfrm>
          <a:prstGeom prst="rect">
            <a:avLst/>
          </a:prstGeom>
        </p:spPr>
      </p:pic>
      <p:sp>
        <p:nvSpPr>
          <p:cNvPr id="19" name="suggest box"/>
          <p:cNvSpPr/>
          <p:nvPr/>
        </p:nvSpPr>
        <p:spPr>
          <a:xfrm>
            <a:off x="9281160" y="6629400"/>
            <a:ext cx="8092440" cy="1417320"/>
          </a:xfrm>
          <a:prstGeom prst="roundRect">
            <a:avLst>
              <a:gd name="adj" fmla="val 4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uggest edge"/>
          <p:cNvSpPr/>
          <p:nvPr/>
        </p:nvSpPr>
        <p:spPr>
          <a:xfrm>
            <a:off x="9281160" y="6629400"/>
            <a:ext cx="109728" cy="1417320"/>
          </a:xfrm>
          <a:prstGeom prst="roundRect">
            <a:avLst>
              <a:gd name="adj" fmla="val 0"/>
            </a:avLst>
          </a:prstGeom>
          <a:solidFill>
            <a:srgbClr val="1F4E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uggest text"/>
          <p:cNvSpPr txBox="1"/>
          <p:nvPr/>
        </p:nvSpPr>
        <p:spPr>
          <a:xfrm>
            <a:off x="9646920" y="6793992"/>
            <a:ext cx="7543800" cy="1161288"/>
          </a:xfrm>
          <a:prstGeom prst="rect">
            <a:avLst/>
          </a:prstGeom>
          <a:noFill/>
        </p:spPr>
        <p:txBody>
          <a:bodyPr wrap="square" lIns="0" rIns="0" tIns="0" bIns="0" anchor="t">
            <a:noAutofit/>
          </a:bodyPr>
          <a:lstStyle/>
          <a:p>
            <a:pPr algn="l">
              <a:lnSpc>
                <a:spcPct val="105000"/>
              </a:lnSpc>
              <a:spcAft>
                <a:spcPts val="400"/>
              </a:spcAft>
            </a:pPr>
            <a:r>
              <a:rPr sz="2300" b="1" i="0">
                <a:solidFill>
                  <a:srgbClr val="1F4E9A"/>
                </a:solidFill>
                <a:latin typeface="Times New Roman"/>
              </a:rPr>
              <a:t>(iv) Test structural breaks</a:t>
            </a:r>
          </a:p>
          <a:p>
            <a:pPr algn="l">
              <a:lnSpc>
                <a:spcPct val="105000"/>
              </a:lnSpc>
              <a:spcAft>
                <a:spcPts val="500"/>
              </a:spcAft>
            </a:pPr>
            <a:r>
              <a:rPr sz="2200" b="0" i="1">
                <a:solidFill>
                  <a:srgbClr val="1A1A1A"/>
                </a:solidFill>
                <a:latin typeface="Times New Roman"/>
              </a:rPr>
              <a:t>Why:</a:t>
            </a:r>
            <a:r>
              <a:rPr sz="2200" b="0" i="0">
                <a:solidFill>
                  <a:srgbClr val="1A1A1A"/>
                </a:solidFill>
                <a:latin typeface="Times New Roman"/>
              </a:rPr>
              <a:t> stability is checked with CUSUM only</a:t>
            </a:r>
          </a:p>
        </p:txBody>
      </p:sp>
      <p:pic>
        <p:nvPicPr>
          <p:cNvPr id="22" name="Excerpt me_cusum" descr="me_cusum.png"/>
          <p:cNvPicPr>
            <a:picLocks noChangeAspect="1"/>
          </p:cNvPicPr>
          <p:nvPr/>
        </p:nvPicPr>
        <p:blipFill>
          <a:blip r:embed="rId6"/>
          <a:stretch>
            <a:fillRect/>
          </a:stretch>
        </p:blipFill>
        <p:spPr>
          <a:xfrm>
            <a:off x="9281160" y="8110728"/>
            <a:ext cx="8092440" cy="466464"/>
          </a:xfrm>
          <a:prstGeom prst="rect">
            <a:avLst/>
          </a:prstGeom>
        </p:spPr>
      </p:pic>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17" b="0"/>
              </a:stretch>
            </a:blipFill>
          </p:spPr>
        </p:sp>
      </p:grpSp>
      <p:sp>
        <p:nvSpPr>
          <p:cNvPr name="TextBox 4" id="4"/>
          <p:cNvSpPr txBox="true"/>
          <p:nvPr/>
        </p:nvSpPr>
        <p:spPr>
          <a:xfrm rot="0">
            <a:off x="91421" y="9983057"/>
            <a:ext cx="17981581" cy="369456"/>
          </a:xfrm>
          <a:prstGeom prst="rect">
            <a:avLst/>
          </a:prstGeom>
        </p:spPr>
        <p:txBody>
          <a:bodyPr anchor="t" rtlCol="false" tIns="0" lIns="0" bIns="0" rIns="0">
            <a:spAutoFit/>
          </a:bodyPr>
          <a:lstStyle/>
          <a:p>
            <a:pPr algn="ctr">
              <a:lnSpc>
                <a:spcPts val="1377"/>
              </a:lnSpc>
            </a:pPr>
            <a:r>
              <a:rPr lang="en-US" b="true" sz="1275">
                <a:solidFill>
                  <a:srgbClr val="FFFFFF"/>
                </a:solidFill>
                <a:latin typeface="Arial Bold"/>
                <a:ea typeface="Arial Bold"/>
                <a:cs typeface="Arial Bold"/>
                <a:sym typeface="Arial Bold"/>
              </a:rPr>
              <a:t>© 2026 University of Southeastern Philippines |</a:t>
            </a:r>
            <a:r>
              <a:rPr lang="en-US" sz="1275">
                <a:solidFill>
                  <a:srgbClr val="FFFFFF"/>
                </a:solidFill>
                <a:latin typeface="Arial"/>
                <a:ea typeface="Arial"/>
                <a:cs typeface="Arial"/>
                <a:sym typeface="Arial"/>
              </a:rPr>
              <a:t> All Rights Reserved. This presentation contains confidential and proprietary information. Photography, video, and audio recording of these materials are prohibited without prior authorization.</a:t>
            </a:r>
          </a:p>
        </p:txBody>
      </p:sp>
      <p:sp>
        <p:nvSpPr>
          <p:cNvPr id="5" name="Kicker"/>
          <p:cNvSpPr txBox="1"/>
          <p:nvPr/>
        </p:nvSpPr>
        <p:spPr>
          <a:xfrm>
            <a:off x="1371600" y="1828800"/>
            <a:ext cx="15544800" cy="822960"/>
          </a:xfrm>
          <a:prstGeom prst="rect">
            <a:avLst/>
          </a:prstGeom>
          <a:noFill/>
        </p:spPr>
        <p:txBody>
          <a:bodyPr wrap="square" lIns="0" rIns="0" tIns="0" bIns="0" anchor="t">
            <a:noAutofit/>
          </a:bodyPr>
          <a:lstStyle/>
          <a:p>
            <a:pPr algn="l">
              <a:lnSpc>
                <a:spcPct val="105000"/>
              </a:lnSpc>
              <a:spcAft>
                <a:spcPts val="1000"/>
              </a:spcAft>
            </a:pPr>
            <a:r>
              <a:rPr sz="3400" b="1" i="0">
                <a:solidFill>
                  <a:srgbClr val="F2C14E"/>
                </a:solidFill>
                <a:latin typeface="Times New Roman"/>
              </a:rPr>
              <a:t>Conclusion</a:t>
            </a:r>
          </a:p>
        </p:txBody>
      </p:sp>
      <p:sp>
        <p:nvSpPr>
          <p:cNvPr id="6" name="Title"/>
          <p:cNvSpPr txBox="1"/>
          <p:nvPr/>
        </p:nvSpPr>
        <p:spPr>
          <a:xfrm>
            <a:off x="1371600" y="2697480"/>
            <a:ext cx="15544800" cy="2743200"/>
          </a:xfrm>
          <a:prstGeom prst="rect">
            <a:avLst/>
          </a:prstGeom>
          <a:noFill/>
        </p:spPr>
        <p:txBody>
          <a:bodyPr wrap="square" lIns="0" rIns="0" tIns="0" bIns="0" anchor="t">
            <a:noAutofit/>
          </a:bodyPr>
          <a:lstStyle/>
          <a:p>
            <a:pPr algn="l">
              <a:lnSpc>
                <a:spcPct val="105000"/>
              </a:lnSpc>
              <a:spcAft>
                <a:spcPts val="1000"/>
              </a:spcAft>
            </a:pPr>
            <a:r>
              <a:rPr sz="4200" b="1" i="0">
                <a:solidFill>
                  <a:srgbClr val="FFFFFF"/>
                </a:solidFill>
                <a:latin typeface="Times New Roman"/>
              </a:rPr>
              <a:t>Domestic push factors such as unemployment, adult literacy, political instability and population density shape Filipino emigration.</a:t>
            </a:r>
          </a:p>
        </p:txBody>
      </p:sp>
      <p:sp>
        <p:nvSpPr>
          <p:cNvPr id="7" name="Conclusion text"/>
          <p:cNvSpPr txBox="1"/>
          <p:nvPr/>
        </p:nvSpPr>
        <p:spPr>
          <a:xfrm>
            <a:off x="1371600" y="5760720"/>
            <a:ext cx="15544800" cy="3474720"/>
          </a:xfrm>
          <a:prstGeom prst="rect">
            <a:avLst/>
          </a:prstGeom>
          <a:noFill/>
        </p:spPr>
        <p:txBody>
          <a:bodyPr wrap="square" lIns="0" rIns="0" tIns="0" bIns="0" anchor="t">
            <a:noAutofit/>
          </a:bodyPr>
          <a:lstStyle/>
          <a:p>
            <a:pPr algn="l">
              <a:lnSpc>
                <a:spcPct val="105000"/>
              </a:lnSpc>
              <a:spcAft>
                <a:spcPts val="2000"/>
              </a:spcAft>
            </a:pPr>
            <a:r>
              <a:rPr sz="3000" b="0" i="0">
                <a:solidFill>
                  <a:srgbClr val="FFFFFF"/>
                </a:solidFill>
                <a:latin typeface="Times New Roman"/>
              </a:rPr>
              <a:t>Agbola and Acupan (2010) offer </a:t>
            </a:r>
            <a:r>
              <a:rPr sz="3000" b="1" i="0">
                <a:solidFill>
                  <a:srgbClr val="F2C14E"/>
                </a:solidFill>
                <a:latin typeface="Times New Roman"/>
              </a:rPr>
              <a:t>useful early evidence</a:t>
            </a:r>
            <a:r>
              <a:rPr sz="3000" b="0" i="0">
                <a:solidFill>
                  <a:srgbClr val="FFFFFF"/>
                </a:solidFill>
                <a:latin typeface="Times New Roman"/>
              </a:rPr>
              <a:t>.</a:t>
            </a:r>
          </a:p>
          <a:p>
            <a:pPr algn="l">
              <a:lnSpc>
                <a:spcPct val="105000"/>
              </a:lnSpc>
              <a:spcAft>
                <a:spcPts val="2000"/>
              </a:spcAft>
            </a:pPr>
            <a:r>
              <a:rPr sz="3000" b="0" i="0">
                <a:solidFill>
                  <a:srgbClr val="FFFFFF"/>
                </a:solidFill>
                <a:latin typeface="Times New Roman"/>
              </a:rPr>
              <a:t>Given </a:t>
            </a:r>
            <a:r>
              <a:rPr sz="3000" b="1" i="0">
                <a:solidFill>
                  <a:srgbClr val="F2C14E"/>
                </a:solidFill>
                <a:latin typeface="Times New Roman"/>
              </a:rPr>
              <a:t>T = 31</a:t>
            </a:r>
            <a:r>
              <a:rPr sz="3000" b="0" i="0">
                <a:solidFill>
                  <a:srgbClr val="FFFFFF"/>
                </a:solidFill>
                <a:latin typeface="Times New Roman"/>
              </a:rPr>
              <a:t>, </a:t>
            </a:r>
            <a:r>
              <a:rPr sz="3000" b="1" i="0">
                <a:solidFill>
                  <a:srgbClr val="F2C14E"/>
                </a:solidFill>
                <a:latin typeface="Times New Roman"/>
              </a:rPr>
              <a:t>weak proxies</a:t>
            </a:r>
            <a:r>
              <a:rPr sz="3000" b="0" i="0">
                <a:solidFill>
                  <a:srgbClr val="FFFFFF"/>
                </a:solidFill>
                <a:latin typeface="Times New Roman"/>
              </a:rPr>
              <a:t> and </a:t>
            </a:r>
            <a:r>
              <a:rPr sz="3000" b="1" i="0">
                <a:solidFill>
                  <a:srgbClr val="F2C14E"/>
                </a:solidFill>
                <a:latin typeface="Times New Roman"/>
              </a:rPr>
              <a:t>no pull factors</a:t>
            </a:r>
            <a:r>
              <a:rPr sz="3000" b="0" i="0">
                <a:solidFill>
                  <a:srgbClr val="FFFFFF"/>
                </a:solidFill>
                <a:latin typeface="Times New Roman"/>
              </a:rPr>
              <a:t>, these results are </a:t>
            </a:r>
            <a:r>
              <a:rPr sz="3000" b="1" i="0">
                <a:solidFill>
                  <a:srgbClr val="F2C14E"/>
                </a:solidFill>
                <a:latin typeface="Times New Roman"/>
              </a:rPr>
              <a:t>a starting point</a:t>
            </a:r>
            <a:r>
              <a:rPr sz="3000" b="0" i="0">
                <a:solidFill>
                  <a:srgbClr val="FFFFFF"/>
                </a:solidFill>
                <a:latin typeface="Times New Roman"/>
              </a:rPr>
              <a:t>.</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A red background with a pattern  AI-generated content may be incorrect."/>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17" b="0"/>
              </a:stretch>
            </a:blipFill>
          </p:spPr>
        </p:sp>
      </p:grpSp>
      <p:sp>
        <p:nvSpPr>
          <p:cNvPr name="TextBox 4" id="4"/>
          <p:cNvSpPr txBox="true"/>
          <p:nvPr/>
        </p:nvSpPr>
        <p:spPr>
          <a:xfrm rot="0">
            <a:off x="2606021" y="9397517"/>
            <a:ext cx="13533149" cy="302781"/>
          </a:xfrm>
          <a:prstGeom prst="rect">
            <a:avLst/>
          </a:prstGeom>
        </p:spPr>
        <p:txBody>
          <a:bodyPr anchor="t" rtlCol="false" tIns="0" lIns="0" bIns="0" rIns="0">
            <a:spAutoFit/>
          </a:bodyPr>
          <a:lstStyle/>
          <a:p>
            <a:pPr algn="ctr">
              <a:lnSpc>
                <a:spcPts val="2410"/>
              </a:lnSpc>
            </a:pPr>
            <a:r>
              <a:rPr lang="en-US" sz="2790">
                <a:solidFill>
                  <a:srgbClr val="FFFFFF"/>
                </a:solidFill>
                <a:latin typeface="Arial"/>
                <a:ea typeface="Arial"/>
                <a:cs typeface="Arial"/>
                <a:sym typeface="Arial"/>
              </a:rPr>
              <a:t>We build dreams without limits! | www.usep.edu.ph</a:t>
            </a:r>
          </a:p>
        </p:txBody>
      </p:sp>
      <p:grpSp>
        <p:nvGrpSpPr>
          <p:cNvPr name="Group 5" id="5"/>
          <p:cNvGrpSpPr/>
          <p:nvPr/>
        </p:nvGrpSpPr>
        <p:grpSpPr>
          <a:xfrm rot="0">
            <a:off x="1780746" y="749113"/>
            <a:ext cx="14581470" cy="3400806"/>
            <a:chOff x="0" y="0"/>
            <a:chExt cx="19441960" cy="4534408"/>
          </a:xfrm>
        </p:grpSpPr>
        <p:sp>
          <p:nvSpPr>
            <p:cNvPr name="Freeform 6" id="6"/>
            <p:cNvSpPr/>
            <p:nvPr/>
          </p:nvSpPr>
          <p:spPr>
            <a:xfrm flipH="false" flipV="false" rot="0">
              <a:off x="0" y="0"/>
              <a:ext cx="19441922" cy="4534408"/>
            </a:xfrm>
            <a:custGeom>
              <a:avLst/>
              <a:gdLst/>
              <a:ahLst/>
              <a:cxnLst/>
              <a:rect r="r" b="b" t="t" l="l"/>
              <a:pathLst>
                <a:path h="4534408" w="19441922">
                  <a:moveTo>
                    <a:pt x="0" y="0"/>
                  </a:moveTo>
                  <a:lnTo>
                    <a:pt x="19441922" y="0"/>
                  </a:lnTo>
                  <a:lnTo>
                    <a:pt x="19441922" y="4534408"/>
                  </a:lnTo>
                  <a:lnTo>
                    <a:pt x="0" y="4534408"/>
                  </a:lnTo>
                  <a:lnTo>
                    <a:pt x="0" y="0"/>
                  </a:lnTo>
                  <a:close/>
                </a:path>
              </a:pathLst>
            </a:custGeom>
            <a:blipFill>
              <a:blip r:embed="rId4"/>
              <a:stretch>
                <a:fillRect l="0" t="0" r="-231" b="-141178"/>
              </a:stretch>
            </a:blipFill>
          </p:spPr>
        </p:sp>
      </p:grpSp>
      <p:sp>
        <p:nvSpPr>
          <p:cNvPr id="7" name="Title"/>
          <p:cNvSpPr txBox="1"/>
          <p:nvPr/>
        </p:nvSpPr>
        <p:spPr>
          <a:xfrm>
            <a:off x="1371600" y="5120640"/>
            <a:ext cx="15544800" cy="1463040"/>
          </a:xfrm>
          <a:prstGeom prst="rect">
            <a:avLst/>
          </a:prstGeom>
          <a:noFill/>
        </p:spPr>
        <p:txBody>
          <a:bodyPr wrap="square" lIns="0" rIns="0" tIns="0" bIns="0" anchor="ctr">
            <a:noAutofit/>
          </a:bodyPr>
          <a:lstStyle/>
          <a:p>
            <a:pPr algn="ctr">
              <a:lnSpc>
                <a:spcPct val="105000"/>
              </a:lnSpc>
              <a:spcAft>
                <a:spcPts val="1000"/>
              </a:spcAft>
            </a:pPr>
            <a:r>
              <a:rPr sz="6600" b="1" i="0">
                <a:solidFill>
                  <a:srgbClr val="FFFFFF"/>
                </a:solidFill>
                <a:latin typeface="Times New Roman"/>
              </a:rPr>
              <a:t>Thank you</a:t>
            </a:r>
          </a:p>
        </p:txBody>
      </p:sp>
      <p:sp>
        <p:nvSpPr>
          <p:cNvPr id="8" name="Subtitle"/>
          <p:cNvSpPr txBox="1"/>
          <p:nvPr/>
        </p:nvSpPr>
        <p:spPr>
          <a:xfrm>
            <a:off x="1371600" y="6675120"/>
            <a:ext cx="15544800" cy="914400"/>
          </a:xfrm>
          <a:prstGeom prst="rect">
            <a:avLst/>
          </a:prstGeom>
          <a:noFill/>
        </p:spPr>
        <p:txBody>
          <a:bodyPr wrap="square" lIns="0" rIns="0" tIns="0" bIns="0" anchor="t">
            <a:noAutofit/>
          </a:bodyPr>
          <a:lstStyle/>
          <a:p>
            <a:pPr algn="ctr">
              <a:lnSpc>
                <a:spcPct val="105000"/>
              </a:lnSpc>
              <a:spcAft>
                <a:spcPts val="1000"/>
              </a:spcAft>
            </a:pPr>
            <a:r>
              <a:rPr sz="3200" b="0" i="0">
                <a:solidFill>
                  <a:srgbClr val="F2C14E"/>
                </a:solidFill>
                <a:latin typeface="Times New Roman"/>
              </a:rPr>
              <a:t>Questions and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DAHSmY36HKY</dc:identifier>
  <dcterms:modified xsi:type="dcterms:W3CDTF">2011-08-01T06:04:30Z</dcterms:modified>
  <cp:revision>1</cp:revision>
  <dc:title>USeP PPT Template</dc:title>
</cp:coreProperties>
</file>