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2"/>
  </p:notesMasterIdLst>
  <p:sldIdLst>
    <p:sldId id="256" r:id="rId6"/>
    <p:sldId id="260" r:id="rId10"/>
    <p:sldId id="261" r:id="rId11"/>
    <p:sldId id="262" r:id="rId22"/>
    <p:sldId id="263" r:id="rId23"/>
    <p:sldId id="264" r:id="rId24"/>
    <p:sldId id="265" r:id="rId25"/>
    <p:sldId id="266" r:id="rId26"/>
    <p:sldId id="267" r:id="rId27"/>
    <p:sldId id="259" r:id="rId9"/>
    <p:sldId id="258" r:id="rId8"/>
  </p:sldIdLst>
  <p:sldSz cx="18288000" cy="10287000"/>
  <p:notesSz cx="6858000" cy="9144000"/>
  <p:embeddedFontLst>
    <p:embeddedFont>
      <p:font typeface="Arial" charset="1" panose="020B0604020202020204"/>
      <p:regular r:id="rId15"/>
    </p:embeddedFont>
    <p:embeddedFont>
      <p:font typeface="Arial Bold" charset="1" panose="020B07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8" Type="http://schemas.openxmlformats.org/officeDocument/2006/relationships/slide" Target="slides/slide11.xml"/><Relationship Id="rId9" Type="http://schemas.openxmlformats.org/officeDocument/2006/relationships/slide" Target="slides/slide10.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notesMaster" Target="notesMasters/notesMaster1.xml"/><Relationship Id="rId13" Type="http://schemas.openxmlformats.org/officeDocument/2006/relationships/theme" Target="theme/theme2.xml"/><Relationship Id="rId14" Type="http://schemas.openxmlformats.org/officeDocument/2006/relationships/notesSlide" Target="notesSlides/notesSlide1.xml"/><Relationship Id="rId15" Type="http://schemas.openxmlformats.org/officeDocument/2006/relationships/font" Target="fonts/font15.fntdata"/><Relationship Id="rId16" Type="http://schemas.openxmlformats.org/officeDocument/2006/relationships/notesSlide" Target="notesSlides/notesSlide2.xml"/><Relationship Id="rId17" Type="http://schemas.openxmlformats.org/officeDocument/2006/relationships/notesSlide" Target="notesSlides/notesSlide3.xml"/><Relationship Id="rId18" Type="http://schemas.openxmlformats.org/officeDocument/2006/relationships/notesSlide" Target="notesSlides/notesSlide4.xml"/><Relationship Id="rId19" Type="http://schemas.openxmlformats.org/officeDocument/2006/relationships/font" Target="fonts/font19.fntdata"/><Relationship Id="rId20" Type="http://schemas.openxmlformats.org/officeDocument/2006/relationships/notesSlide" Target="notesSlides/notesSlide5.xml"/><Relationship Id="rId21" Type="http://schemas.openxmlformats.org/officeDocument/2006/relationships/notesSlide" Target="notesSlides/notesSlide6.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Good day. I am presenting my critical review of Agbola and Acupan (2010), which asks what pushes Filipinos to emigrate. The two-page review in your hands follows the same order as these slides: six parts, then an overall assessment.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Thank you. I am happy to take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To close, five insights, the same five as in my master document. Push factors at home matter, with unemployment the clearest driver. Education seems to keep people home, against theory, but the explanation is contested. Instability and density reduce emigration, but those mechanisms are speculative. Shocks fade fast, at about 78 percent within a year. And we should read the results with care because of the small sample, weak proxies and missing pull factors.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Here is the whole article in six lines. The question is what drives emigration from the Philippines. The data are 31 years of national figures, and the method is an error correction model, or ECM. The main result: unemployment raises emigration, while adult literacy, political instability and population density lower it. My verdict: the steps are careful, but the sample is small, two proxies are weak, and pull factors abroad are missing. On each slide, green marks a strength, red a critical note, and blue my own suggestions, the same colours as in my master document.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Part 1. The Philippines began sending workers abroad in the 1970s as a short-term fix, and it became permanent: 8.2 million Filipinos abroad and 14.4 billion US dollars in remittances in 2007. The law is ambiguous: RA 8042 says the State does not promote overseas work, yet says deployment shall be encouraged. The authors say the causes of emigration are not well established. Strength: a clear, relevant question. Critical note: the gap is asserted, not shown, because earlier Philippine studies are not reviewed.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The authors combine four theories, all as cited in the article. Expected-utility models say people move when the gain abroad beats the cost. Human capital theory says education should raise emigration. The Roy effect says inequality decides which skill groups leave. And the gravity model ties migration to income, population and cost. Together they give one equation for the migration share. Critical note: the framework mixes theories, and although the gravity model compares two places, no destination-side pull factors are included.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The study uses 31 years of national data, all collected by other agencies. The migration share comes from the Commission on Filipinos Overseas and the NSCB; the macro data come from the IMF, the BSP and the NSCB. Three proxies matter: airfare for the cost of migration, adult literacy for education, and leadership changes and uprisings for political instability. Critical note: the source of the inequality data is not stated, temporary and permanent migrants are pooled, airfare is only the minimum cost, and literacy hardly changes over the period.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The method has five steps: unit root tests, cointegration tests, choosing the model, estimation by ordinary least squares, and diagnostic tests. The model passes all diagnostics. Critical notes: the Johansen test finds five to eight long-run relationships, but only one error correction term is kept; per capita income still fails the Phillips–Perron test after first differences; and 31 observations for 10 estimated terms give the tests little power. There are also no tests for structural breaks such as 1986 or 1997.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the results, from Table 3 of the article. The shaded rows are statistically significant: unemployment, adult literacy, political instability and population density, plus the error correction term. Inequality, inflation, the cost of migration and income are not significant. The model explains 63 percent of the variation, and the error correction term of minus 0.776 means about 78 percent of any gap from the long-run path closes within a year.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Interpreting the results. Unemployment raises emigration: going abroad is a safety valve. Adult literacy lowers emigration, which goes against human capital theory; the authors say most migrants are low-skilled. Political instability and population density also lower emigration. Inequality is not significant, so the Roy effect is rejected. The authors recommend better migration data, bilateral agreements and a domestic economy that absorbs labour. Critical note: the low-skill story clashes with a study the paper itself cites, which found that professionals were leaving faster than they were being replaced at home.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On the left are the limitations the authors admit, with page numbers: hard-to-compile migration data, airfare as only the minimum cost, an unexplained density result, and instability evidence they call speculative. They suggest explaining the density effect and better monitoring. On the right, in blue, are my four suggestions: split migrants by type and skill, add pull factors with a bilateral gravity model, extend the data and test for structural breaks, and use household survey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 Id="rId4" Type="http://schemas.openxmlformats.org/officeDocument/2006/relationships/image" Target="../media/image4.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2606021" y="9397517"/>
            <a:ext cx="13533149" cy="302781"/>
          </a:xfrm>
          <a:prstGeom prst="rect">
            <a:avLst/>
          </a:prstGeom>
        </p:spPr>
        <p:txBody>
          <a:bodyPr anchor="t" rtlCol="false" tIns="0" lIns="0" bIns="0" rIns="0">
            <a:spAutoFit/>
          </a:bodyPr>
          <a:lstStyle/>
          <a:p>
            <a:pPr algn="ctr">
              <a:lnSpc>
                <a:spcPts val="2410"/>
              </a:lnSpc>
            </a:pPr>
            <a:r>
              <a:rPr lang="en-US" sz="2790">
                <a:solidFill>
                  <a:srgbClr val="C00000"/>
                </a:solidFill>
                <a:latin typeface="Arial"/>
                <a:ea typeface="Arial"/>
                <a:cs typeface="Arial"/>
                <a:sym typeface="Arial"/>
              </a:rPr>
              <a:t>We build dreams without limits! | www.usep.edu.ph</a:t>
            </a:r>
          </a:p>
        </p:txBody>
      </p:sp>
      <p:grpSp>
        <p:nvGrpSpPr>
          <p:cNvPr name="Group 5" id="5"/>
          <p:cNvGrpSpPr/>
          <p:nvPr/>
        </p:nvGrpSpPr>
        <p:grpSpPr>
          <a:xfrm rot="0">
            <a:off x="2286000" y="877329"/>
            <a:ext cx="13468864" cy="7576233"/>
            <a:chOff x="0" y="0"/>
            <a:chExt cx="17958486" cy="10101644"/>
          </a:xfrm>
        </p:grpSpPr>
        <p:sp>
          <p:nvSpPr>
            <p:cNvPr name="Freeform 6" id="6"/>
            <p:cNvSpPr/>
            <p:nvPr/>
          </p:nvSpPr>
          <p:spPr>
            <a:xfrm flipH="false" flipV="false" rot="0">
              <a:off x="0" y="0"/>
              <a:ext cx="17958436" cy="10101707"/>
            </a:xfrm>
            <a:custGeom>
              <a:avLst/>
              <a:gdLst/>
              <a:ahLst/>
              <a:cxnLst/>
              <a:rect r="r" b="b" t="t" l="l"/>
              <a:pathLst>
                <a:path h="10101707" w="17958436">
                  <a:moveTo>
                    <a:pt x="0" y="0"/>
                  </a:moveTo>
                  <a:lnTo>
                    <a:pt x="17958436" y="0"/>
                  </a:lnTo>
                  <a:lnTo>
                    <a:pt x="17958436" y="10101707"/>
                  </a:lnTo>
                  <a:lnTo>
                    <a:pt x="0" y="10101707"/>
                  </a:lnTo>
                  <a:lnTo>
                    <a:pt x="0" y="0"/>
                  </a:lnTo>
                  <a:close/>
                </a:path>
              </a:pathLst>
            </a:custGeom>
            <a:blipFill>
              <a:blip r:embed="rId4"/>
              <a:stretch>
                <a:fillRect l="0" t="0" r="-18" b="0"/>
              </a:stretch>
            </a:blipFill>
          </p:spPr>
        </p:sp>
      </p:grpSp>
      <p:sp>
        <p:nvSpPr>
          <p:cNvPr id="7" name="Title"/>
          <p:cNvSpPr txBox="1"/>
          <p:nvPr/>
        </p:nvSpPr>
        <p:spPr>
          <a:xfrm>
            <a:off x="1371600" y="5349240"/>
            <a:ext cx="15544800" cy="2194560"/>
          </a:xfrm>
          <a:prstGeom prst="rect">
            <a:avLst/>
          </a:prstGeom>
          <a:noFill/>
        </p:spPr>
        <p:txBody>
          <a:bodyPr wrap="square" lIns="0" rIns="0" tIns="0" bIns="0" anchor="ctr">
            <a:noAutofit/>
          </a:bodyPr>
          <a:lstStyle/>
          <a:p>
            <a:pPr algn="ctr">
              <a:lnSpc>
                <a:spcPct val="105000"/>
              </a:lnSpc>
              <a:spcAft>
                <a:spcPts val="1000"/>
              </a:spcAft>
            </a:pPr>
            <a:r>
              <a:rPr sz="4600" b="1" i="0">
                <a:solidFill>
                  <a:srgbClr val="7A1916"/>
                </a:solidFill>
                <a:latin typeface="Times New Roman"/>
              </a:rPr>
              <a:t>Critical Review: An Empirical Analysis of International Labour Migration in the Philippines</a:t>
            </a:r>
          </a:p>
        </p:txBody>
      </p:sp>
      <p:sp>
        <p:nvSpPr>
          <p:cNvPr id="8" name="Subtitle"/>
          <p:cNvSpPr txBox="1"/>
          <p:nvPr/>
        </p:nvSpPr>
        <p:spPr>
          <a:xfrm>
            <a:off x="1371600" y="7726679"/>
            <a:ext cx="15544800" cy="1371600"/>
          </a:xfrm>
          <a:prstGeom prst="rect">
            <a:avLst/>
          </a:prstGeom>
          <a:noFill/>
        </p:spPr>
        <p:txBody>
          <a:bodyPr wrap="square" lIns="0" rIns="0" tIns="0" bIns="0" anchor="t">
            <a:noAutofit/>
          </a:bodyPr>
          <a:lstStyle/>
          <a:p>
            <a:pPr algn="ctr">
              <a:lnSpc>
                <a:spcPct val="105000"/>
              </a:lnSpc>
              <a:spcAft>
                <a:spcPts val="600"/>
              </a:spcAft>
            </a:pPr>
            <a:r>
              <a:rPr sz="2600" b="0" i="0">
                <a:solidFill>
                  <a:srgbClr val="1A1A1A"/>
                </a:solidFill>
                <a:latin typeface="Times New Roman"/>
              </a:rPr>
              <a:t>Agbola, F. W., &amp; Acupan, A. B. (2010) · </a:t>
            </a:r>
            <a:r>
              <a:rPr sz="2600" b="0" i="1">
                <a:solidFill>
                  <a:srgbClr val="1A1A1A"/>
                </a:solidFill>
                <a:latin typeface="Times New Roman"/>
              </a:rPr>
              <a:t>Economic Systems, 34</a:t>
            </a:r>
            <a:r>
              <a:rPr sz="2600" b="0" i="0">
                <a:solidFill>
                  <a:srgbClr val="1A1A1A"/>
                </a:solidFill>
                <a:latin typeface="Times New Roman"/>
              </a:rPr>
              <a:t>(4), 386–396</a:t>
            </a:r>
          </a:p>
          <a:p>
            <a:pPr algn="ctr">
              <a:lnSpc>
                <a:spcPct val="105000"/>
              </a:lnSpc>
              <a:spcAft>
                <a:spcPts val="600"/>
              </a:spcAft>
            </a:pPr>
            <a:r>
              <a:rPr sz="2600" b="0" i="0">
                <a:solidFill>
                  <a:srgbClr val="1A1A1A"/>
                </a:solidFill>
                <a:latin typeface="Times New Roman"/>
              </a:rPr>
              <a:t>Prepared by: </a:t>
            </a:r>
            <a:r>
              <a:rPr sz="2600" b="1" i="0">
                <a:solidFill>
                  <a:srgbClr val="7A1916"/>
                </a:solidFill>
                <a:latin typeface="Times New Roman"/>
              </a:rPr>
              <a:t>Lian Cataytay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The article at a glance</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Careful time-series steps, but a small sample, weak proxies and missing pull factors.</a:t>
            </a:r>
          </a:p>
        </p:txBody>
      </p:sp>
      <p:graphicFrame>
        <p:nvGraphicFramePr>
          <p:cNvPr id="7" name="Glance table"/>
          <p:cNvGraphicFramePr>
            <a:graphicFrameLocks noGrp="1"/>
          </p:cNvGraphicFramePr>
          <p:nvPr/>
        </p:nvGraphicFramePr>
        <p:xfrm>
          <a:off x="914400" y="3611880"/>
          <a:ext cx="16459200" cy="4736592"/>
        </p:xfrm>
        <a:graphic>
          <a:graphicData uri="http://schemas.openxmlformats.org/drawingml/2006/table">
            <a:tbl>
              <a:tblPr firstRow="0" bandRow="0">
                <a:tableStyleId>{5940675A-B579-460E-94D1-54222C63F5DA}</a:tableStyleId>
              </a:tblPr>
              <a:tblGrid>
                <a:gridCol w="3108960"/>
                <a:gridCol w="13350240"/>
              </a:tblGrid>
              <a:tr h="676656">
                <a:tc>
                  <a:txBody>
                    <a:bodyPr wrap="square"/>
                    <a:lstStyle/>
                    <a:p>
                      <a:r>
                        <a:rPr sz="2300" b="1" i="0">
                          <a:solidFill>
                            <a:srgbClr val="FFFFFF"/>
                          </a:solidFill>
                          <a:latin typeface="Times New Roman"/>
                        </a:rPr>
                        <a:t>Item</a:t>
                      </a:r>
                    </a:p>
                  </a:txBody>
                  <a:tcPr marL="109728" marR="109728" marT="45720" marB="45720" anchor="ctr">
                    <a:solidFill>
                      <a:srgbClr val="7A1916"/>
                    </a:solidFill>
                  </a:tcPr>
                </a:tc>
                <a:tc>
                  <a:txBody>
                    <a:bodyPr wrap="square"/>
                    <a:lstStyle/>
                    <a:p>
                      <a:r>
                        <a:rPr sz="2300" b="1" i="0">
                          <a:solidFill>
                            <a:srgbClr val="FFFFFF"/>
                          </a:solidFill>
                          <a:latin typeface="Times New Roman"/>
                        </a:rPr>
                        <a:t>Summary</a:t>
                      </a:r>
                    </a:p>
                  </a:txBody>
                  <a:tcPr marL="109728" marR="109728" marT="45720" marB="45720" anchor="ctr">
                    <a:solidFill>
                      <a:srgbClr val="7A1916"/>
                    </a:solidFill>
                  </a:tcPr>
                </a:tc>
              </a:tr>
              <a:tr h="676656">
                <a:tc>
                  <a:txBody>
                    <a:bodyPr wrap="square"/>
                    <a:lstStyle/>
                    <a:p>
                      <a:r>
                        <a:rPr sz="2300" b="1" i="0">
                          <a:solidFill>
                            <a:srgbClr val="1A1A1A"/>
                          </a:solidFill>
                          <a:latin typeface="Times New Roman"/>
                        </a:rPr>
                        <a:t>Question</a:t>
                      </a:r>
                    </a:p>
                  </a:txBody>
                  <a:tcPr marL="109728" marR="109728" marT="45720" marB="45720" anchor="ctr">
                    <a:solidFill>
                      <a:srgbClr val="FFFFFF"/>
                    </a:solidFill>
                  </a:tcPr>
                </a:tc>
                <a:tc>
                  <a:txBody>
                    <a:bodyPr wrap="square"/>
                    <a:lstStyle/>
                    <a:p>
                      <a:r>
                        <a:rPr sz="2300" b="0" i="0">
                          <a:solidFill>
                            <a:srgbClr val="1A1A1A"/>
                          </a:solidFill>
                          <a:latin typeface="Times New Roman"/>
                        </a:rPr>
                        <a:t>How do economic, demographic and political factors affect emigration from the Philippines?</a:t>
                      </a:r>
                    </a:p>
                  </a:txBody>
                  <a:tcPr marL="109728" marR="109728" marT="45720" marB="45720" anchor="ctr">
                    <a:solidFill>
                      <a:srgbClr val="FFFFFF"/>
                    </a:solidFill>
                  </a:tcPr>
                </a:tc>
              </a:tr>
              <a:tr h="676656">
                <a:tc>
                  <a:txBody>
                    <a:bodyPr wrap="square"/>
                    <a:lstStyle/>
                    <a:p>
                      <a:r>
                        <a:rPr sz="2300" b="1" i="0">
                          <a:solidFill>
                            <a:srgbClr val="1A1A1A"/>
                          </a:solidFill>
                          <a:latin typeface="Times New Roman"/>
                        </a:rPr>
                        <a:t>Setting</a:t>
                      </a:r>
                    </a:p>
                  </a:txBody>
                  <a:tcPr marL="109728" marR="109728" marT="45720" marB="45720" anchor="ctr">
                    <a:solidFill>
                      <a:srgbClr val="F4F4F4"/>
                    </a:solidFill>
                  </a:tcPr>
                </a:tc>
                <a:tc>
                  <a:txBody>
                    <a:bodyPr wrap="square"/>
                    <a:lstStyle/>
                    <a:p>
                      <a:r>
                        <a:rPr sz="2300" b="0" i="0">
                          <a:solidFill>
                            <a:srgbClr val="1A1A1A"/>
                          </a:solidFill>
                          <a:latin typeface="Times New Roman"/>
                        </a:rPr>
                        <a:t>Philippines; 8.2 million Filipinos abroad; US$14.4 billion remittances (2007)</a:t>
                      </a:r>
                    </a:p>
                  </a:txBody>
                  <a:tcPr marL="109728" marR="109728" marT="45720" marB="45720" anchor="ctr">
                    <a:solidFill>
                      <a:srgbClr val="F4F4F4"/>
                    </a:solidFill>
                  </a:tcPr>
                </a:tc>
              </a:tr>
              <a:tr h="676656">
                <a:tc>
                  <a:txBody>
                    <a:bodyPr wrap="square"/>
                    <a:lstStyle/>
                    <a:p>
                      <a:r>
                        <a:rPr sz="2300" b="1" i="0">
                          <a:solidFill>
                            <a:srgbClr val="1A1A1A"/>
                          </a:solidFill>
                          <a:latin typeface="Times New Roman"/>
                        </a:rPr>
                        <a:t>Data</a:t>
                      </a:r>
                    </a:p>
                  </a:txBody>
                  <a:tcPr marL="109728" marR="109728" marT="45720" marB="45720" anchor="ctr">
                    <a:solidFill>
                      <a:srgbClr val="FFFFFF"/>
                    </a:solidFill>
                  </a:tcPr>
                </a:tc>
                <a:tc>
                  <a:txBody>
                    <a:bodyPr wrap="square"/>
                    <a:lstStyle/>
                    <a:p>
                      <a:r>
                        <a:rPr sz="2300" b="0" i="0">
                          <a:solidFill>
                            <a:srgbClr val="1A1A1A"/>
                          </a:solidFill>
                          <a:latin typeface="Times New Roman"/>
                        </a:rPr>
                        <a:t>Annual national time series, 1975–2005 (T = 31); CFO, NSCB, IMF IFS, BSP</a:t>
                      </a:r>
                    </a:p>
                  </a:txBody>
                  <a:tcPr marL="109728" marR="109728" marT="45720" marB="45720" anchor="ctr">
                    <a:solidFill>
                      <a:srgbClr val="FFFFFF"/>
                    </a:solidFill>
                  </a:tcPr>
                </a:tc>
              </a:tr>
              <a:tr h="676656">
                <a:tc>
                  <a:txBody>
                    <a:bodyPr wrap="square"/>
                    <a:lstStyle/>
                    <a:p>
                      <a:r>
                        <a:rPr sz="2300" b="1" i="0">
                          <a:solidFill>
                            <a:srgbClr val="1A1A1A"/>
                          </a:solidFill>
                          <a:latin typeface="Times New Roman"/>
                        </a:rPr>
                        <a:t>Method</a:t>
                      </a:r>
                    </a:p>
                  </a:txBody>
                  <a:tcPr marL="109728" marR="109728" marT="45720" marB="45720" anchor="ctr">
                    <a:solidFill>
                      <a:srgbClr val="F4F4F4"/>
                    </a:solidFill>
                  </a:tcPr>
                </a:tc>
                <a:tc>
                  <a:txBody>
                    <a:bodyPr wrap="square"/>
                    <a:lstStyle/>
                    <a:p>
                      <a:r>
                        <a:rPr sz="2300" b="0" i="0">
                          <a:solidFill>
                            <a:srgbClr val="1A1A1A"/>
                          </a:solidFill>
                          <a:latin typeface="Times New Roman"/>
                        </a:rPr>
                        <a:t>Unit root and cointegration tests → unrestricted error correction model (ECM) by OLS</a:t>
                      </a:r>
                    </a:p>
                  </a:txBody>
                  <a:tcPr marL="109728" marR="109728" marT="45720" marB="45720" anchor="ctr">
                    <a:solidFill>
                      <a:srgbClr val="F4F4F4"/>
                    </a:solidFill>
                  </a:tcPr>
                </a:tc>
              </a:tr>
              <a:tr h="676656">
                <a:tc>
                  <a:txBody>
                    <a:bodyPr wrap="square"/>
                    <a:lstStyle/>
                    <a:p>
                      <a:r>
                        <a:rPr sz="2300" b="1" i="0">
                          <a:solidFill>
                            <a:srgbClr val="7A1916"/>
                          </a:solidFill>
                          <a:latin typeface="Times New Roman"/>
                        </a:rPr>
                        <a:t>Main result</a:t>
                      </a:r>
                    </a:p>
                  </a:txBody>
                  <a:tcPr marL="109728" marR="109728" marT="45720" marB="45720" anchor="ctr">
                    <a:solidFill>
                      <a:srgbClr val="F6ECEB"/>
                    </a:solidFill>
                  </a:tcPr>
                </a:tc>
                <a:tc>
                  <a:txBody>
                    <a:bodyPr wrap="square"/>
                    <a:lstStyle/>
                    <a:p>
                      <a:r>
                        <a:rPr sz="2300" b="1" i="0">
                          <a:solidFill>
                            <a:srgbClr val="7A1916"/>
                          </a:solidFill>
                          <a:latin typeface="Times New Roman"/>
                        </a:rPr>
                        <a:t>Unemployment ↑ emigration; adult literacy, political instability, population density ↓ emigration</a:t>
                      </a:r>
                    </a:p>
                  </a:txBody>
                  <a:tcPr marL="109728" marR="109728" marT="45720" marB="45720" anchor="ctr">
                    <a:solidFill>
                      <a:srgbClr val="F6ECEB"/>
                    </a:solidFill>
                  </a:tcPr>
                </a:tc>
              </a:tr>
              <a:tr h="676656">
                <a:tc>
                  <a:txBody>
                    <a:bodyPr wrap="square"/>
                    <a:lstStyle/>
                    <a:p>
                      <a:r>
                        <a:rPr sz="2300" b="1" i="0">
                          <a:solidFill>
                            <a:srgbClr val="1A1A1A"/>
                          </a:solidFill>
                          <a:latin typeface="Times New Roman"/>
                        </a:rPr>
                        <a:t>Verdict</a:t>
                      </a:r>
                    </a:p>
                  </a:txBody>
                  <a:tcPr marL="109728" marR="109728" marT="45720" marB="45720" anchor="ctr">
                    <a:solidFill>
                      <a:srgbClr val="F4F4F4"/>
                    </a:solidFill>
                  </a:tcPr>
                </a:tc>
                <a:tc>
                  <a:txBody>
                    <a:bodyPr wrap="square"/>
                    <a:lstStyle/>
                    <a:p>
                      <a:r>
                        <a:rPr sz="2300" b="0" i="0">
                          <a:solidFill>
                            <a:srgbClr val="1A1A1A"/>
                          </a:solidFill>
                          <a:latin typeface="Times New Roman"/>
                        </a:rPr>
                        <a:t>Careful time-series steps, but small sample, weak proxies and no pull factors</a:t>
                      </a:r>
                    </a:p>
                  </a:txBody>
                  <a:tcPr marL="109728" marR="109728" marT="45720" marB="45720" anchor="ctr">
                    <a:solidFill>
                      <a:srgbClr val="F4F4F4"/>
                    </a:solidFill>
                  </a:tcPr>
                </a:tc>
              </a:tr>
            </a:tbl>
          </a:graphicData>
        </a:graphic>
      </p:graphicFrame>
      <p:sp>
        <p:nvSpPr>
          <p:cNvPr id="8" name="Key label"/>
          <p:cNvSpPr txBox="1"/>
          <p:nvPr/>
        </p:nvSpPr>
        <p:spPr>
          <a:xfrm>
            <a:off x="914400" y="8915400"/>
            <a:ext cx="2743200" cy="548640"/>
          </a:xfrm>
          <a:prstGeom prst="rect">
            <a:avLst/>
          </a:prstGeom>
          <a:noFill/>
        </p:spPr>
        <p:txBody>
          <a:bodyPr wrap="square" lIns="0" rIns="0" tIns="0" bIns="0" anchor="ctr">
            <a:noAutofit/>
          </a:bodyPr>
          <a:lstStyle/>
          <a:p>
            <a:pPr algn="l">
              <a:lnSpc>
                <a:spcPct val="105000"/>
              </a:lnSpc>
              <a:spcAft>
                <a:spcPts val="1000"/>
              </a:spcAft>
            </a:pPr>
            <a:r>
              <a:rPr sz="2200" b="1" i="0">
                <a:solidFill>
                  <a:srgbClr val="7A1916"/>
                </a:solidFill>
                <a:latin typeface="Times New Roman"/>
              </a:rPr>
              <a:t>Colour key:</a:t>
            </a:r>
          </a:p>
        </p:txBody>
      </p:sp>
      <p:sp>
        <p:nvSpPr>
          <p:cNvPr id="9" name="Key Strength"/>
          <p:cNvSpPr/>
          <p:nvPr/>
        </p:nvSpPr>
        <p:spPr>
          <a:xfrm>
            <a:off x="3657600" y="8961120"/>
            <a:ext cx="3566160" cy="457200"/>
          </a:xfrm>
          <a:prstGeom prst="roundRect">
            <a:avLst>
              <a:gd name="adj" fmla="val 4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ey Strength text"/>
          <p:cNvSpPr txBox="1"/>
          <p:nvPr/>
        </p:nvSpPr>
        <p:spPr>
          <a:xfrm>
            <a:off x="3657600" y="8961120"/>
            <a:ext cx="3566160" cy="457200"/>
          </a:xfrm>
          <a:prstGeom prst="rect">
            <a:avLst/>
          </a:prstGeom>
          <a:noFill/>
        </p:spPr>
        <p:txBody>
          <a:bodyPr wrap="square" lIns="0" rIns="0" tIns="0" bIns="0" anchor="ctr">
            <a:noAutofit/>
          </a:bodyPr>
          <a:lstStyle/>
          <a:p>
            <a:pPr algn="ctr">
              <a:lnSpc>
                <a:spcPct val="105000"/>
              </a:lnSpc>
              <a:spcAft>
                <a:spcPts val="1000"/>
              </a:spcAft>
            </a:pPr>
            <a:r>
              <a:rPr sz="2100" b="1" i="0">
                <a:solidFill>
                  <a:srgbClr val="2E7D32"/>
                </a:solidFill>
                <a:latin typeface="Times New Roman"/>
              </a:rPr>
              <a:t>Strength</a:t>
            </a:r>
          </a:p>
        </p:txBody>
      </p:sp>
      <p:sp>
        <p:nvSpPr>
          <p:cNvPr id="11" name="Key Critical note"/>
          <p:cNvSpPr/>
          <p:nvPr/>
        </p:nvSpPr>
        <p:spPr>
          <a:xfrm>
            <a:off x="7498079" y="8961120"/>
            <a:ext cx="3566160" cy="457200"/>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Key Critical note text"/>
          <p:cNvSpPr txBox="1"/>
          <p:nvPr/>
        </p:nvSpPr>
        <p:spPr>
          <a:xfrm>
            <a:off x="7498079" y="8961120"/>
            <a:ext cx="3566160" cy="457200"/>
          </a:xfrm>
          <a:prstGeom prst="rect">
            <a:avLst/>
          </a:prstGeom>
          <a:noFill/>
        </p:spPr>
        <p:txBody>
          <a:bodyPr wrap="square" lIns="0" rIns="0" tIns="0" bIns="0" anchor="ctr">
            <a:noAutofit/>
          </a:bodyPr>
          <a:lstStyle/>
          <a:p>
            <a:pPr algn="ctr">
              <a:lnSpc>
                <a:spcPct val="105000"/>
              </a:lnSpc>
              <a:spcAft>
                <a:spcPts val="1000"/>
              </a:spcAft>
            </a:pPr>
            <a:r>
              <a:rPr sz="2100" b="1" i="0">
                <a:solidFill>
                  <a:srgbClr val="C00000"/>
                </a:solidFill>
                <a:latin typeface="Times New Roman"/>
              </a:rPr>
              <a:t>Critical note</a:t>
            </a:r>
          </a:p>
        </p:txBody>
      </p:sp>
      <p:sp>
        <p:nvSpPr>
          <p:cNvPr id="13" name="Key Reviewer suggestion"/>
          <p:cNvSpPr/>
          <p:nvPr/>
        </p:nvSpPr>
        <p:spPr>
          <a:xfrm>
            <a:off x="11338559" y="8961120"/>
            <a:ext cx="3566160" cy="457200"/>
          </a:xfrm>
          <a:prstGeom prst="roundRect">
            <a:avLst>
              <a:gd name="adj" fmla="val 4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Key Reviewer suggestion text"/>
          <p:cNvSpPr txBox="1"/>
          <p:nvPr/>
        </p:nvSpPr>
        <p:spPr>
          <a:xfrm>
            <a:off x="11338559" y="8961120"/>
            <a:ext cx="3566160" cy="457200"/>
          </a:xfrm>
          <a:prstGeom prst="rect">
            <a:avLst/>
          </a:prstGeom>
          <a:noFill/>
        </p:spPr>
        <p:txBody>
          <a:bodyPr wrap="square" lIns="0" rIns="0" tIns="0" bIns="0" anchor="ctr">
            <a:noAutofit/>
          </a:bodyPr>
          <a:lstStyle/>
          <a:p>
            <a:pPr algn="ctr">
              <a:lnSpc>
                <a:spcPct val="105000"/>
              </a:lnSpc>
              <a:spcAft>
                <a:spcPts val="1000"/>
              </a:spcAft>
            </a:pPr>
            <a:r>
              <a:rPr sz="2100" b="1" i="0">
                <a:solidFill>
                  <a:srgbClr val="1F4E9A"/>
                </a:solidFill>
                <a:latin typeface="Times New Roman"/>
              </a:rPr>
              <a:t>Reviewer suggestion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1. Research Problem / Gap</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Labour export became structural, but its determinants were “not well established.”</a:t>
            </a:r>
          </a:p>
        </p:txBody>
      </p:sp>
      <p:sp>
        <p:nvSpPr>
          <p:cNvPr id="7" name="Guiding question"/>
          <p:cNvSpPr txBox="1"/>
          <p:nvPr/>
        </p:nvSpPr>
        <p:spPr>
          <a:xfrm>
            <a:off x="914400" y="3611880"/>
            <a:ext cx="16459200" cy="457200"/>
          </a:xfrm>
          <a:prstGeom prst="rect">
            <a:avLst/>
          </a:prstGeom>
          <a:noFill/>
        </p:spPr>
        <p:txBody>
          <a:bodyPr wrap="square" lIns="0" rIns="0" tIns="0" bIns="0" anchor="t">
            <a:noAutofit/>
          </a:bodyPr>
          <a:lstStyle/>
          <a:p>
            <a:pPr algn="l">
              <a:lnSpc>
                <a:spcPct val="105000"/>
              </a:lnSpc>
              <a:spcAft>
                <a:spcPts val="1000"/>
              </a:spcAft>
            </a:pPr>
            <a:r>
              <a:rPr sz="2200" b="1" i="0">
                <a:solidFill>
                  <a:srgbClr val="555555"/>
                </a:solidFill>
                <a:latin typeface="Times New Roman"/>
              </a:rPr>
              <a:t>Guiding question:</a:t>
            </a:r>
            <a:r>
              <a:rPr sz="2200" b="0" i="0">
                <a:solidFill>
                  <a:srgbClr val="555555"/>
                </a:solidFill>
                <a:latin typeface="Times New Roman"/>
              </a:rPr>
              <a:t> </a:t>
            </a:r>
            <a:r>
              <a:rPr sz="2200" b="0" i="1">
                <a:solidFill>
                  <a:srgbClr val="555555"/>
                </a:solidFill>
                <a:latin typeface="Times New Roman"/>
              </a:rPr>
              <a:t>What issue or knowledge gap does the study address?</a:t>
            </a:r>
          </a:p>
        </p:txBody>
      </p:sp>
      <p:sp>
        <p:nvSpPr>
          <p:cNvPr id="8" name="Problem bullets"/>
          <p:cNvSpPr txBox="1"/>
          <p:nvPr/>
        </p:nvSpPr>
        <p:spPr>
          <a:xfrm>
            <a:off x="914400" y="4206240"/>
            <a:ext cx="9692640" cy="3291840"/>
          </a:xfrm>
          <a:prstGeom prst="rect">
            <a:avLst/>
          </a:prstGeom>
          <a:noFill/>
        </p:spPr>
        <p:txBody>
          <a:bodyPr wrap="square" lIns="0" rIns="0" tIns="0" bIns="0" anchor="t">
            <a:noAutofit/>
          </a:bodyPr>
          <a:lstStyle/>
          <a:p>
            <a:pPr algn="l" marL="384048" indent="-384048">
              <a:lnSpc>
                <a:spcPct val="105000"/>
              </a:lnSpc>
              <a:spcAft>
                <a:spcPts val="1200"/>
              </a:spcAft>
              <a:buClr>
                <a:srgbClr val="7A1916"/>
              </a:buClr>
              <a:buFont typeface="Times New Roman"/>
              <a:buChar char="•"/>
            </a:pPr>
            <a:r>
              <a:rPr sz="2500" b="1" i="0">
                <a:solidFill>
                  <a:srgbClr val="7A1916"/>
                </a:solidFill>
                <a:latin typeface="Times New Roman"/>
              </a:rPr>
              <a:t>Issue:</a:t>
            </a:r>
            <a:r>
              <a:rPr sz="2500" b="0" i="0">
                <a:solidFill>
                  <a:srgbClr val="1A1A1A"/>
                </a:solidFill>
                <a:latin typeface="Times New Roman"/>
              </a:rPr>
              <a:t> a 1970s stop-gap for unemployment became structural: </a:t>
            </a:r>
            <a:r>
              <a:rPr sz="2500" b="1" i="0">
                <a:solidFill>
                  <a:srgbClr val="7A1916"/>
                </a:solidFill>
                <a:latin typeface="Times New Roman"/>
              </a:rPr>
              <a:t>8.2 million</a:t>
            </a:r>
            <a:r>
              <a:rPr sz="2500" b="0" i="0">
                <a:solidFill>
                  <a:srgbClr val="1A1A1A"/>
                </a:solidFill>
                <a:latin typeface="Times New Roman"/>
              </a:rPr>
              <a:t> abroad; </a:t>
            </a:r>
            <a:r>
              <a:rPr sz="2500" b="1" i="0">
                <a:solidFill>
                  <a:srgbClr val="7A1916"/>
                </a:solidFill>
                <a:latin typeface="Times New Roman"/>
              </a:rPr>
              <a:t>US$14.4 billion</a:t>
            </a:r>
            <a:r>
              <a:rPr sz="2500" b="0" i="0">
                <a:solidFill>
                  <a:srgbClr val="1A1A1A"/>
                </a:solidFill>
                <a:latin typeface="Times New Roman"/>
              </a:rPr>
              <a:t> in remittances (2007)</a:t>
            </a:r>
          </a:p>
          <a:p>
            <a:pPr algn="l" marL="384048" indent="-384048">
              <a:lnSpc>
                <a:spcPct val="105000"/>
              </a:lnSpc>
              <a:spcAft>
                <a:spcPts val="1200"/>
              </a:spcAft>
              <a:buClr>
                <a:srgbClr val="7A1916"/>
              </a:buClr>
              <a:buFont typeface="Times New Roman"/>
              <a:buChar char="•"/>
            </a:pPr>
            <a:r>
              <a:rPr sz="2500" b="1" i="0">
                <a:solidFill>
                  <a:srgbClr val="7A1916"/>
                </a:solidFill>
                <a:latin typeface="Times New Roman"/>
              </a:rPr>
              <a:t>Gap:</a:t>
            </a:r>
            <a:r>
              <a:rPr sz="2500" b="0" i="0">
                <a:solidFill>
                  <a:srgbClr val="1A1A1A"/>
                </a:solidFill>
                <a:latin typeface="Times New Roman"/>
              </a:rPr>
              <a:t> the determinants of emigration “are not well established” (p. 386)</a:t>
            </a:r>
          </a:p>
          <a:p>
            <a:pPr algn="l" marL="384048" indent="-384048">
              <a:lnSpc>
                <a:spcPct val="105000"/>
              </a:lnSpc>
              <a:spcAft>
                <a:spcPts val="1200"/>
              </a:spcAft>
              <a:buClr>
                <a:srgbClr val="7A1916"/>
              </a:buClr>
              <a:buFont typeface="Times New Roman"/>
              <a:buChar char="•"/>
            </a:pPr>
            <a:r>
              <a:rPr sz="2500" b="1" i="0">
                <a:solidFill>
                  <a:srgbClr val="7A1916"/>
                </a:solidFill>
                <a:latin typeface="Times New Roman"/>
              </a:rPr>
              <a:t>Policy tension:</a:t>
            </a:r>
            <a:r>
              <a:rPr sz="2500" b="0" i="0">
                <a:solidFill>
                  <a:srgbClr val="1A1A1A"/>
                </a:solidFill>
                <a:latin typeface="Times New Roman"/>
              </a:rPr>
              <a:t> RA 8042 §2c “does not promote” vs. §2i “shall be encouraged”</a:t>
            </a:r>
          </a:p>
        </p:txBody>
      </p:sp>
      <p:sp>
        <p:nvSpPr>
          <p:cNvPr id="9" name="Research question box"/>
          <p:cNvSpPr/>
          <p:nvPr/>
        </p:nvSpPr>
        <p:spPr>
          <a:xfrm>
            <a:off x="11064240" y="4206240"/>
            <a:ext cx="6309360" cy="3200400"/>
          </a:xfrm>
          <a:prstGeom prst="roundRect">
            <a:avLst>
              <a:gd name="adj" fmla="val 4000"/>
            </a:avLst>
          </a:prstGeom>
          <a:solidFill>
            <a:srgbClr val="7A19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earch question"/>
          <p:cNvSpPr txBox="1"/>
          <p:nvPr/>
        </p:nvSpPr>
        <p:spPr>
          <a:xfrm>
            <a:off x="11430000" y="4206240"/>
            <a:ext cx="5577840" cy="3200400"/>
          </a:xfrm>
          <a:prstGeom prst="rect">
            <a:avLst/>
          </a:prstGeom>
          <a:noFill/>
        </p:spPr>
        <p:txBody>
          <a:bodyPr wrap="square" lIns="0" rIns="0" tIns="0" bIns="0" anchor="ctr">
            <a:noAutofit/>
          </a:bodyPr>
          <a:lstStyle/>
          <a:p>
            <a:pPr algn="l">
              <a:lnSpc>
                <a:spcPct val="105000"/>
              </a:lnSpc>
              <a:spcAft>
                <a:spcPts val="1000"/>
              </a:spcAft>
            </a:pPr>
            <a:r>
              <a:rPr sz="2600" b="1" i="0">
                <a:solidFill>
                  <a:srgbClr val="F2C14E"/>
                </a:solidFill>
                <a:latin typeface="Times New Roman"/>
              </a:rPr>
              <a:t>Research question:</a:t>
            </a:r>
            <a:r>
              <a:rPr sz="2600" b="0" i="0">
                <a:solidFill>
                  <a:srgbClr val="FFFFFF"/>
                </a:solidFill>
                <a:latin typeface="Times New Roman"/>
              </a:rPr>
              <a:t> How do economic, demographic and political factors affect the size of emigration?</a:t>
            </a:r>
          </a:p>
        </p:txBody>
      </p:sp>
      <p:sp>
        <p:nvSpPr>
          <p:cNvPr id="11" name="strength box"/>
          <p:cNvSpPr/>
          <p:nvPr/>
        </p:nvSpPr>
        <p:spPr>
          <a:xfrm>
            <a:off x="914400" y="7772400"/>
            <a:ext cx="8046720" cy="1783080"/>
          </a:xfrm>
          <a:prstGeom prst="roundRect">
            <a:avLst>
              <a:gd name="adj" fmla="val 4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rength edge"/>
          <p:cNvSpPr/>
          <p:nvPr/>
        </p:nvSpPr>
        <p:spPr>
          <a:xfrm>
            <a:off x="914400" y="7772400"/>
            <a:ext cx="109728" cy="1783080"/>
          </a:xfrm>
          <a:prstGeom prst="roundRect">
            <a:avLst>
              <a:gd name="adj" fmla="val 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rength text"/>
          <p:cNvSpPr txBox="1"/>
          <p:nvPr/>
        </p:nvSpPr>
        <p:spPr>
          <a:xfrm>
            <a:off x="1280160" y="7973568"/>
            <a:ext cx="7452360" cy="1463040"/>
          </a:xfrm>
          <a:prstGeom prst="rect">
            <a:avLst/>
          </a:prstGeom>
          <a:noFill/>
        </p:spPr>
        <p:txBody>
          <a:bodyPr wrap="square" lIns="0" rIns="0" tIns="0" bIns="0" anchor="t">
            <a:noAutofit/>
          </a:bodyPr>
          <a:lstStyle/>
          <a:p>
            <a:pPr algn="l">
              <a:lnSpc>
                <a:spcPct val="105000"/>
              </a:lnSpc>
              <a:spcAft>
                <a:spcPts val="600"/>
              </a:spcAft>
            </a:pPr>
            <a:r>
              <a:rPr sz="2400" b="1" i="0">
                <a:solidFill>
                  <a:srgbClr val="2E7D32"/>
                </a:solidFill>
                <a:latin typeface="Times New Roman"/>
              </a:rPr>
              <a:t>Strength</a:t>
            </a:r>
          </a:p>
          <a:p>
            <a:pPr algn="l">
              <a:lnSpc>
                <a:spcPct val="105000"/>
              </a:lnSpc>
              <a:spcAft>
                <a:spcPts val="600"/>
              </a:spcAft>
            </a:pPr>
            <a:r>
              <a:rPr sz="2300" b="0" i="0">
                <a:solidFill>
                  <a:srgbClr val="1A1A1A"/>
                </a:solidFill>
                <a:latin typeface="Times New Roman"/>
              </a:rPr>
              <a:t>Clear, policy-relevant question for a top labour exporter.</a:t>
            </a:r>
          </a:p>
        </p:txBody>
      </p:sp>
      <p:sp>
        <p:nvSpPr>
          <p:cNvPr id="14" name="critique box"/>
          <p:cNvSpPr/>
          <p:nvPr/>
        </p:nvSpPr>
        <p:spPr>
          <a:xfrm>
            <a:off x="9326880" y="7772400"/>
            <a:ext cx="8046720" cy="1783080"/>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ritique edge"/>
          <p:cNvSpPr/>
          <p:nvPr/>
        </p:nvSpPr>
        <p:spPr>
          <a:xfrm>
            <a:off x="9326880" y="7772400"/>
            <a:ext cx="109728" cy="1783080"/>
          </a:xfrm>
          <a:prstGeom prst="roundRect">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ritique text"/>
          <p:cNvSpPr txBox="1"/>
          <p:nvPr/>
        </p:nvSpPr>
        <p:spPr>
          <a:xfrm>
            <a:off x="9692640" y="7973568"/>
            <a:ext cx="7452360" cy="1463040"/>
          </a:xfrm>
          <a:prstGeom prst="rect">
            <a:avLst/>
          </a:prstGeom>
          <a:noFill/>
        </p:spPr>
        <p:txBody>
          <a:bodyPr wrap="square" lIns="0" rIns="0" tIns="0" bIns="0" anchor="t">
            <a:noAutofit/>
          </a:bodyPr>
          <a:lstStyle/>
          <a:p>
            <a:pPr algn="l">
              <a:lnSpc>
                <a:spcPct val="105000"/>
              </a:lnSpc>
              <a:spcAft>
                <a:spcPts val="600"/>
              </a:spcAft>
            </a:pPr>
            <a:r>
              <a:rPr sz="2400" b="1" i="0">
                <a:solidFill>
                  <a:srgbClr val="C00000"/>
                </a:solidFill>
                <a:latin typeface="Times New Roman"/>
              </a:rPr>
              <a:t>Critical note</a:t>
            </a:r>
          </a:p>
          <a:p>
            <a:pPr algn="l">
              <a:lnSpc>
                <a:spcPct val="105000"/>
              </a:lnSpc>
              <a:spcAft>
                <a:spcPts val="600"/>
              </a:spcAft>
            </a:pPr>
            <a:r>
              <a:rPr sz="2300" b="0" i="0">
                <a:solidFill>
                  <a:srgbClr val="1A1A1A"/>
                </a:solidFill>
                <a:latin typeface="Times New Roman"/>
              </a:rPr>
              <a:t>Gap is </a:t>
            </a:r>
            <a:r>
              <a:rPr sz="2300" b="1" i="0">
                <a:solidFill>
                  <a:srgbClr val="C00000"/>
                </a:solidFill>
                <a:latin typeface="Times New Roman"/>
              </a:rPr>
              <a:t>asserted, not demonstrated</a:t>
            </a:r>
            <a:r>
              <a:rPr sz="2300" b="0" i="0">
                <a:solidFill>
                  <a:srgbClr val="1A1A1A"/>
                </a:solidFill>
                <a:latin typeface="Times New Roman"/>
              </a:rPr>
              <a:t>: earlier Philippine studies are not reviewed.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2. Theoretical Framework</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Four theories feed one macro push-factor equation.</a:t>
            </a:r>
          </a:p>
        </p:txBody>
      </p:sp>
      <p:sp>
        <p:nvSpPr>
          <p:cNvPr id="7" name="Guiding question"/>
          <p:cNvSpPr txBox="1"/>
          <p:nvPr/>
        </p:nvSpPr>
        <p:spPr>
          <a:xfrm>
            <a:off x="914400" y="3611880"/>
            <a:ext cx="16459200" cy="457200"/>
          </a:xfrm>
          <a:prstGeom prst="rect">
            <a:avLst/>
          </a:prstGeom>
          <a:noFill/>
        </p:spPr>
        <p:txBody>
          <a:bodyPr wrap="square" lIns="0" rIns="0" tIns="0" bIns="0" anchor="t">
            <a:noAutofit/>
          </a:bodyPr>
          <a:lstStyle/>
          <a:p>
            <a:pPr algn="l">
              <a:lnSpc>
                <a:spcPct val="105000"/>
              </a:lnSpc>
              <a:spcAft>
                <a:spcPts val="1000"/>
              </a:spcAft>
            </a:pPr>
            <a:r>
              <a:rPr sz="2200" b="1" i="0">
                <a:solidFill>
                  <a:srgbClr val="555555"/>
                </a:solidFill>
                <a:latin typeface="Times New Roman"/>
              </a:rPr>
              <a:t>Guiding question:</a:t>
            </a:r>
            <a:r>
              <a:rPr sz="2200" b="0" i="0">
                <a:solidFill>
                  <a:srgbClr val="555555"/>
                </a:solidFill>
                <a:latin typeface="Times New Roman"/>
              </a:rPr>
              <a:t> </a:t>
            </a:r>
            <a:r>
              <a:rPr sz="2200" b="0" i="1">
                <a:solidFill>
                  <a:srgbClr val="555555"/>
                </a:solidFill>
                <a:latin typeface="Times New Roman"/>
              </a:rPr>
              <a:t>What theory or conceptual framework guides the study?</a:t>
            </a:r>
          </a:p>
        </p:txBody>
      </p:sp>
      <p:sp>
        <p:nvSpPr>
          <p:cNvPr id="8" name="Theories"/>
          <p:cNvSpPr txBox="1"/>
          <p:nvPr/>
        </p:nvSpPr>
        <p:spPr>
          <a:xfrm>
            <a:off x="914400" y="4206240"/>
            <a:ext cx="9875520" cy="3474720"/>
          </a:xfrm>
          <a:prstGeom prst="rect">
            <a:avLst/>
          </a:prstGeom>
          <a:noFill/>
        </p:spPr>
        <p:txBody>
          <a:bodyPr wrap="square" lIns="0" rIns="0" tIns="0" bIns="0" anchor="t">
            <a:noAutofit/>
          </a:bodyPr>
          <a:lstStyle/>
          <a:p>
            <a:pPr algn="l">
              <a:lnSpc>
                <a:spcPct val="105000"/>
              </a:lnSpc>
              <a:spcAft>
                <a:spcPts val="1200"/>
              </a:spcAft>
            </a:pPr>
            <a:r>
              <a:rPr sz="2400" b="1" i="0">
                <a:solidFill>
                  <a:srgbClr val="7A1916"/>
                </a:solidFill>
                <a:latin typeface="Times New Roman"/>
              </a:rPr>
              <a:t>1. Expected utility</a:t>
            </a:r>
            <a:r>
              <a:rPr sz="2400" b="0" i="0">
                <a:solidFill>
                  <a:srgbClr val="1A1A1A"/>
                </a:solidFill>
                <a:latin typeface="Times New Roman"/>
              </a:rPr>
              <a:t> (Ravenstein, 1885; Todaro, 1969): migrate when the expected gain exceeds the cost</a:t>
            </a:r>
          </a:p>
          <a:p>
            <a:pPr algn="l">
              <a:lnSpc>
                <a:spcPct val="105000"/>
              </a:lnSpc>
              <a:spcAft>
                <a:spcPts val="1200"/>
              </a:spcAft>
            </a:pPr>
            <a:r>
              <a:rPr sz="2400" b="1" i="0">
                <a:solidFill>
                  <a:srgbClr val="7A1916"/>
                </a:solidFill>
                <a:latin typeface="Times New Roman"/>
              </a:rPr>
              <a:t>2. Human capital</a:t>
            </a:r>
            <a:r>
              <a:rPr sz="2400" b="0" i="0">
                <a:solidFill>
                  <a:srgbClr val="1A1A1A"/>
                </a:solidFill>
                <a:latin typeface="Times New Roman"/>
              </a:rPr>
              <a:t> (Hicks, 1939; Sjaastad, 1962): education should </a:t>
            </a:r>
            <a:r>
              <a:rPr sz="2400" b="1" i="0">
                <a:solidFill>
                  <a:srgbClr val="7A1916"/>
                </a:solidFill>
                <a:latin typeface="Times New Roman"/>
              </a:rPr>
              <a:t>raise</a:t>
            </a:r>
            <a:r>
              <a:rPr sz="2400" b="0" i="0">
                <a:solidFill>
                  <a:srgbClr val="1A1A1A"/>
                </a:solidFill>
                <a:latin typeface="Times New Roman"/>
              </a:rPr>
              <a:t> emigration</a:t>
            </a:r>
          </a:p>
          <a:p>
            <a:pPr algn="l">
              <a:lnSpc>
                <a:spcPct val="105000"/>
              </a:lnSpc>
              <a:spcAft>
                <a:spcPts val="1200"/>
              </a:spcAft>
            </a:pPr>
            <a:r>
              <a:rPr sz="2400" b="1" i="0">
                <a:solidFill>
                  <a:srgbClr val="7A1916"/>
                </a:solidFill>
                <a:latin typeface="Times New Roman"/>
              </a:rPr>
              <a:t>3. Roy effect</a:t>
            </a:r>
            <a:r>
              <a:rPr sz="2400" b="0" i="0">
                <a:solidFill>
                  <a:srgbClr val="1A1A1A"/>
                </a:solidFill>
                <a:latin typeface="Times New Roman"/>
              </a:rPr>
              <a:t> (Borjas, 1987): inequality decides which skill groups leave</a:t>
            </a:r>
          </a:p>
          <a:p>
            <a:pPr algn="l">
              <a:lnSpc>
                <a:spcPct val="105000"/>
              </a:lnSpc>
              <a:spcAft>
                <a:spcPts val="1200"/>
              </a:spcAft>
            </a:pPr>
            <a:r>
              <a:rPr sz="2400" b="1" i="0">
                <a:solidFill>
                  <a:srgbClr val="7A1916"/>
                </a:solidFill>
                <a:latin typeface="Times New Roman"/>
              </a:rPr>
              <a:t>4. Gravity model</a:t>
            </a:r>
            <a:r>
              <a:rPr sz="2400" b="0" i="0">
                <a:solidFill>
                  <a:srgbClr val="1A1A1A"/>
                </a:solidFill>
                <a:latin typeface="Times New Roman"/>
              </a:rPr>
              <a:t> (Greenwood, 1975; Adams &amp; Page, 2003): income, population, cost</a:t>
            </a:r>
          </a:p>
        </p:txBody>
      </p:sp>
      <p:sp>
        <p:nvSpPr>
          <p:cNvPr id="9" name="Model box"/>
          <p:cNvSpPr/>
          <p:nvPr/>
        </p:nvSpPr>
        <p:spPr>
          <a:xfrm>
            <a:off x="11155680" y="4206240"/>
            <a:ext cx="6217920" cy="3383280"/>
          </a:xfrm>
          <a:prstGeom prst="roundRect">
            <a:avLst>
              <a:gd name="adj" fmla="val 4000"/>
            </a:avLst>
          </a:prstGeom>
          <a:solidFill>
            <a:srgbClr val="F6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odel text"/>
          <p:cNvSpPr txBox="1"/>
          <p:nvPr/>
        </p:nvSpPr>
        <p:spPr>
          <a:xfrm>
            <a:off x="11475720" y="4389120"/>
            <a:ext cx="5577840" cy="3108960"/>
          </a:xfrm>
          <a:prstGeom prst="rect">
            <a:avLst/>
          </a:prstGeom>
          <a:noFill/>
        </p:spPr>
        <p:txBody>
          <a:bodyPr wrap="square" lIns="0" rIns="0" tIns="0" bIns="0" anchor="t">
            <a:noAutofit/>
          </a:bodyPr>
          <a:lstStyle/>
          <a:p>
            <a:pPr algn="l">
              <a:lnSpc>
                <a:spcPct val="105000"/>
              </a:lnSpc>
              <a:spcAft>
                <a:spcPts val="1000"/>
              </a:spcAft>
            </a:pPr>
            <a:r>
              <a:rPr sz="2500" b="1" i="0">
                <a:solidFill>
                  <a:srgbClr val="7A1916"/>
                </a:solidFill>
                <a:latin typeface="Times New Roman"/>
              </a:rPr>
              <a:t>Equation (1), in words</a:t>
            </a:r>
          </a:p>
          <a:p>
            <a:pPr algn="l">
              <a:lnSpc>
                <a:spcPct val="105000"/>
              </a:lnSpc>
              <a:spcAft>
                <a:spcPts val="1000"/>
              </a:spcAft>
            </a:pPr>
            <a:r>
              <a:rPr sz="2300" b="1" i="1">
                <a:solidFill>
                  <a:srgbClr val="7A1916"/>
                </a:solidFill>
                <a:latin typeface="Times New Roman"/>
              </a:rPr>
              <a:t>Migration share</a:t>
            </a:r>
            <a:r>
              <a:rPr sz="2300" b="0" i="1">
                <a:solidFill>
                  <a:srgbClr val="1A1A1A"/>
                </a:solidFill>
                <a:latin typeface="Times New Roman"/>
              </a:rPr>
              <a:t> = f(cost of migration, adult literacy, inequality, inequality², political instability, inflation, population density, unemployment, per capita income)</a:t>
            </a:r>
          </a:p>
        </p:txBody>
      </p:sp>
      <p:sp>
        <p:nvSpPr>
          <p:cNvPr id="11" name="strength box"/>
          <p:cNvSpPr/>
          <p:nvPr/>
        </p:nvSpPr>
        <p:spPr>
          <a:xfrm>
            <a:off x="914400" y="7863840"/>
            <a:ext cx="6035040" cy="1691640"/>
          </a:xfrm>
          <a:prstGeom prst="roundRect">
            <a:avLst>
              <a:gd name="adj" fmla="val 4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rength edge"/>
          <p:cNvSpPr/>
          <p:nvPr/>
        </p:nvSpPr>
        <p:spPr>
          <a:xfrm>
            <a:off x="914400" y="7863840"/>
            <a:ext cx="109728" cy="1691640"/>
          </a:xfrm>
          <a:prstGeom prst="roundRect">
            <a:avLst>
              <a:gd name="adj" fmla="val 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rength text"/>
          <p:cNvSpPr txBox="1"/>
          <p:nvPr/>
        </p:nvSpPr>
        <p:spPr>
          <a:xfrm>
            <a:off x="1280160" y="8065008"/>
            <a:ext cx="5440679" cy="1371600"/>
          </a:xfrm>
          <a:prstGeom prst="rect">
            <a:avLst/>
          </a:prstGeom>
          <a:noFill/>
        </p:spPr>
        <p:txBody>
          <a:bodyPr wrap="square" lIns="0" rIns="0" tIns="0" bIns="0" anchor="t">
            <a:noAutofit/>
          </a:bodyPr>
          <a:lstStyle/>
          <a:p>
            <a:pPr algn="l">
              <a:lnSpc>
                <a:spcPct val="105000"/>
              </a:lnSpc>
              <a:spcAft>
                <a:spcPts val="600"/>
              </a:spcAft>
            </a:pPr>
            <a:r>
              <a:rPr sz="2400" b="1" i="0">
                <a:solidFill>
                  <a:srgbClr val="2E7D32"/>
                </a:solidFill>
                <a:latin typeface="Times New Roman"/>
              </a:rPr>
              <a:t>Strength</a:t>
            </a:r>
          </a:p>
          <a:p>
            <a:pPr algn="l">
              <a:lnSpc>
                <a:spcPct val="105000"/>
              </a:lnSpc>
              <a:spcAft>
                <a:spcPts val="600"/>
              </a:spcAft>
            </a:pPr>
            <a:r>
              <a:rPr sz="2300" b="0" i="0">
                <a:solidFill>
                  <a:srgbClr val="1A1A1A"/>
                </a:solidFill>
                <a:latin typeface="Times New Roman"/>
              </a:rPr>
              <a:t>Grounded in established theory; testable expected signs.</a:t>
            </a:r>
          </a:p>
        </p:txBody>
      </p:sp>
      <p:sp>
        <p:nvSpPr>
          <p:cNvPr id="14" name="critique box"/>
          <p:cNvSpPr/>
          <p:nvPr/>
        </p:nvSpPr>
        <p:spPr>
          <a:xfrm>
            <a:off x="7315200" y="7863840"/>
            <a:ext cx="10058400" cy="1691640"/>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ritique edge"/>
          <p:cNvSpPr/>
          <p:nvPr/>
        </p:nvSpPr>
        <p:spPr>
          <a:xfrm>
            <a:off x="7315200" y="7863840"/>
            <a:ext cx="109728" cy="1691640"/>
          </a:xfrm>
          <a:prstGeom prst="roundRect">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ritique text"/>
          <p:cNvSpPr txBox="1"/>
          <p:nvPr/>
        </p:nvSpPr>
        <p:spPr>
          <a:xfrm>
            <a:off x="7680960" y="8065008"/>
            <a:ext cx="9464040" cy="1371600"/>
          </a:xfrm>
          <a:prstGeom prst="rect">
            <a:avLst/>
          </a:prstGeom>
          <a:noFill/>
        </p:spPr>
        <p:txBody>
          <a:bodyPr wrap="square" lIns="0" rIns="0" tIns="0" bIns="0" anchor="t">
            <a:noAutofit/>
          </a:bodyPr>
          <a:lstStyle/>
          <a:p>
            <a:pPr algn="l">
              <a:lnSpc>
                <a:spcPct val="105000"/>
              </a:lnSpc>
              <a:spcAft>
                <a:spcPts val="600"/>
              </a:spcAft>
            </a:pPr>
            <a:r>
              <a:rPr sz="2400" b="1" i="0">
                <a:solidFill>
                  <a:srgbClr val="C00000"/>
                </a:solidFill>
                <a:latin typeface="Times New Roman"/>
              </a:rPr>
              <a:t>Critical note</a:t>
            </a:r>
          </a:p>
          <a:p>
            <a:pPr algn="l">
              <a:lnSpc>
                <a:spcPct val="105000"/>
              </a:lnSpc>
              <a:spcAft>
                <a:spcPts val="600"/>
              </a:spcAft>
            </a:pPr>
            <a:r>
              <a:rPr sz="2300" b="1" i="0">
                <a:solidFill>
                  <a:srgbClr val="C00000"/>
                </a:solidFill>
                <a:latin typeface="Times New Roman"/>
              </a:rPr>
              <a:t>Eclectic, not structural</a:t>
            </a:r>
            <a:r>
              <a:rPr sz="2300" b="0" i="0">
                <a:solidFill>
                  <a:srgbClr val="1A1A1A"/>
                </a:solidFill>
                <a:latin typeface="Times New Roman"/>
              </a:rPr>
              <a:t>; the gravity model is bilateral, yet </a:t>
            </a:r>
            <a:r>
              <a:rPr sz="2300" b="1" i="0">
                <a:solidFill>
                  <a:srgbClr val="C00000"/>
                </a:solidFill>
                <a:latin typeface="Times New Roman"/>
              </a:rPr>
              <a:t>no pull (destination-side) variables</a:t>
            </a:r>
            <a:r>
              <a:rPr sz="2300" b="0" i="0">
                <a:solidFill>
                  <a:srgbClr val="1A1A1A"/>
                </a:solidFill>
                <a:latin typeface="Times New Roman"/>
              </a:rPr>
              <a:t> enter.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3. Data</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Annual national aggregates, 1975–2005: T = 31, all secondary.</a:t>
            </a:r>
          </a:p>
        </p:txBody>
      </p:sp>
      <p:sp>
        <p:nvSpPr>
          <p:cNvPr id="7" name="Guiding question"/>
          <p:cNvSpPr txBox="1"/>
          <p:nvPr/>
        </p:nvSpPr>
        <p:spPr>
          <a:xfrm>
            <a:off x="914400" y="3611880"/>
            <a:ext cx="16459200" cy="457200"/>
          </a:xfrm>
          <a:prstGeom prst="rect">
            <a:avLst/>
          </a:prstGeom>
          <a:noFill/>
        </p:spPr>
        <p:txBody>
          <a:bodyPr wrap="square" lIns="0" rIns="0" tIns="0" bIns="0" anchor="t">
            <a:noAutofit/>
          </a:bodyPr>
          <a:lstStyle/>
          <a:p>
            <a:pPr algn="l">
              <a:lnSpc>
                <a:spcPct val="105000"/>
              </a:lnSpc>
              <a:spcAft>
                <a:spcPts val="1000"/>
              </a:spcAft>
            </a:pPr>
            <a:r>
              <a:rPr sz="2200" b="1" i="0">
                <a:solidFill>
                  <a:srgbClr val="555555"/>
                </a:solidFill>
                <a:latin typeface="Times New Roman"/>
              </a:rPr>
              <a:t>Guiding question:</a:t>
            </a:r>
            <a:r>
              <a:rPr sz="2200" b="0" i="0">
                <a:solidFill>
                  <a:srgbClr val="555555"/>
                </a:solidFill>
                <a:latin typeface="Times New Roman"/>
              </a:rPr>
              <a:t> </a:t>
            </a:r>
            <a:r>
              <a:rPr sz="2200" b="0" i="1">
                <a:solidFill>
                  <a:srgbClr val="555555"/>
                </a:solidFill>
                <a:latin typeface="Times New Roman"/>
              </a:rPr>
              <a:t>What data were used, and where were they obtained?</a:t>
            </a:r>
          </a:p>
        </p:txBody>
      </p:sp>
      <p:graphicFrame>
        <p:nvGraphicFramePr>
          <p:cNvPr id="8" name="Data table"/>
          <p:cNvGraphicFramePr>
            <a:graphicFrameLocks noGrp="1"/>
          </p:cNvGraphicFramePr>
          <p:nvPr/>
        </p:nvGraphicFramePr>
        <p:xfrm>
          <a:off x="914400" y="4160520"/>
          <a:ext cx="16459200" cy="3803904"/>
        </p:xfrm>
        <a:graphic>
          <a:graphicData uri="http://schemas.openxmlformats.org/drawingml/2006/table">
            <a:tbl>
              <a:tblPr firstRow="0" bandRow="0">
                <a:tableStyleId>{5940675A-B579-460E-94D1-54222C63F5DA}</a:tableStyleId>
              </a:tblPr>
              <a:tblGrid>
                <a:gridCol w="4206240"/>
                <a:gridCol w="7863840"/>
                <a:gridCol w="4389120"/>
              </a:tblGrid>
              <a:tr h="475488">
                <a:tc>
                  <a:txBody>
                    <a:bodyPr wrap="square"/>
                    <a:lstStyle/>
                    <a:p>
                      <a:r>
                        <a:rPr sz="2100" b="1" i="0">
                          <a:solidFill>
                            <a:srgbClr val="FFFFFF"/>
                          </a:solidFill>
                          <a:latin typeface="Times New Roman"/>
                        </a:rPr>
                        <a:t>Variable</a:t>
                      </a:r>
                    </a:p>
                  </a:txBody>
                  <a:tcPr marL="109728" marR="109728" marT="45720" marB="45720" anchor="ctr">
                    <a:solidFill>
                      <a:srgbClr val="7A1916"/>
                    </a:solidFill>
                  </a:tcPr>
                </a:tc>
                <a:tc>
                  <a:txBody>
                    <a:bodyPr wrap="square"/>
                    <a:lstStyle/>
                    <a:p>
                      <a:r>
                        <a:rPr sz="2100" b="1" i="0">
                          <a:solidFill>
                            <a:srgbClr val="FFFFFF"/>
                          </a:solidFill>
                          <a:latin typeface="Times New Roman"/>
                        </a:rPr>
                        <a:t>Measure / proxy</a:t>
                      </a:r>
                    </a:p>
                  </a:txBody>
                  <a:tcPr marL="109728" marR="109728" marT="45720" marB="45720" anchor="ctr">
                    <a:solidFill>
                      <a:srgbClr val="7A1916"/>
                    </a:solidFill>
                  </a:tcPr>
                </a:tc>
                <a:tc>
                  <a:txBody>
                    <a:bodyPr wrap="square"/>
                    <a:lstStyle/>
                    <a:p>
                      <a:r>
                        <a:rPr sz="2100" b="1" i="0">
                          <a:solidFill>
                            <a:srgbClr val="FFFFFF"/>
                          </a:solidFill>
                          <a:latin typeface="Times New Roman"/>
                        </a:rPr>
                        <a:t>Source</a:t>
                      </a:r>
                    </a:p>
                  </a:txBody>
                  <a:tcPr marL="109728" marR="109728" marT="45720" marB="45720" anchor="ctr">
                    <a:solidFill>
                      <a:srgbClr val="7A1916"/>
                    </a:solidFill>
                  </a:tcPr>
                </a:tc>
              </a:tr>
              <a:tr h="475488">
                <a:tc>
                  <a:txBody>
                    <a:bodyPr wrap="square"/>
                    <a:lstStyle/>
                    <a:p>
                      <a:r>
                        <a:rPr sz="2100" b="1" i="0">
                          <a:solidFill>
                            <a:srgbClr val="1A1A1A"/>
                          </a:solidFill>
                          <a:latin typeface="Times New Roman"/>
                        </a:rPr>
                        <a:t>Migration share (m)</a:t>
                      </a:r>
                    </a:p>
                  </a:txBody>
                  <a:tcPr marL="109728" marR="109728" marT="45720" marB="45720" anchor="ctr">
                    <a:solidFill>
                      <a:srgbClr val="FFFFFF"/>
                    </a:solidFill>
                  </a:tcPr>
                </a:tc>
                <a:tc>
                  <a:txBody>
                    <a:bodyPr wrap="square"/>
                    <a:lstStyle/>
                    <a:p>
                      <a:r>
                        <a:rPr sz="2100" b="0" i="0">
                          <a:solidFill>
                            <a:srgbClr val="1A1A1A"/>
                          </a:solidFill>
                          <a:latin typeface="Times New Roman"/>
                        </a:rPr>
                        <a:t>(Temporary + permanent migrants) ÷ population</a:t>
                      </a:r>
                    </a:p>
                  </a:txBody>
                  <a:tcPr marL="109728" marR="109728" marT="45720" marB="45720" anchor="ctr">
                    <a:solidFill>
                      <a:srgbClr val="FFFFFF"/>
                    </a:solidFill>
                  </a:tcPr>
                </a:tc>
                <a:tc>
                  <a:txBody>
                    <a:bodyPr wrap="square"/>
                    <a:lstStyle/>
                    <a:p>
                      <a:r>
                        <a:rPr sz="2100" b="0" i="0">
                          <a:solidFill>
                            <a:srgbClr val="1A1A1A"/>
                          </a:solidFill>
                          <a:latin typeface="Times New Roman"/>
                        </a:rPr>
                        <a:t>CFO; NSCB</a:t>
                      </a:r>
                    </a:p>
                  </a:txBody>
                  <a:tcPr marL="109728" marR="109728" marT="45720" marB="45720" anchor="ctr">
                    <a:solidFill>
                      <a:srgbClr val="FFFFFF"/>
                    </a:solidFill>
                  </a:tcPr>
                </a:tc>
              </a:tr>
              <a:tr h="475488">
                <a:tc>
                  <a:txBody>
                    <a:bodyPr wrap="square"/>
                    <a:lstStyle/>
                    <a:p>
                      <a:r>
                        <a:rPr sz="2100" b="1" i="0">
                          <a:solidFill>
                            <a:srgbClr val="1A1A1A"/>
                          </a:solidFill>
                          <a:latin typeface="Times New Roman"/>
                        </a:rPr>
                        <a:t>Cost of migration</a:t>
                      </a:r>
                    </a:p>
                  </a:txBody>
                  <a:tcPr marL="109728" marR="109728" marT="45720" marB="45720" anchor="ctr">
                    <a:solidFill>
                      <a:srgbClr val="F4F4F4"/>
                    </a:solidFill>
                  </a:tcPr>
                </a:tc>
                <a:tc>
                  <a:txBody>
                    <a:bodyPr wrap="square"/>
                    <a:lstStyle/>
                    <a:p>
                      <a:r>
                        <a:rPr sz="2100" b="0" i="0">
                          <a:solidFill>
                            <a:srgbClr val="1A1A1A"/>
                          </a:solidFill>
                          <a:latin typeface="Times New Roman"/>
                        </a:rPr>
                        <a:t>One-way airfare, Manila → top 24 destinations (proxy)</a:t>
                      </a:r>
                    </a:p>
                  </a:txBody>
                  <a:tcPr marL="109728" marR="109728" marT="45720" marB="45720" anchor="ctr">
                    <a:solidFill>
                      <a:srgbClr val="F4F4F4"/>
                    </a:solidFill>
                  </a:tcPr>
                </a:tc>
                <a:tc>
                  <a:txBody>
                    <a:bodyPr wrap="square"/>
                    <a:lstStyle/>
                    <a:p>
                      <a:r>
                        <a:rPr sz="2100" b="0" i="0">
                          <a:solidFill>
                            <a:srgbClr val="1A1A1A"/>
                          </a:solidFill>
                          <a:latin typeface="Times New Roman"/>
                        </a:rPr>
                        <a:t>Authors’ estimate</a:t>
                      </a:r>
                    </a:p>
                  </a:txBody>
                  <a:tcPr marL="109728" marR="109728" marT="45720" marB="45720" anchor="ctr">
                    <a:solidFill>
                      <a:srgbClr val="F4F4F4"/>
                    </a:solidFill>
                  </a:tcPr>
                </a:tc>
              </a:tr>
              <a:tr h="475488">
                <a:tc>
                  <a:txBody>
                    <a:bodyPr wrap="square"/>
                    <a:lstStyle/>
                    <a:p>
                      <a:r>
                        <a:rPr sz="2100" b="1" i="0">
                          <a:solidFill>
                            <a:srgbClr val="1A1A1A"/>
                          </a:solidFill>
                          <a:latin typeface="Times New Roman"/>
                        </a:rPr>
                        <a:t>Adult literacy</a:t>
                      </a:r>
                    </a:p>
                  </a:txBody>
                  <a:tcPr marL="109728" marR="109728" marT="45720" marB="45720" anchor="ctr">
                    <a:solidFill>
                      <a:srgbClr val="FFFFFF"/>
                    </a:solidFill>
                  </a:tcPr>
                </a:tc>
                <a:tc>
                  <a:txBody>
                    <a:bodyPr wrap="square"/>
                    <a:lstStyle/>
                    <a:p>
                      <a:r>
                        <a:rPr sz="2100" b="0" i="0">
                          <a:solidFill>
                            <a:srgbClr val="1A1A1A"/>
                          </a:solidFill>
                          <a:latin typeface="Times New Roman"/>
                        </a:rPr>
                        <a:t>Adult literacy rate (proxy for education)</a:t>
                      </a:r>
                    </a:p>
                  </a:txBody>
                  <a:tcPr marL="109728" marR="109728" marT="45720" marB="45720" anchor="ctr">
                    <a:solidFill>
                      <a:srgbClr val="FFFFFF"/>
                    </a:solidFill>
                  </a:tcPr>
                </a:tc>
                <a:tc>
                  <a:txBody>
                    <a:bodyPr wrap="square"/>
                    <a:lstStyle/>
                    <a:p>
                      <a:r>
                        <a:rPr sz="2100" b="0" i="0">
                          <a:solidFill>
                            <a:srgbClr val="1A1A1A"/>
                          </a:solidFill>
                          <a:latin typeface="Times New Roman"/>
                        </a:rPr>
                        <a:t>BSP; NSCB</a:t>
                      </a:r>
                    </a:p>
                  </a:txBody>
                  <a:tcPr marL="109728" marR="109728" marT="45720" marB="45720" anchor="ctr">
                    <a:solidFill>
                      <a:srgbClr val="FFFFFF"/>
                    </a:solidFill>
                  </a:tcPr>
                </a:tc>
              </a:tr>
              <a:tr h="475488">
                <a:tc>
                  <a:txBody>
                    <a:bodyPr wrap="square"/>
                    <a:lstStyle/>
                    <a:p>
                      <a:r>
                        <a:rPr sz="2100" b="1" i="0">
                          <a:solidFill>
                            <a:srgbClr val="1A1A1A"/>
                          </a:solidFill>
                          <a:latin typeface="Times New Roman"/>
                        </a:rPr>
                        <a:t>Inequality, inequality²</a:t>
                      </a:r>
                    </a:p>
                  </a:txBody>
                  <a:tcPr marL="109728" marR="109728" marT="45720" marB="45720" anchor="ctr">
                    <a:solidFill>
                      <a:srgbClr val="F4F4F4"/>
                    </a:solidFill>
                  </a:tcPr>
                </a:tc>
                <a:tc>
                  <a:txBody>
                    <a:bodyPr wrap="square"/>
                    <a:lstStyle/>
                    <a:p>
                      <a:r>
                        <a:rPr sz="2100" b="0" i="0">
                          <a:solidFill>
                            <a:srgbClr val="1A1A1A"/>
                          </a:solidFill>
                          <a:latin typeface="Times New Roman"/>
                        </a:rPr>
                        <a:t>Gini coefficient and its square</a:t>
                      </a:r>
                    </a:p>
                  </a:txBody>
                  <a:tcPr marL="109728" marR="109728" marT="45720" marB="45720" anchor="ctr">
                    <a:solidFill>
                      <a:srgbClr val="F4F4F4"/>
                    </a:solidFill>
                  </a:tcPr>
                </a:tc>
                <a:tc>
                  <a:txBody>
                    <a:bodyPr wrap="square"/>
                    <a:lstStyle/>
                    <a:p>
                      <a:r>
                        <a:rPr sz="2100" b="1" i="0">
                          <a:solidFill>
                            <a:srgbClr val="7A1916"/>
                          </a:solidFill>
                          <a:latin typeface="Times New Roman"/>
                        </a:rPr>
                        <a:t>Not stated</a:t>
                      </a:r>
                    </a:p>
                  </a:txBody>
                  <a:tcPr marL="109728" marR="109728" marT="45720" marB="45720" anchor="ctr">
                    <a:solidFill>
                      <a:srgbClr val="F4F4F4"/>
                    </a:solidFill>
                  </a:tcPr>
                </a:tc>
              </a:tr>
              <a:tr h="475488">
                <a:tc>
                  <a:txBody>
                    <a:bodyPr wrap="square"/>
                    <a:lstStyle/>
                    <a:p>
                      <a:r>
                        <a:rPr sz="2100" b="1" i="0">
                          <a:solidFill>
                            <a:srgbClr val="1A1A1A"/>
                          </a:solidFill>
                          <a:latin typeface="Times New Roman"/>
                        </a:rPr>
                        <a:t>Political instability</a:t>
                      </a:r>
                    </a:p>
                  </a:txBody>
                  <a:tcPr marL="109728" marR="109728" marT="45720" marB="45720" anchor="ctr">
                    <a:solidFill>
                      <a:srgbClr val="FFFFFF"/>
                    </a:solidFill>
                  </a:tcPr>
                </a:tc>
                <a:tc>
                  <a:txBody>
                    <a:bodyPr wrap="square"/>
                    <a:lstStyle/>
                    <a:p>
                      <a:r>
                        <a:rPr sz="2100" b="0" i="0">
                          <a:solidFill>
                            <a:srgbClr val="1A1A1A"/>
                          </a:solidFill>
                          <a:latin typeface="Times New Roman"/>
                        </a:rPr>
                        <a:t>Leadership changes, coups and uprisings</a:t>
                      </a:r>
                    </a:p>
                  </a:txBody>
                  <a:tcPr marL="109728" marR="109728" marT="45720" marB="45720" anchor="ctr">
                    <a:solidFill>
                      <a:srgbClr val="FFFFFF"/>
                    </a:solidFill>
                  </a:tcPr>
                </a:tc>
                <a:tc>
                  <a:txBody>
                    <a:bodyPr wrap="square"/>
                    <a:lstStyle/>
                    <a:p>
                      <a:r>
                        <a:rPr sz="2100" b="0" i="0">
                          <a:solidFill>
                            <a:srgbClr val="1A1A1A"/>
                          </a:solidFill>
                          <a:latin typeface="Times New Roman"/>
                        </a:rPr>
                        <a:t>Gastil (1987) approach</a:t>
                      </a:r>
                    </a:p>
                  </a:txBody>
                  <a:tcPr marL="109728" marR="109728" marT="45720" marB="45720" anchor="ctr">
                    <a:solidFill>
                      <a:srgbClr val="FFFFFF"/>
                    </a:solidFill>
                  </a:tcPr>
                </a:tc>
              </a:tr>
              <a:tr h="475488">
                <a:tc>
                  <a:txBody>
                    <a:bodyPr wrap="square"/>
                    <a:lstStyle/>
                    <a:p>
                      <a:r>
                        <a:rPr sz="2100" b="1" i="0">
                          <a:solidFill>
                            <a:srgbClr val="1A1A1A"/>
                          </a:solidFill>
                          <a:latin typeface="Times New Roman"/>
                        </a:rPr>
                        <a:t>Inflation; unemployment; income</a:t>
                      </a:r>
                    </a:p>
                  </a:txBody>
                  <a:tcPr marL="109728" marR="109728" marT="45720" marB="45720" anchor="ctr">
                    <a:solidFill>
                      <a:srgbClr val="F4F4F4"/>
                    </a:solidFill>
                  </a:tcPr>
                </a:tc>
                <a:tc>
                  <a:txBody>
                    <a:bodyPr wrap="square"/>
                    <a:lstStyle/>
                    <a:p>
                      <a:r>
                        <a:rPr sz="2100" b="0" i="0">
                          <a:solidFill>
                            <a:srgbClr val="1A1A1A"/>
                          </a:solidFill>
                          <a:latin typeface="Times New Roman"/>
                        </a:rPr>
                        <a:t>CPI inflation; unemployment rate; real GDP per capita</a:t>
                      </a:r>
                    </a:p>
                  </a:txBody>
                  <a:tcPr marL="109728" marR="109728" marT="45720" marB="45720" anchor="ctr">
                    <a:solidFill>
                      <a:srgbClr val="F4F4F4"/>
                    </a:solidFill>
                  </a:tcPr>
                </a:tc>
                <a:tc>
                  <a:txBody>
                    <a:bodyPr wrap="square"/>
                    <a:lstStyle/>
                    <a:p>
                      <a:r>
                        <a:rPr sz="2100" b="0" i="0">
                          <a:solidFill>
                            <a:srgbClr val="1A1A1A"/>
                          </a:solidFill>
                          <a:latin typeface="Times New Roman"/>
                        </a:rPr>
                        <a:t>IMF IFS; BSP; NSCB</a:t>
                      </a:r>
                    </a:p>
                  </a:txBody>
                  <a:tcPr marL="109728" marR="109728" marT="45720" marB="45720" anchor="ctr">
                    <a:solidFill>
                      <a:srgbClr val="F4F4F4"/>
                    </a:solidFill>
                  </a:tcPr>
                </a:tc>
              </a:tr>
              <a:tr h="475488">
                <a:tc>
                  <a:txBody>
                    <a:bodyPr wrap="square"/>
                    <a:lstStyle/>
                    <a:p>
                      <a:r>
                        <a:rPr sz="2100" b="1" i="0">
                          <a:solidFill>
                            <a:srgbClr val="1A1A1A"/>
                          </a:solidFill>
                          <a:latin typeface="Times New Roman"/>
                        </a:rPr>
                        <a:t>Population density</a:t>
                      </a:r>
                    </a:p>
                  </a:txBody>
                  <a:tcPr marL="109728" marR="109728" marT="45720" marB="45720" anchor="ctr">
                    <a:solidFill>
                      <a:srgbClr val="FFFFFF"/>
                    </a:solidFill>
                  </a:tcPr>
                </a:tc>
                <a:tc>
                  <a:txBody>
                    <a:bodyPr wrap="square"/>
                    <a:lstStyle/>
                    <a:p>
                      <a:r>
                        <a:rPr sz="2100" b="0" i="0">
                          <a:solidFill>
                            <a:srgbClr val="1A1A1A"/>
                          </a:solidFill>
                          <a:latin typeface="Times New Roman"/>
                        </a:rPr>
                        <a:t>People per km²</a:t>
                      </a:r>
                    </a:p>
                  </a:txBody>
                  <a:tcPr marL="109728" marR="109728" marT="45720" marB="45720" anchor="ctr">
                    <a:solidFill>
                      <a:srgbClr val="FFFFFF"/>
                    </a:solidFill>
                  </a:tcPr>
                </a:tc>
                <a:tc>
                  <a:txBody>
                    <a:bodyPr wrap="square"/>
                    <a:lstStyle/>
                    <a:p>
                      <a:r>
                        <a:rPr sz="2100" b="0" i="0">
                          <a:solidFill>
                            <a:srgbClr val="1A1A1A"/>
                          </a:solidFill>
                          <a:latin typeface="Times New Roman"/>
                        </a:rPr>
                        <a:t>NSCB</a:t>
                      </a:r>
                    </a:p>
                  </a:txBody>
                  <a:tcPr marL="109728" marR="109728" marT="45720" marB="45720" anchor="ctr">
                    <a:solidFill>
                      <a:srgbClr val="FFFFFF"/>
                    </a:solidFill>
                  </a:tcPr>
                </a:tc>
              </a:tr>
            </a:tbl>
          </a:graphicData>
        </a:graphic>
      </p:graphicFrame>
      <p:sp>
        <p:nvSpPr>
          <p:cNvPr id="9" name="critique box"/>
          <p:cNvSpPr/>
          <p:nvPr/>
        </p:nvSpPr>
        <p:spPr>
          <a:xfrm>
            <a:off x="914400" y="8183879"/>
            <a:ext cx="16459200" cy="1417320"/>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ritique edge"/>
          <p:cNvSpPr/>
          <p:nvPr/>
        </p:nvSpPr>
        <p:spPr>
          <a:xfrm>
            <a:off x="914400" y="8183879"/>
            <a:ext cx="109728" cy="1417320"/>
          </a:xfrm>
          <a:prstGeom prst="roundRect">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ritique text"/>
          <p:cNvSpPr txBox="1"/>
          <p:nvPr/>
        </p:nvSpPr>
        <p:spPr>
          <a:xfrm>
            <a:off x="1280160" y="8385048"/>
            <a:ext cx="15864840" cy="1097280"/>
          </a:xfrm>
          <a:prstGeom prst="rect">
            <a:avLst/>
          </a:prstGeom>
          <a:noFill/>
        </p:spPr>
        <p:txBody>
          <a:bodyPr wrap="square" lIns="0" rIns="0" tIns="0" bIns="0" anchor="t">
            <a:noAutofit/>
          </a:bodyPr>
          <a:lstStyle/>
          <a:p>
            <a:pPr algn="l">
              <a:lnSpc>
                <a:spcPct val="105000"/>
              </a:lnSpc>
              <a:spcAft>
                <a:spcPts val="600"/>
              </a:spcAft>
            </a:pPr>
            <a:r>
              <a:rPr sz="2400" b="1" i="0">
                <a:solidFill>
                  <a:srgbClr val="C00000"/>
                </a:solidFill>
                <a:latin typeface="Times New Roman"/>
              </a:rPr>
              <a:t>Critical note</a:t>
            </a:r>
          </a:p>
          <a:p>
            <a:pPr algn="l">
              <a:lnSpc>
                <a:spcPct val="105000"/>
              </a:lnSpc>
              <a:spcAft>
                <a:spcPts val="600"/>
              </a:spcAft>
            </a:pPr>
            <a:r>
              <a:rPr sz="2200" b="1" i="0">
                <a:solidFill>
                  <a:srgbClr val="C00000"/>
                </a:solidFill>
                <a:latin typeface="Times New Roman"/>
              </a:rPr>
              <a:t>Gini source not stated</a:t>
            </a:r>
            <a:r>
              <a:rPr sz="2200" b="0" i="0">
                <a:solidFill>
                  <a:srgbClr val="1A1A1A"/>
                </a:solidFill>
                <a:latin typeface="Times New Roman"/>
              </a:rPr>
              <a:t> (published only every few years → undisclosed interpolation); </a:t>
            </a:r>
            <a:r>
              <a:rPr sz="2200" b="1" i="0">
                <a:solidFill>
                  <a:srgbClr val="C00000"/>
                </a:solidFill>
                <a:latin typeface="Times New Roman"/>
              </a:rPr>
              <a:t>pooled</a:t>
            </a:r>
            <a:r>
              <a:rPr sz="2200" b="0" i="0">
                <a:solidFill>
                  <a:srgbClr val="1A1A1A"/>
                </a:solidFill>
                <a:latin typeface="Times New Roman"/>
              </a:rPr>
              <a:t> temporary + permanent migrants; airfare = </a:t>
            </a:r>
            <a:r>
              <a:rPr sz="2200" b="1" i="0">
                <a:solidFill>
                  <a:srgbClr val="C00000"/>
                </a:solidFill>
                <a:latin typeface="Times New Roman"/>
              </a:rPr>
              <a:t>lower bound</a:t>
            </a:r>
            <a:r>
              <a:rPr sz="2200" b="0" i="0">
                <a:solidFill>
                  <a:srgbClr val="1A1A1A"/>
                </a:solidFill>
                <a:latin typeface="Times New Roman"/>
              </a:rPr>
              <a:t>; literacy barely varies.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4. Methodology</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A textbook five-step time-series design.</a:t>
            </a:r>
          </a:p>
        </p:txBody>
      </p:sp>
      <p:sp>
        <p:nvSpPr>
          <p:cNvPr id="7" name="Guiding question"/>
          <p:cNvSpPr txBox="1"/>
          <p:nvPr/>
        </p:nvSpPr>
        <p:spPr>
          <a:xfrm>
            <a:off x="914400" y="3611880"/>
            <a:ext cx="16459200" cy="457200"/>
          </a:xfrm>
          <a:prstGeom prst="rect">
            <a:avLst/>
          </a:prstGeom>
          <a:noFill/>
        </p:spPr>
        <p:txBody>
          <a:bodyPr wrap="square" lIns="0" rIns="0" tIns="0" bIns="0" anchor="t">
            <a:noAutofit/>
          </a:bodyPr>
          <a:lstStyle/>
          <a:p>
            <a:pPr algn="l">
              <a:lnSpc>
                <a:spcPct val="105000"/>
              </a:lnSpc>
              <a:spcAft>
                <a:spcPts val="1000"/>
              </a:spcAft>
            </a:pPr>
            <a:r>
              <a:rPr sz="2200" b="1" i="0">
                <a:solidFill>
                  <a:srgbClr val="555555"/>
                </a:solidFill>
                <a:latin typeface="Times New Roman"/>
              </a:rPr>
              <a:t>Guiding question:</a:t>
            </a:r>
            <a:r>
              <a:rPr sz="2200" b="0" i="0">
                <a:solidFill>
                  <a:srgbClr val="555555"/>
                </a:solidFill>
                <a:latin typeface="Times New Roman"/>
              </a:rPr>
              <a:t> </a:t>
            </a:r>
            <a:r>
              <a:rPr sz="2200" b="0" i="1">
                <a:solidFill>
                  <a:srgbClr val="555555"/>
                </a:solidFill>
                <a:latin typeface="Times New Roman"/>
              </a:rPr>
              <a:t>What research methods and analytical approaches were employed?</a:t>
            </a:r>
          </a:p>
        </p:txBody>
      </p:sp>
      <p:sp>
        <p:nvSpPr>
          <p:cNvPr id="8" name="Steps"/>
          <p:cNvSpPr txBox="1"/>
          <p:nvPr/>
        </p:nvSpPr>
        <p:spPr>
          <a:xfrm>
            <a:off x="914400" y="4206240"/>
            <a:ext cx="9509760" cy="5394960"/>
          </a:xfrm>
          <a:prstGeom prst="rect">
            <a:avLst/>
          </a:prstGeom>
          <a:noFill/>
        </p:spPr>
        <p:txBody>
          <a:bodyPr wrap="square" lIns="0" rIns="0" tIns="0" bIns="0" anchor="t">
            <a:noAutofit/>
          </a:bodyPr>
          <a:lstStyle/>
          <a:p>
            <a:pPr algn="l">
              <a:lnSpc>
                <a:spcPct val="105000"/>
              </a:lnSpc>
              <a:spcAft>
                <a:spcPts val="1600"/>
              </a:spcAft>
            </a:pPr>
            <a:r>
              <a:rPr sz="2400" b="1" i="0">
                <a:solidFill>
                  <a:srgbClr val="7A1916"/>
                </a:solidFill>
                <a:latin typeface="Times New Roman"/>
              </a:rPr>
              <a:t>Step 1 – Unit roots:</a:t>
            </a:r>
            <a:r>
              <a:rPr sz="2400" b="0" i="0">
                <a:solidFill>
                  <a:srgbClr val="1A1A1A"/>
                </a:solidFill>
                <a:latin typeface="Times New Roman"/>
              </a:rPr>
              <a:t> ADF and Phillips–Perron; series treated as I(1)</a:t>
            </a:r>
          </a:p>
          <a:p>
            <a:pPr algn="l">
              <a:lnSpc>
                <a:spcPct val="105000"/>
              </a:lnSpc>
              <a:spcAft>
                <a:spcPts val="1600"/>
              </a:spcAft>
            </a:pPr>
            <a:r>
              <a:rPr sz="2400" b="1" i="0">
                <a:solidFill>
                  <a:srgbClr val="7A1916"/>
                </a:solidFill>
                <a:latin typeface="Times New Roman"/>
              </a:rPr>
              <a:t>Step 2 – Cointegration:</a:t>
            </a:r>
            <a:r>
              <a:rPr sz="2400" b="0" i="0">
                <a:solidFill>
                  <a:srgbClr val="1A1A1A"/>
                </a:solidFill>
                <a:latin typeface="Times New Roman"/>
              </a:rPr>
              <a:t> Engle–Granger, Johansen (λmax: 5 vectors; trace: 8), Pesaran bounds</a:t>
            </a:r>
          </a:p>
          <a:p>
            <a:pPr algn="l">
              <a:lnSpc>
                <a:spcPct val="105000"/>
              </a:lnSpc>
              <a:spcAft>
                <a:spcPts val="1600"/>
              </a:spcAft>
            </a:pPr>
            <a:r>
              <a:rPr sz="2400" b="1" i="0">
                <a:solidFill>
                  <a:srgbClr val="7A1916"/>
                </a:solidFill>
                <a:latin typeface="Times New Roman"/>
              </a:rPr>
              <a:t>Step 3 – Specification:</a:t>
            </a:r>
            <a:r>
              <a:rPr sz="2400" b="0" i="0">
                <a:solidFill>
                  <a:srgbClr val="1A1A1A"/>
                </a:solidFill>
                <a:latin typeface="Times New Roman"/>
              </a:rPr>
              <a:t> general-to-specific (Hendry)</a:t>
            </a:r>
          </a:p>
          <a:p>
            <a:pPr algn="l">
              <a:lnSpc>
                <a:spcPct val="105000"/>
              </a:lnSpc>
              <a:spcAft>
                <a:spcPts val="1600"/>
              </a:spcAft>
            </a:pPr>
            <a:r>
              <a:rPr sz="2400" b="1" i="0">
                <a:solidFill>
                  <a:srgbClr val="7A1916"/>
                </a:solidFill>
                <a:latin typeface="Times New Roman"/>
              </a:rPr>
              <a:t>Step 4 – Estimation:</a:t>
            </a:r>
            <a:r>
              <a:rPr sz="2400" b="0" i="0">
                <a:solidFill>
                  <a:srgbClr val="1A1A1A"/>
                </a:solidFill>
                <a:latin typeface="Times New Roman"/>
              </a:rPr>
              <a:t> unrestricted ECM by OLS (EViews 6.0)</a:t>
            </a:r>
          </a:p>
          <a:p>
            <a:pPr algn="l">
              <a:lnSpc>
                <a:spcPct val="105000"/>
              </a:lnSpc>
              <a:spcAft>
                <a:spcPts val="1600"/>
              </a:spcAft>
            </a:pPr>
            <a:r>
              <a:rPr sz="2400" b="1" i="0">
                <a:solidFill>
                  <a:srgbClr val="7A1916"/>
                </a:solidFill>
                <a:latin typeface="Times New Roman"/>
              </a:rPr>
              <a:t>Step 5 – Diagnostics:</a:t>
            </a:r>
            <a:r>
              <a:rPr sz="2400" b="0" i="0">
                <a:solidFill>
                  <a:srgbClr val="1A1A1A"/>
                </a:solidFill>
                <a:latin typeface="Times New Roman"/>
              </a:rPr>
              <a:t> LM, RESET, Jarque–Bera, ARCH, CUSUM, all passed</a:t>
            </a:r>
          </a:p>
        </p:txBody>
      </p:sp>
      <p:sp>
        <p:nvSpPr>
          <p:cNvPr id="9" name="strength box"/>
          <p:cNvSpPr/>
          <p:nvPr/>
        </p:nvSpPr>
        <p:spPr>
          <a:xfrm>
            <a:off x="10789920" y="4206240"/>
            <a:ext cx="6583680" cy="1554480"/>
          </a:xfrm>
          <a:prstGeom prst="roundRect">
            <a:avLst>
              <a:gd name="adj" fmla="val 4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rength edge"/>
          <p:cNvSpPr/>
          <p:nvPr/>
        </p:nvSpPr>
        <p:spPr>
          <a:xfrm>
            <a:off x="10789920" y="4206240"/>
            <a:ext cx="109728" cy="1554480"/>
          </a:xfrm>
          <a:prstGeom prst="roundRect">
            <a:avLst>
              <a:gd name="adj" fmla="val 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rength text"/>
          <p:cNvSpPr txBox="1"/>
          <p:nvPr/>
        </p:nvSpPr>
        <p:spPr>
          <a:xfrm>
            <a:off x="11155680" y="4407407"/>
            <a:ext cx="5989320" cy="1234440"/>
          </a:xfrm>
          <a:prstGeom prst="rect">
            <a:avLst/>
          </a:prstGeom>
          <a:noFill/>
        </p:spPr>
        <p:txBody>
          <a:bodyPr wrap="square" lIns="0" rIns="0" tIns="0" bIns="0" anchor="t">
            <a:noAutofit/>
          </a:bodyPr>
          <a:lstStyle/>
          <a:p>
            <a:pPr algn="l">
              <a:lnSpc>
                <a:spcPct val="105000"/>
              </a:lnSpc>
              <a:spcAft>
                <a:spcPts val="600"/>
              </a:spcAft>
            </a:pPr>
            <a:r>
              <a:rPr sz="2400" b="1" i="0">
                <a:solidFill>
                  <a:srgbClr val="2E7D32"/>
                </a:solidFill>
                <a:latin typeface="Times New Roman"/>
              </a:rPr>
              <a:t>Strength</a:t>
            </a:r>
          </a:p>
          <a:p>
            <a:pPr algn="l">
              <a:lnSpc>
                <a:spcPct val="105000"/>
              </a:lnSpc>
              <a:spcAft>
                <a:spcPts val="600"/>
              </a:spcAft>
            </a:pPr>
            <a:r>
              <a:rPr sz="2300" b="0" i="0">
                <a:solidFill>
                  <a:srgbClr val="1A1A1A"/>
                </a:solidFill>
                <a:latin typeface="Times New Roman"/>
              </a:rPr>
              <a:t>Textbook sequence; three cointegration tests; full diagnostics.</a:t>
            </a:r>
          </a:p>
        </p:txBody>
      </p:sp>
      <p:sp>
        <p:nvSpPr>
          <p:cNvPr id="12" name="critique box"/>
          <p:cNvSpPr/>
          <p:nvPr/>
        </p:nvSpPr>
        <p:spPr>
          <a:xfrm>
            <a:off x="10789920" y="5989320"/>
            <a:ext cx="6583680" cy="3611880"/>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ritique edge"/>
          <p:cNvSpPr/>
          <p:nvPr/>
        </p:nvSpPr>
        <p:spPr>
          <a:xfrm>
            <a:off x="10789920" y="5989320"/>
            <a:ext cx="109728" cy="3611880"/>
          </a:xfrm>
          <a:prstGeom prst="roundRect">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ritique text"/>
          <p:cNvSpPr txBox="1"/>
          <p:nvPr/>
        </p:nvSpPr>
        <p:spPr>
          <a:xfrm>
            <a:off x="11155680" y="6190488"/>
            <a:ext cx="5989320" cy="3291840"/>
          </a:xfrm>
          <a:prstGeom prst="rect">
            <a:avLst/>
          </a:prstGeom>
          <a:noFill/>
        </p:spPr>
        <p:txBody>
          <a:bodyPr wrap="square" lIns="0" rIns="0" tIns="0" bIns="0" anchor="t">
            <a:noAutofit/>
          </a:bodyPr>
          <a:lstStyle/>
          <a:p>
            <a:pPr algn="l">
              <a:lnSpc>
                <a:spcPct val="105000"/>
              </a:lnSpc>
              <a:spcAft>
                <a:spcPts val="600"/>
              </a:spcAft>
            </a:pPr>
            <a:r>
              <a:rPr sz="2400" b="1" i="0">
                <a:solidFill>
                  <a:srgbClr val="C00000"/>
                </a:solidFill>
                <a:latin typeface="Times New Roman"/>
              </a:rPr>
              <a:t>Critical note</a:t>
            </a:r>
          </a:p>
          <a:p>
            <a:pPr algn="l" marL="384048" indent="-384048">
              <a:lnSpc>
                <a:spcPct val="105000"/>
              </a:lnSpc>
              <a:spcAft>
                <a:spcPts val="600"/>
              </a:spcAft>
              <a:buClr>
                <a:srgbClr val="C00000"/>
              </a:buClr>
              <a:buFont typeface="Times New Roman"/>
              <a:buChar char="•"/>
            </a:pPr>
            <a:r>
              <a:rPr sz="2200" b="1" i="0">
                <a:solidFill>
                  <a:srgbClr val="C00000"/>
                </a:solidFill>
                <a:latin typeface="Times New Roman"/>
              </a:rPr>
              <a:t>One ECT</a:t>
            </a:r>
            <a:r>
              <a:rPr sz="2200" b="0" i="0">
                <a:solidFill>
                  <a:srgbClr val="1A1A1A"/>
                </a:solidFill>
                <a:latin typeface="Times New Roman"/>
              </a:rPr>
              <a:t> despite 5–8 cointegrating vectors</a:t>
            </a:r>
          </a:p>
          <a:p>
            <a:pPr algn="l" marL="384048" indent="-384048">
              <a:lnSpc>
                <a:spcPct val="105000"/>
              </a:lnSpc>
              <a:spcAft>
                <a:spcPts val="600"/>
              </a:spcAft>
              <a:buClr>
                <a:srgbClr val="C00000"/>
              </a:buClr>
              <a:buFont typeface="Times New Roman"/>
              <a:buChar char="•"/>
            </a:pPr>
            <a:r>
              <a:rPr sz="2200" b="1" i="0">
                <a:solidFill>
                  <a:srgbClr val="C00000"/>
                </a:solidFill>
                <a:latin typeface="Times New Roman"/>
              </a:rPr>
              <a:t>Income fails P–P</a:t>
            </a:r>
            <a:r>
              <a:rPr sz="2200" b="0" i="0">
                <a:solidFill>
                  <a:srgbClr val="1A1A1A"/>
                </a:solidFill>
                <a:latin typeface="Times New Roman"/>
              </a:rPr>
              <a:t> even in first differences (−2.123 vs. −2.623)</a:t>
            </a:r>
          </a:p>
          <a:p>
            <a:pPr algn="l" marL="384048" indent="-384048">
              <a:lnSpc>
                <a:spcPct val="105000"/>
              </a:lnSpc>
              <a:spcAft>
                <a:spcPts val="600"/>
              </a:spcAft>
              <a:buClr>
                <a:srgbClr val="C00000"/>
              </a:buClr>
              <a:buFont typeface="Times New Roman"/>
              <a:buChar char="•"/>
            </a:pPr>
            <a:r>
              <a:rPr sz="2200" b="1" i="0">
                <a:solidFill>
                  <a:srgbClr val="C00000"/>
                </a:solidFill>
                <a:latin typeface="Times New Roman"/>
              </a:rPr>
              <a:t>T = 31 for 10 terms</a:t>
            </a:r>
            <a:r>
              <a:rPr sz="2200" b="0" i="0">
                <a:solidFill>
                  <a:srgbClr val="1A1A1A"/>
                </a:solidFill>
                <a:latin typeface="Times New Roman"/>
              </a:rPr>
              <a:t> → low power; no structural-break tests (1986, 1997)</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5. Key Findings: the results</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Four push factors are significant; the model explains 63% of the variation.</a:t>
            </a:r>
          </a:p>
        </p:txBody>
      </p:sp>
      <p:sp>
        <p:nvSpPr>
          <p:cNvPr id="7" name="Guiding question"/>
          <p:cNvSpPr txBox="1"/>
          <p:nvPr/>
        </p:nvSpPr>
        <p:spPr>
          <a:xfrm>
            <a:off x="914400" y="3611880"/>
            <a:ext cx="16459200" cy="457200"/>
          </a:xfrm>
          <a:prstGeom prst="rect">
            <a:avLst/>
          </a:prstGeom>
          <a:noFill/>
        </p:spPr>
        <p:txBody>
          <a:bodyPr wrap="square" lIns="0" rIns="0" tIns="0" bIns="0" anchor="t">
            <a:noAutofit/>
          </a:bodyPr>
          <a:lstStyle/>
          <a:p>
            <a:pPr algn="l">
              <a:lnSpc>
                <a:spcPct val="105000"/>
              </a:lnSpc>
              <a:spcAft>
                <a:spcPts val="1000"/>
              </a:spcAft>
            </a:pPr>
            <a:r>
              <a:rPr sz="2200" b="1" i="0">
                <a:solidFill>
                  <a:srgbClr val="555555"/>
                </a:solidFill>
                <a:latin typeface="Times New Roman"/>
              </a:rPr>
              <a:t>Guiding question:</a:t>
            </a:r>
            <a:r>
              <a:rPr sz="2200" b="0" i="0">
                <a:solidFill>
                  <a:srgbClr val="555555"/>
                </a:solidFill>
                <a:latin typeface="Times New Roman"/>
              </a:rPr>
              <a:t> </a:t>
            </a:r>
            <a:r>
              <a:rPr sz="2200" b="0" i="1">
                <a:solidFill>
                  <a:srgbClr val="555555"/>
                </a:solidFill>
                <a:latin typeface="Times New Roman"/>
              </a:rPr>
              <a:t>What are the main results and conclusions of the study?</a:t>
            </a:r>
          </a:p>
        </p:txBody>
      </p:sp>
      <p:graphicFrame>
        <p:nvGraphicFramePr>
          <p:cNvPr id="8" name="Results table"/>
          <p:cNvGraphicFramePr>
            <a:graphicFrameLocks noGrp="1"/>
          </p:cNvGraphicFramePr>
          <p:nvPr/>
        </p:nvGraphicFramePr>
        <p:xfrm>
          <a:off x="914400" y="4160520"/>
          <a:ext cx="16459200" cy="4242816"/>
        </p:xfrm>
        <a:graphic>
          <a:graphicData uri="http://schemas.openxmlformats.org/drawingml/2006/table">
            <a:tbl>
              <a:tblPr firstRow="0" bandRow="0">
                <a:tableStyleId>{5940675A-B579-460E-94D1-54222C63F5DA}</a:tableStyleId>
              </a:tblPr>
              <a:tblGrid>
                <a:gridCol w="5669280"/>
                <a:gridCol w="3840480"/>
                <a:gridCol w="3840480"/>
                <a:gridCol w="3108960"/>
              </a:tblGrid>
              <a:tr h="530352">
                <a:tc>
                  <a:txBody>
                    <a:bodyPr wrap="square"/>
                    <a:lstStyle/>
                    <a:p>
                      <a:r>
                        <a:rPr sz="2200" b="1" i="0">
                          <a:solidFill>
                            <a:srgbClr val="FFFFFF"/>
                          </a:solidFill>
                          <a:latin typeface="Times New Roman"/>
                        </a:rPr>
                        <a:t>Explanatory variable</a:t>
                      </a:r>
                    </a:p>
                  </a:txBody>
                  <a:tcPr marL="109728" marR="109728" marT="45720" marB="45720" anchor="ctr">
                    <a:solidFill>
                      <a:srgbClr val="7A1916"/>
                    </a:solidFill>
                  </a:tcPr>
                </a:tc>
                <a:tc>
                  <a:txBody>
                    <a:bodyPr wrap="square"/>
                    <a:lstStyle/>
                    <a:p>
                      <a:r>
                        <a:rPr sz="2200" b="1" i="0">
                          <a:solidFill>
                            <a:srgbClr val="FFFFFF"/>
                          </a:solidFill>
                          <a:latin typeface="Times New Roman"/>
                        </a:rPr>
                        <a:t>Coefficient</a:t>
                      </a:r>
                    </a:p>
                  </a:txBody>
                  <a:tcPr marL="109728" marR="109728" marT="45720" marB="45720" anchor="ctr">
                    <a:solidFill>
                      <a:srgbClr val="7A1916"/>
                    </a:solidFill>
                  </a:tcPr>
                </a:tc>
                <a:tc>
                  <a:txBody>
                    <a:bodyPr wrap="square"/>
                    <a:lstStyle/>
                    <a:p>
                      <a:r>
                        <a:rPr sz="2200" b="1" i="0">
                          <a:solidFill>
                            <a:srgbClr val="FFFFFF"/>
                          </a:solidFill>
                          <a:latin typeface="Times New Roman"/>
                        </a:rPr>
                        <a:t>t-statistic</a:t>
                      </a:r>
                    </a:p>
                  </a:txBody>
                  <a:tcPr marL="109728" marR="109728" marT="45720" marB="45720" anchor="ctr">
                    <a:solidFill>
                      <a:srgbClr val="7A1916"/>
                    </a:solidFill>
                  </a:tcPr>
                </a:tc>
                <a:tc>
                  <a:txBody>
                    <a:bodyPr wrap="square"/>
                    <a:lstStyle/>
                    <a:p>
                      <a:r>
                        <a:rPr sz="2200" b="1" i="0">
                          <a:solidFill>
                            <a:srgbClr val="FFFFFF"/>
                          </a:solidFill>
                          <a:latin typeface="Times New Roman"/>
                        </a:rPr>
                        <a:t>Result (5%)</a:t>
                      </a:r>
                    </a:p>
                  </a:txBody>
                  <a:tcPr marL="109728" marR="109728" marT="45720" marB="45720" anchor="ctr">
                    <a:solidFill>
                      <a:srgbClr val="7A1916"/>
                    </a:solidFill>
                  </a:tcPr>
                </a:tc>
              </a:tr>
              <a:tr h="530352">
                <a:tc>
                  <a:txBody>
                    <a:bodyPr wrap="square"/>
                    <a:lstStyle/>
                    <a:p>
                      <a:r>
                        <a:rPr sz="2200" b="1" i="0">
                          <a:solidFill>
                            <a:srgbClr val="7A1916"/>
                          </a:solidFill>
                          <a:latin typeface="Times New Roman"/>
                        </a:rPr>
                        <a:t>Unemployment</a:t>
                      </a:r>
                    </a:p>
                  </a:txBody>
                  <a:tcPr marL="109728" marR="109728" marT="45720" marB="45720" anchor="ctr">
                    <a:solidFill>
                      <a:srgbClr val="F6ECEB"/>
                    </a:solidFill>
                  </a:tcPr>
                </a:tc>
                <a:tc>
                  <a:txBody>
                    <a:bodyPr wrap="square"/>
                    <a:lstStyle/>
                    <a:p>
                      <a:r>
                        <a:rPr sz="2200" b="0" i="0">
                          <a:solidFill>
                            <a:srgbClr val="1A1A1A"/>
                          </a:solidFill>
                          <a:latin typeface="Times New Roman"/>
                        </a:rPr>
                        <a:t>+0.236</a:t>
                      </a:r>
                    </a:p>
                  </a:txBody>
                  <a:tcPr marL="109728" marR="109728" marT="45720" marB="45720" anchor="ctr">
                    <a:solidFill>
                      <a:srgbClr val="F6ECEB"/>
                    </a:solidFill>
                  </a:tcPr>
                </a:tc>
                <a:tc>
                  <a:txBody>
                    <a:bodyPr wrap="square"/>
                    <a:lstStyle/>
                    <a:p>
                      <a:r>
                        <a:rPr sz="2200" b="0" i="0">
                          <a:solidFill>
                            <a:srgbClr val="1A1A1A"/>
                          </a:solidFill>
                          <a:latin typeface="Times New Roman"/>
                        </a:rPr>
                        <a:t>4.629</a:t>
                      </a:r>
                    </a:p>
                  </a:txBody>
                  <a:tcPr marL="109728" marR="109728" marT="45720" marB="45720" anchor="ctr">
                    <a:solidFill>
                      <a:srgbClr val="F6ECEB"/>
                    </a:solidFill>
                  </a:tcPr>
                </a:tc>
                <a:tc>
                  <a:txBody>
                    <a:bodyPr wrap="square"/>
                    <a:lstStyle/>
                    <a:p>
                      <a:r>
                        <a:rPr sz="2200" b="1" i="0">
                          <a:solidFill>
                            <a:srgbClr val="7A1916"/>
                          </a:solidFill>
                          <a:latin typeface="Times New Roman"/>
                        </a:rPr>
                        <a:t>Significant ↑</a:t>
                      </a:r>
                    </a:p>
                  </a:txBody>
                  <a:tcPr marL="109728" marR="109728" marT="45720" marB="45720" anchor="ctr">
                    <a:solidFill>
                      <a:srgbClr val="F6ECEB"/>
                    </a:solidFill>
                  </a:tcPr>
                </a:tc>
              </a:tr>
              <a:tr h="530352">
                <a:tc>
                  <a:txBody>
                    <a:bodyPr wrap="square"/>
                    <a:lstStyle/>
                    <a:p>
                      <a:r>
                        <a:rPr sz="2200" b="1" i="0">
                          <a:solidFill>
                            <a:srgbClr val="7A1916"/>
                          </a:solidFill>
                          <a:latin typeface="Times New Roman"/>
                        </a:rPr>
                        <a:t>Adult literacy</a:t>
                      </a:r>
                    </a:p>
                  </a:txBody>
                  <a:tcPr marL="109728" marR="109728" marT="45720" marB="45720" anchor="ctr">
                    <a:solidFill>
                      <a:srgbClr val="F6ECEB"/>
                    </a:solidFill>
                  </a:tcPr>
                </a:tc>
                <a:tc>
                  <a:txBody>
                    <a:bodyPr wrap="square"/>
                    <a:lstStyle/>
                    <a:p>
                      <a:r>
                        <a:rPr sz="2200" b="0" i="0">
                          <a:solidFill>
                            <a:srgbClr val="1A1A1A"/>
                          </a:solidFill>
                          <a:latin typeface="Times New Roman"/>
                        </a:rPr>
                        <a:t>−0.659</a:t>
                      </a:r>
                    </a:p>
                  </a:txBody>
                  <a:tcPr marL="109728" marR="109728" marT="45720" marB="45720" anchor="ctr">
                    <a:solidFill>
                      <a:srgbClr val="F6ECEB"/>
                    </a:solidFill>
                  </a:tcPr>
                </a:tc>
                <a:tc>
                  <a:txBody>
                    <a:bodyPr wrap="square"/>
                    <a:lstStyle/>
                    <a:p>
                      <a:r>
                        <a:rPr sz="2200" b="0" i="0">
                          <a:solidFill>
                            <a:srgbClr val="1A1A1A"/>
                          </a:solidFill>
                          <a:latin typeface="Times New Roman"/>
                        </a:rPr>
                        <a:t>−5.225</a:t>
                      </a:r>
                    </a:p>
                  </a:txBody>
                  <a:tcPr marL="109728" marR="109728" marT="45720" marB="45720" anchor="ctr">
                    <a:solidFill>
                      <a:srgbClr val="F6ECEB"/>
                    </a:solidFill>
                  </a:tcPr>
                </a:tc>
                <a:tc>
                  <a:txBody>
                    <a:bodyPr wrap="square"/>
                    <a:lstStyle/>
                    <a:p>
                      <a:r>
                        <a:rPr sz="2200" b="1" i="0">
                          <a:solidFill>
                            <a:srgbClr val="7A1916"/>
                          </a:solidFill>
                          <a:latin typeface="Times New Roman"/>
                        </a:rPr>
                        <a:t>Significant ↓</a:t>
                      </a:r>
                    </a:p>
                  </a:txBody>
                  <a:tcPr marL="109728" marR="109728" marT="45720" marB="45720" anchor="ctr">
                    <a:solidFill>
                      <a:srgbClr val="F6ECEB"/>
                    </a:solidFill>
                  </a:tcPr>
                </a:tc>
              </a:tr>
              <a:tr h="530352">
                <a:tc>
                  <a:txBody>
                    <a:bodyPr wrap="square"/>
                    <a:lstStyle/>
                    <a:p>
                      <a:r>
                        <a:rPr sz="2200" b="1" i="0">
                          <a:solidFill>
                            <a:srgbClr val="7A1916"/>
                          </a:solidFill>
                          <a:latin typeface="Times New Roman"/>
                        </a:rPr>
                        <a:t>Political instability</a:t>
                      </a:r>
                    </a:p>
                  </a:txBody>
                  <a:tcPr marL="109728" marR="109728" marT="45720" marB="45720" anchor="ctr">
                    <a:solidFill>
                      <a:srgbClr val="F6ECEB"/>
                    </a:solidFill>
                  </a:tcPr>
                </a:tc>
                <a:tc>
                  <a:txBody>
                    <a:bodyPr wrap="square"/>
                    <a:lstStyle/>
                    <a:p>
                      <a:r>
                        <a:rPr sz="2200" b="0" i="0">
                          <a:solidFill>
                            <a:srgbClr val="1A1A1A"/>
                          </a:solidFill>
                          <a:latin typeface="Times New Roman"/>
                        </a:rPr>
                        <a:t>−0.482</a:t>
                      </a:r>
                    </a:p>
                  </a:txBody>
                  <a:tcPr marL="109728" marR="109728" marT="45720" marB="45720" anchor="ctr">
                    <a:solidFill>
                      <a:srgbClr val="F6ECEB"/>
                    </a:solidFill>
                  </a:tcPr>
                </a:tc>
                <a:tc>
                  <a:txBody>
                    <a:bodyPr wrap="square"/>
                    <a:lstStyle/>
                    <a:p>
                      <a:r>
                        <a:rPr sz="2200" b="0" i="0">
                          <a:solidFill>
                            <a:srgbClr val="1A1A1A"/>
                          </a:solidFill>
                          <a:latin typeface="Times New Roman"/>
                        </a:rPr>
                        <a:t>−3.444</a:t>
                      </a:r>
                    </a:p>
                  </a:txBody>
                  <a:tcPr marL="109728" marR="109728" marT="45720" marB="45720" anchor="ctr">
                    <a:solidFill>
                      <a:srgbClr val="F6ECEB"/>
                    </a:solidFill>
                  </a:tcPr>
                </a:tc>
                <a:tc>
                  <a:txBody>
                    <a:bodyPr wrap="square"/>
                    <a:lstStyle/>
                    <a:p>
                      <a:r>
                        <a:rPr sz="2200" b="1" i="0">
                          <a:solidFill>
                            <a:srgbClr val="7A1916"/>
                          </a:solidFill>
                          <a:latin typeface="Times New Roman"/>
                        </a:rPr>
                        <a:t>Significant ↓</a:t>
                      </a:r>
                    </a:p>
                  </a:txBody>
                  <a:tcPr marL="109728" marR="109728" marT="45720" marB="45720" anchor="ctr">
                    <a:solidFill>
                      <a:srgbClr val="F6ECEB"/>
                    </a:solidFill>
                  </a:tcPr>
                </a:tc>
              </a:tr>
              <a:tr h="530352">
                <a:tc>
                  <a:txBody>
                    <a:bodyPr wrap="square"/>
                    <a:lstStyle/>
                    <a:p>
                      <a:r>
                        <a:rPr sz="2200" b="1" i="0">
                          <a:solidFill>
                            <a:srgbClr val="7A1916"/>
                          </a:solidFill>
                          <a:latin typeface="Times New Roman"/>
                        </a:rPr>
                        <a:t>Population density</a:t>
                      </a:r>
                    </a:p>
                  </a:txBody>
                  <a:tcPr marL="109728" marR="109728" marT="45720" marB="45720" anchor="ctr">
                    <a:solidFill>
                      <a:srgbClr val="F6ECEB"/>
                    </a:solidFill>
                  </a:tcPr>
                </a:tc>
                <a:tc>
                  <a:txBody>
                    <a:bodyPr wrap="square"/>
                    <a:lstStyle/>
                    <a:p>
                      <a:r>
                        <a:rPr sz="2200" b="0" i="0">
                          <a:solidFill>
                            <a:srgbClr val="1A1A1A"/>
                          </a:solidFill>
                          <a:latin typeface="Times New Roman"/>
                        </a:rPr>
                        <a:t>−0.254</a:t>
                      </a:r>
                    </a:p>
                  </a:txBody>
                  <a:tcPr marL="109728" marR="109728" marT="45720" marB="45720" anchor="ctr">
                    <a:solidFill>
                      <a:srgbClr val="F6ECEB"/>
                    </a:solidFill>
                  </a:tcPr>
                </a:tc>
                <a:tc>
                  <a:txBody>
                    <a:bodyPr wrap="square"/>
                    <a:lstStyle/>
                    <a:p>
                      <a:r>
                        <a:rPr sz="2200" b="0" i="0">
                          <a:solidFill>
                            <a:srgbClr val="1A1A1A"/>
                          </a:solidFill>
                          <a:latin typeface="Times New Roman"/>
                        </a:rPr>
                        <a:t>−2.756</a:t>
                      </a:r>
                    </a:p>
                  </a:txBody>
                  <a:tcPr marL="109728" marR="109728" marT="45720" marB="45720" anchor="ctr">
                    <a:solidFill>
                      <a:srgbClr val="F6ECEB"/>
                    </a:solidFill>
                  </a:tcPr>
                </a:tc>
                <a:tc>
                  <a:txBody>
                    <a:bodyPr wrap="square"/>
                    <a:lstStyle/>
                    <a:p>
                      <a:r>
                        <a:rPr sz="2200" b="1" i="0">
                          <a:solidFill>
                            <a:srgbClr val="7A1916"/>
                          </a:solidFill>
                          <a:latin typeface="Times New Roman"/>
                        </a:rPr>
                        <a:t>Significant ↓</a:t>
                      </a:r>
                    </a:p>
                  </a:txBody>
                  <a:tcPr marL="109728" marR="109728" marT="45720" marB="45720" anchor="ctr">
                    <a:solidFill>
                      <a:srgbClr val="F6ECEB"/>
                    </a:solidFill>
                  </a:tcPr>
                </a:tc>
              </a:tr>
              <a:tr h="530352">
                <a:tc>
                  <a:txBody>
                    <a:bodyPr wrap="square"/>
                    <a:lstStyle/>
                    <a:p>
                      <a:r>
                        <a:rPr sz="2200" b="1" i="0">
                          <a:solidFill>
                            <a:srgbClr val="1A1A1A"/>
                          </a:solidFill>
                          <a:latin typeface="Times New Roman"/>
                        </a:rPr>
                        <a:t>Inequality; inequality²</a:t>
                      </a:r>
                    </a:p>
                  </a:txBody>
                  <a:tcPr marL="109728" marR="109728" marT="45720" marB="45720" anchor="ctr">
                    <a:solidFill>
                      <a:srgbClr val="FFFFFF"/>
                    </a:solidFill>
                  </a:tcPr>
                </a:tc>
                <a:tc>
                  <a:txBody>
                    <a:bodyPr wrap="square"/>
                    <a:lstStyle/>
                    <a:p>
                      <a:r>
                        <a:rPr sz="2200" b="0" i="0">
                          <a:solidFill>
                            <a:srgbClr val="1A1A1A"/>
                          </a:solidFill>
                          <a:latin typeface="Times New Roman"/>
                        </a:rPr>
                        <a:t>−171.195; +165.927</a:t>
                      </a:r>
                    </a:p>
                  </a:txBody>
                  <a:tcPr marL="109728" marR="109728" marT="45720" marB="45720" anchor="ctr">
                    <a:solidFill>
                      <a:srgbClr val="FFFFFF"/>
                    </a:solidFill>
                  </a:tcPr>
                </a:tc>
                <a:tc>
                  <a:txBody>
                    <a:bodyPr wrap="square"/>
                    <a:lstStyle/>
                    <a:p>
                      <a:r>
                        <a:rPr sz="2200" b="0" i="0">
                          <a:solidFill>
                            <a:srgbClr val="1A1A1A"/>
                          </a:solidFill>
                          <a:latin typeface="Times New Roman"/>
                        </a:rPr>
                        <a:t>−1.594; 1.323</a:t>
                      </a:r>
                    </a:p>
                  </a:txBody>
                  <a:tcPr marL="109728" marR="109728" marT="45720" marB="45720" anchor="ctr">
                    <a:solidFill>
                      <a:srgbClr val="FFFFFF"/>
                    </a:solidFill>
                  </a:tcPr>
                </a:tc>
                <a:tc>
                  <a:txBody>
                    <a:bodyPr wrap="square"/>
                    <a:lstStyle/>
                    <a:p>
                      <a:r>
                        <a:rPr sz="2200" b="0" i="0">
                          <a:solidFill>
                            <a:srgbClr val="1A1A1A"/>
                          </a:solidFill>
                          <a:latin typeface="Times New Roman"/>
                        </a:rPr>
                        <a:t>Not significant</a:t>
                      </a:r>
                    </a:p>
                  </a:txBody>
                  <a:tcPr marL="109728" marR="109728" marT="45720" marB="45720" anchor="ctr">
                    <a:solidFill>
                      <a:srgbClr val="FFFFFF"/>
                    </a:solidFill>
                  </a:tcPr>
                </a:tc>
              </a:tr>
              <a:tr h="530352">
                <a:tc>
                  <a:txBody>
                    <a:bodyPr wrap="square"/>
                    <a:lstStyle/>
                    <a:p>
                      <a:r>
                        <a:rPr sz="2200" b="1" i="0">
                          <a:solidFill>
                            <a:srgbClr val="1A1A1A"/>
                          </a:solidFill>
                          <a:latin typeface="Times New Roman"/>
                        </a:rPr>
                        <a:t>Inflation; cost of migration; income</a:t>
                      </a:r>
                    </a:p>
                  </a:txBody>
                  <a:tcPr marL="109728" marR="109728" marT="45720" marB="45720" anchor="ctr">
                    <a:solidFill>
                      <a:srgbClr val="F4F4F4"/>
                    </a:solidFill>
                  </a:tcPr>
                </a:tc>
                <a:tc>
                  <a:txBody>
                    <a:bodyPr wrap="square"/>
                    <a:lstStyle/>
                    <a:p>
                      <a:r>
                        <a:rPr sz="2200" b="0" i="0">
                          <a:solidFill>
                            <a:srgbClr val="1A1A1A"/>
                          </a:solidFill>
                          <a:latin typeface="Times New Roman"/>
                        </a:rPr>
                        <a:t>−0.036; −0.002; −0.0002</a:t>
                      </a:r>
                    </a:p>
                  </a:txBody>
                  <a:tcPr marL="109728" marR="109728" marT="45720" marB="45720" anchor="ctr">
                    <a:solidFill>
                      <a:srgbClr val="F4F4F4"/>
                    </a:solidFill>
                  </a:tcPr>
                </a:tc>
                <a:tc>
                  <a:txBody>
                    <a:bodyPr wrap="square"/>
                    <a:lstStyle/>
                    <a:p>
                      <a:r>
                        <a:rPr sz="2200" b="0" i="0">
                          <a:solidFill>
                            <a:srgbClr val="1A1A1A"/>
                          </a:solidFill>
                          <a:latin typeface="Times New Roman"/>
                        </a:rPr>
                        <a:t>−1.327; −0.429; −0.293</a:t>
                      </a:r>
                    </a:p>
                  </a:txBody>
                  <a:tcPr marL="109728" marR="109728" marT="45720" marB="45720" anchor="ctr">
                    <a:solidFill>
                      <a:srgbClr val="F4F4F4"/>
                    </a:solidFill>
                  </a:tcPr>
                </a:tc>
                <a:tc>
                  <a:txBody>
                    <a:bodyPr wrap="square"/>
                    <a:lstStyle/>
                    <a:p>
                      <a:r>
                        <a:rPr sz="2200" b="0" i="0">
                          <a:solidFill>
                            <a:srgbClr val="1A1A1A"/>
                          </a:solidFill>
                          <a:latin typeface="Times New Roman"/>
                        </a:rPr>
                        <a:t>Not significant</a:t>
                      </a:r>
                    </a:p>
                  </a:txBody>
                  <a:tcPr marL="109728" marR="109728" marT="45720" marB="45720" anchor="ctr">
                    <a:solidFill>
                      <a:srgbClr val="F4F4F4"/>
                    </a:solidFill>
                  </a:tcPr>
                </a:tc>
              </a:tr>
              <a:tr h="530352">
                <a:tc>
                  <a:txBody>
                    <a:bodyPr wrap="square"/>
                    <a:lstStyle/>
                    <a:p>
                      <a:r>
                        <a:rPr sz="2200" b="1" i="0">
                          <a:solidFill>
                            <a:srgbClr val="7A1916"/>
                          </a:solidFill>
                          <a:latin typeface="Times New Roman"/>
                        </a:rPr>
                        <a:t>Error correction term (ECT)</a:t>
                      </a:r>
                    </a:p>
                  </a:txBody>
                  <a:tcPr marL="109728" marR="109728" marT="45720" marB="45720" anchor="ctr">
                    <a:solidFill>
                      <a:srgbClr val="F6ECEB"/>
                    </a:solidFill>
                  </a:tcPr>
                </a:tc>
                <a:tc>
                  <a:txBody>
                    <a:bodyPr wrap="square"/>
                    <a:lstStyle/>
                    <a:p>
                      <a:r>
                        <a:rPr sz="2200" b="0" i="0">
                          <a:solidFill>
                            <a:srgbClr val="1A1A1A"/>
                          </a:solidFill>
                          <a:latin typeface="Times New Roman"/>
                        </a:rPr>
                        <a:t>−0.776</a:t>
                      </a:r>
                    </a:p>
                  </a:txBody>
                  <a:tcPr marL="109728" marR="109728" marT="45720" marB="45720" anchor="ctr">
                    <a:solidFill>
                      <a:srgbClr val="F6ECEB"/>
                    </a:solidFill>
                  </a:tcPr>
                </a:tc>
                <a:tc>
                  <a:txBody>
                    <a:bodyPr wrap="square"/>
                    <a:lstStyle/>
                    <a:p>
                      <a:r>
                        <a:rPr sz="2200" b="0" i="0">
                          <a:solidFill>
                            <a:srgbClr val="1A1A1A"/>
                          </a:solidFill>
                          <a:latin typeface="Times New Roman"/>
                        </a:rPr>
                        <a:t>−4.224</a:t>
                      </a:r>
                    </a:p>
                  </a:txBody>
                  <a:tcPr marL="109728" marR="109728" marT="45720" marB="45720" anchor="ctr">
                    <a:solidFill>
                      <a:srgbClr val="F6ECEB"/>
                    </a:solidFill>
                  </a:tcPr>
                </a:tc>
                <a:tc>
                  <a:txBody>
                    <a:bodyPr wrap="square"/>
                    <a:lstStyle/>
                    <a:p>
                      <a:r>
                        <a:rPr sz="2200" b="1" i="0">
                          <a:solidFill>
                            <a:srgbClr val="7A1916"/>
                          </a:solidFill>
                          <a:latin typeface="Times New Roman"/>
                        </a:rPr>
                        <a:t>Significant</a:t>
                      </a:r>
                    </a:p>
                  </a:txBody>
                  <a:tcPr marL="109728" marR="109728" marT="45720" marB="45720" anchor="ctr">
                    <a:solidFill>
                      <a:srgbClr val="F6ECEB"/>
                    </a:solidFill>
                  </a:tcPr>
                </a:tc>
              </a:tr>
            </a:tbl>
          </a:graphicData>
        </a:graphic>
      </p:graphicFrame>
      <p:sp>
        <p:nvSpPr>
          <p:cNvPr id="9" name="Model fit"/>
          <p:cNvSpPr txBox="1"/>
          <p:nvPr/>
        </p:nvSpPr>
        <p:spPr>
          <a:xfrm>
            <a:off x="914400" y="8595360"/>
            <a:ext cx="16459200" cy="914400"/>
          </a:xfrm>
          <a:prstGeom prst="rect">
            <a:avLst/>
          </a:prstGeom>
          <a:noFill/>
        </p:spPr>
        <p:txBody>
          <a:bodyPr wrap="square" lIns="0" rIns="0" tIns="0" bIns="0" anchor="t">
            <a:noAutofit/>
          </a:bodyPr>
          <a:lstStyle/>
          <a:p>
            <a:pPr algn="l">
              <a:lnSpc>
                <a:spcPct val="105000"/>
              </a:lnSpc>
              <a:spcAft>
                <a:spcPts val="1000"/>
              </a:spcAft>
            </a:pPr>
            <a:r>
              <a:rPr sz="2300" b="1" i="0">
                <a:solidFill>
                  <a:srgbClr val="7A1916"/>
                </a:solidFill>
                <a:latin typeface="Times New Roman"/>
              </a:rPr>
              <a:t>Model fit:</a:t>
            </a:r>
            <a:r>
              <a:rPr sz="2300" b="0" i="0">
                <a:solidFill>
                  <a:srgbClr val="1A1A1A"/>
                </a:solidFill>
                <a:latin typeface="Times New Roman"/>
              </a:rPr>
              <a:t> adjusted R² = 0.63 · F = 5.848 (p = 0.000) · ECT = −0.776 → about </a:t>
            </a:r>
            <a:r>
              <a:rPr sz="2300" b="1" i="0">
                <a:solidFill>
                  <a:srgbClr val="7A1916"/>
                </a:solidFill>
                <a:latin typeface="Times New Roman"/>
              </a:rPr>
              <a:t>78%</a:t>
            </a:r>
            <a:r>
              <a:rPr sz="2300" b="0" i="0">
                <a:solidFill>
                  <a:srgbClr val="1A1A1A"/>
                </a:solidFill>
                <a:latin typeface="Times New Roman"/>
              </a:rPr>
              <a:t> of any deviation from equilibrium corrected within a year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5. Key Findings: interpretation</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Unemployment pushes Filipinos out; education, instability and density keep them home.</a:t>
            </a:r>
          </a:p>
        </p:txBody>
      </p:sp>
      <p:sp>
        <p:nvSpPr>
          <p:cNvPr id="7" name="Factor 1 box"/>
          <p:cNvSpPr/>
          <p:nvPr/>
        </p:nvSpPr>
        <p:spPr>
          <a:xfrm>
            <a:off x="914400" y="3611880"/>
            <a:ext cx="8046720" cy="1600200"/>
          </a:xfrm>
          <a:prstGeom prst="roundRect">
            <a:avLst>
              <a:gd name="adj" fmla="val 4000"/>
            </a:avLst>
          </a:prstGeom>
          <a:solidFill>
            <a:srgbClr val="F6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tor 1"/>
          <p:cNvSpPr txBox="1"/>
          <p:nvPr/>
        </p:nvSpPr>
        <p:spPr>
          <a:xfrm>
            <a:off x="1234440" y="3776472"/>
            <a:ext cx="7406640" cy="1325880"/>
          </a:xfrm>
          <a:prstGeom prst="rect">
            <a:avLst/>
          </a:prstGeom>
          <a:noFill/>
        </p:spPr>
        <p:txBody>
          <a:bodyPr wrap="square" lIns="0" rIns="0" tIns="0" bIns="0" anchor="t">
            <a:noAutofit/>
          </a:bodyPr>
          <a:lstStyle/>
          <a:p>
            <a:pPr algn="l">
              <a:lnSpc>
                <a:spcPct val="105000"/>
              </a:lnSpc>
              <a:spcAft>
                <a:spcPts val="400"/>
              </a:spcAft>
            </a:pPr>
            <a:r>
              <a:rPr sz="2500" b="1" i="0">
                <a:solidFill>
                  <a:srgbClr val="7A1916"/>
                </a:solidFill>
                <a:latin typeface="Times New Roman"/>
              </a:rPr>
              <a:t>Unemployment ↑ → emigration ↑</a:t>
            </a:r>
          </a:p>
          <a:p>
            <a:pPr algn="l">
              <a:lnSpc>
                <a:spcPct val="105000"/>
              </a:lnSpc>
              <a:spcAft>
                <a:spcPts val="1000"/>
              </a:spcAft>
            </a:pPr>
            <a:r>
              <a:rPr sz="2300" b="0" i="0">
                <a:solidFill>
                  <a:srgbClr val="1A1A1A"/>
                </a:solidFill>
                <a:latin typeface="Times New Roman"/>
              </a:rPr>
              <a:t>Emigration as a safety valve for surplus labour.</a:t>
            </a:r>
          </a:p>
        </p:txBody>
      </p:sp>
      <p:sp>
        <p:nvSpPr>
          <p:cNvPr id="9" name="Factor 2 box"/>
          <p:cNvSpPr/>
          <p:nvPr/>
        </p:nvSpPr>
        <p:spPr>
          <a:xfrm>
            <a:off x="9326880" y="3611880"/>
            <a:ext cx="8046720" cy="1600200"/>
          </a:xfrm>
          <a:prstGeom prst="roundRect">
            <a:avLst>
              <a:gd name="adj" fmla="val 4000"/>
            </a:avLst>
          </a:prstGeom>
          <a:solidFill>
            <a:srgbClr val="F6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ctor 2"/>
          <p:cNvSpPr txBox="1"/>
          <p:nvPr/>
        </p:nvSpPr>
        <p:spPr>
          <a:xfrm>
            <a:off x="9646919" y="3776472"/>
            <a:ext cx="7406640" cy="1325880"/>
          </a:xfrm>
          <a:prstGeom prst="rect">
            <a:avLst/>
          </a:prstGeom>
          <a:noFill/>
        </p:spPr>
        <p:txBody>
          <a:bodyPr wrap="square" lIns="0" rIns="0" tIns="0" bIns="0" anchor="t">
            <a:noAutofit/>
          </a:bodyPr>
          <a:lstStyle/>
          <a:p>
            <a:pPr algn="l">
              <a:lnSpc>
                <a:spcPct val="105000"/>
              </a:lnSpc>
              <a:spcAft>
                <a:spcPts val="400"/>
              </a:spcAft>
            </a:pPr>
            <a:r>
              <a:rPr sz="2500" b="1" i="0">
                <a:solidFill>
                  <a:srgbClr val="7A1916"/>
                </a:solidFill>
                <a:latin typeface="Times New Roman"/>
              </a:rPr>
              <a:t>Adult literacy ↑ → emigration ↓</a:t>
            </a:r>
          </a:p>
          <a:p>
            <a:pPr algn="l">
              <a:lnSpc>
                <a:spcPct val="105000"/>
              </a:lnSpc>
              <a:spcAft>
                <a:spcPts val="1000"/>
              </a:spcAft>
            </a:pPr>
            <a:r>
              <a:rPr sz="2300" b="0" i="0">
                <a:solidFill>
                  <a:srgbClr val="1A1A1A"/>
                </a:solidFill>
                <a:latin typeface="Times New Roman"/>
              </a:rPr>
              <a:t>Contradicts human capital theory; authors cite low-skilled migrants.</a:t>
            </a:r>
          </a:p>
        </p:txBody>
      </p:sp>
      <p:sp>
        <p:nvSpPr>
          <p:cNvPr id="11" name="Factor 3 box"/>
          <p:cNvSpPr/>
          <p:nvPr/>
        </p:nvSpPr>
        <p:spPr>
          <a:xfrm>
            <a:off x="914400" y="5394960"/>
            <a:ext cx="8046720" cy="1600200"/>
          </a:xfrm>
          <a:prstGeom prst="roundRect">
            <a:avLst>
              <a:gd name="adj" fmla="val 4000"/>
            </a:avLst>
          </a:prstGeom>
          <a:solidFill>
            <a:srgbClr val="F6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actor 3"/>
          <p:cNvSpPr txBox="1"/>
          <p:nvPr/>
        </p:nvSpPr>
        <p:spPr>
          <a:xfrm>
            <a:off x="1234440" y="5559552"/>
            <a:ext cx="7406640" cy="1325880"/>
          </a:xfrm>
          <a:prstGeom prst="rect">
            <a:avLst/>
          </a:prstGeom>
          <a:noFill/>
        </p:spPr>
        <p:txBody>
          <a:bodyPr wrap="square" lIns="0" rIns="0" tIns="0" bIns="0" anchor="t">
            <a:noAutofit/>
          </a:bodyPr>
          <a:lstStyle/>
          <a:p>
            <a:pPr algn="l">
              <a:lnSpc>
                <a:spcPct val="105000"/>
              </a:lnSpc>
              <a:spcAft>
                <a:spcPts val="400"/>
              </a:spcAft>
            </a:pPr>
            <a:r>
              <a:rPr sz="2500" b="1" i="0">
                <a:solidFill>
                  <a:srgbClr val="7A1916"/>
                </a:solidFill>
                <a:latin typeface="Times New Roman"/>
              </a:rPr>
              <a:t>Instability ↑ → emigration ↓</a:t>
            </a:r>
          </a:p>
          <a:p>
            <a:pPr algn="l">
              <a:lnSpc>
                <a:spcPct val="105000"/>
              </a:lnSpc>
              <a:spcAft>
                <a:spcPts val="1000"/>
              </a:spcAft>
            </a:pPr>
            <a:r>
              <a:rPr sz="2300" b="0" i="0">
                <a:solidFill>
                  <a:srgbClr val="1A1A1A"/>
                </a:solidFill>
                <a:latin typeface="Times New Roman"/>
              </a:rPr>
              <a:t>Emigration fell in turbulent years (1983, 1986, 2001, 2005).</a:t>
            </a:r>
          </a:p>
        </p:txBody>
      </p:sp>
      <p:sp>
        <p:nvSpPr>
          <p:cNvPr id="13" name="Factor 4 box"/>
          <p:cNvSpPr/>
          <p:nvPr/>
        </p:nvSpPr>
        <p:spPr>
          <a:xfrm>
            <a:off x="9326880" y="5394960"/>
            <a:ext cx="8046720" cy="1600200"/>
          </a:xfrm>
          <a:prstGeom prst="roundRect">
            <a:avLst>
              <a:gd name="adj" fmla="val 4000"/>
            </a:avLst>
          </a:prstGeom>
          <a:solidFill>
            <a:srgbClr val="F6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actor 4"/>
          <p:cNvSpPr txBox="1"/>
          <p:nvPr/>
        </p:nvSpPr>
        <p:spPr>
          <a:xfrm>
            <a:off x="9646919" y="5559552"/>
            <a:ext cx="7406640" cy="1325880"/>
          </a:xfrm>
          <a:prstGeom prst="rect">
            <a:avLst/>
          </a:prstGeom>
          <a:noFill/>
        </p:spPr>
        <p:txBody>
          <a:bodyPr wrap="square" lIns="0" rIns="0" tIns="0" bIns="0" anchor="t">
            <a:noAutofit/>
          </a:bodyPr>
          <a:lstStyle/>
          <a:p>
            <a:pPr algn="l">
              <a:lnSpc>
                <a:spcPct val="105000"/>
              </a:lnSpc>
              <a:spcAft>
                <a:spcPts val="400"/>
              </a:spcAft>
            </a:pPr>
            <a:r>
              <a:rPr sz="2500" b="1" i="0">
                <a:solidFill>
                  <a:srgbClr val="7A1916"/>
                </a:solidFill>
                <a:latin typeface="Times New Roman"/>
              </a:rPr>
              <a:t>Density ↑ → emigration ↓</a:t>
            </a:r>
          </a:p>
          <a:p>
            <a:pPr algn="l">
              <a:lnSpc>
                <a:spcPct val="105000"/>
              </a:lnSpc>
              <a:spcAft>
                <a:spcPts val="1000"/>
              </a:spcAft>
            </a:pPr>
            <a:r>
              <a:rPr sz="2300" b="0" i="0">
                <a:solidFill>
                  <a:srgbClr val="1A1A1A"/>
                </a:solidFill>
                <a:latin typeface="Times New Roman"/>
              </a:rPr>
              <a:t>Contrary to expectation; domestic-demand story is tentative.</a:t>
            </a:r>
          </a:p>
        </p:txBody>
      </p:sp>
      <p:sp>
        <p:nvSpPr>
          <p:cNvPr id="15" name="Conclusion box"/>
          <p:cNvSpPr/>
          <p:nvPr/>
        </p:nvSpPr>
        <p:spPr>
          <a:xfrm>
            <a:off x="914400" y="7315200"/>
            <a:ext cx="8046720" cy="2240280"/>
          </a:xfrm>
          <a:prstGeom prst="roundRect">
            <a:avLst>
              <a:gd name="adj" fmla="val 4000"/>
            </a:avLst>
          </a:prstGeom>
          <a:solidFill>
            <a:srgbClr val="7A19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onclusion"/>
          <p:cNvSpPr txBox="1"/>
          <p:nvPr/>
        </p:nvSpPr>
        <p:spPr>
          <a:xfrm>
            <a:off x="1280160" y="7315200"/>
            <a:ext cx="7315200" cy="2240280"/>
          </a:xfrm>
          <a:prstGeom prst="rect">
            <a:avLst/>
          </a:prstGeom>
          <a:noFill/>
        </p:spPr>
        <p:txBody>
          <a:bodyPr wrap="square" lIns="0" rIns="0" tIns="0" bIns="0" anchor="ctr">
            <a:noAutofit/>
          </a:bodyPr>
          <a:lstStyle/>
          <a:p>
            <a:pPr algn="l">
              <a:lnSpc>
                <a:spcPct val="105000"/>
              </a:lnSpc>
              <a:spcAft>
                <a:spcPts val="1000"/>
              </a:spcAft>
            </a:pPr>
            <a:r>
              <a:rPr sz="2300" b="1" i="0">
                <a:solidFill>
                  <a:srgbClr val="F2C14E"/>
                </a:solidFill>
                <a:latin typeface="Times New Roman"/>
              </a:rPr>
              <a:t>Roy effect rejected.</a:t>
            </a:r>
            <a:r>
              <a:rPr sz="2300" b="0" i="0">
                <a:solidFill>
                  <a:srgbClr val="FFFFFF"/>
                </a:solidFill>
                <a:latin typeface="Times New Roman"/>
              </a:rPr>
              <a:t> Authors’ policy: better migration statistics, bilateral protection agreements, and a domestic economy that absorbs labour.</a:t>
            </a:r>
          </a:p>
        </p:txBody>
      </p:sp>
      <p:sp>
        <p:nvSpPr>
          <p:cNvPr id="17" name="critique box"/>
          <p:cNvSpPr/>
          <p:nvPr/>
        </p:nvSpPr>
        <p:spPr>
          <a:xfrm>
            <a:off x="9326880" y="7315200"/>
            <a:ext cx="8046720" cy="2240280"/>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ritique edge"/>
          <p:cNvSpPr/>
          <p:nvPr/>
        </p:nvSpPr>
        <p:spPr>
          <a:xfrm>
            <a:off x="9326880" y="7315200"/>
            <a:ext cx="109728" cy="2240280"/>
          </a:xfrm>
          <a:prstGeom prst="roundRect">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ritique text"/>
          <p:cNvSpPr txBox="1"/>
          <p:nvPr/>
        </p:nvSpPr>
        <p:spPr>
          <a:xfrm>
            <a:off x="9692640" y="7516368"/>
            <a:ext cx="7452360" cy="1920240"/>
          </a:xfrm>
          <a:prstGeom prst="rect">
            <a:avLst/>
          </a:prstGeom>
          <a:noFill/>
        </p:spPr>
        <p:txBody>
          <a:bodyPr wrap="square" lIns="0" rIns="0" tIns="0" bIns="0" anchor="t">
            <a:noAutofit/>
          </a:bodyPr>
          <a:lstStyle/>
          <a:p>
            <a:pPr algn="l">
              <a:lnSpc>
                <a:spcPct val="105000"/>
              </a:lnSpc>
              <a:spcAft>
                <a:spcPts val="600"/>
              </a:spcAft>
            </a:pPr>
            <a:r>
              <a:rPr sz="2400" b="1" i="0">
                <a:solidFill>
                  <a:srgbClr val="C00000"/>
                </a:solidFill>
                <a:latin typeface="Times New Roman"/>
              </a:rPr>
              <a:t>Critical note</a:t>
            </a:r>
          </a:p>
          <a:p>
            <a:pPr algn="l" marL="384048" indent="-384048">
              <a:lnSpc>
                <a:spcPct val="105000"/>
              </a:lnSpc>
              <a:spcAft>
                <a:spcPts val="600"/>
              </a:spcAft>
              <a:buClr>
                <a:srgbClr val="C00000"/>
              </a:buClr>
              <a:buFont typeface="Times New Roman"/>
              <a:buChar char="•"/>
            </a:pPr>
            <a:r>
              <a:rPr sz="2200" b="0" i="0">
                <a:solidFill>
                  <a:srgbClr val="1A1A1A"/>
                </a:solidFill>
                <a:latin typeface="Times New Roman"/>
              </a:rPr>
              <a:t>Low-skill explanation </a:t>
            </a:r>
            <a:r>
              <a:rPr sz="2200" b="1" i="0">
                <a:solidFill>
                  <a:srgbClr val="C00000"/>
                </a:solidFill>
                <a:latin typeface="Times New Roman"/>
              </a:rPr>
              <a:t>conflicts with the paper’s own source</a:t>
            </a:r>
            <a:r>
              <a:rPr sz="2200" b="0" i="0">
                <a:solidFill>
                  <a:srgbClr val="1A1A1A"/>
                </a:solidFill>
                <a:latin typeface="Times New Roman"/>
              </a:rPr>
              <a:t> (Alburo &amp; Abella, 2002: professional outflows)</a:t>
            </a:r>
          </a:p>
          <a:p>
            <a:pPr algn="l" marL="384048" indent="-384048">
              <a:lnSpc>
                <a:spcPct val="105000"/>
              </a:lnSpc>
              <a:spcAft>
                <a:spcPts val="600"/>
              </a:spcAft>
              <a:buClr>
                <a:srgbClr val="C00000"/>
              </a:buClr>
              <a:buFont typeface="Times New Roman"/>
              <a:buChar char="•"/>
            </a:pPr>
            <a:r>
              <a:rPr sz="2200" b="0" i="0">
                <a:solidFill>
                  <a:srgbClr val="1A1A1A"/>
                </a:solidFill>
                <a:latin typeface="Times New Roman"/>
              </a:rPr>
              <a:t>Insignificant results may reflect </a:t>
            </a:r>
            <a:r>
              <a:rPr sz="2200" b="1" i="0">
                <a:solidFill>
                  <a:srgbClr val="C00000"/>
                </a:solidFill>
                <a:latin typeface="Times New Roman"/>
              </a:rPr>
              <a:t>low power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6. Areas for Further Research</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Better data and pull factors are the next steps.</a:t>
            </a:r>
          </a:p>
        </p:txBody>
      </p:sp>
      <p:sp>
        <p:nvSpPr>
          <p:cNvPr id="7" name="Guiding question"/>
          <p:cNvSpPr txBox="1"/>
          <p:nvPr/>
        </p:nvSpPr>
        <p:spPr>
          <a:xfrm>
            <a:off x="914400" y="3611880"/>
            <a:ext cx="16459200" cy="457200"/>
          </a:xfrm>
          <a:prstGeom prst="rect">
            <a:avLst/>
          </a:prstGeom>
          <a:noFill/>
        </p:spPr>
        <p:txBody>
          <a:bodyPr wrap="square" lIns="0" rIns="0" tIns="0" bIns="0" anchor="t">
            <a:noAutofit/>
          </a:bodyPr>
          <a:lstStyle/>
          <a:p>
            <a:pPr algn="l">
              <a:lnSpc>
                <a:spcPct val="105000"/>
              </a:lnSpc>
              <a:spcAft>
                <a:spcPts val="1000"/>
              </a:spcAft>
            </a:pPr>
            <a:r>
              <a:rPr sz="2200" b="1" i="0">
                <a:solidFill>
                  <a:srgbClr val="555555"/>
                </a:solidFill>
                <a:latin typeface="Times New Roman"/>
              </a:rPr>
              <a:t>Guiding question:</a:t>
            </a:r>
            <a:r>
              <a:rPr sz="2200" b="0" i="0">
                <a:solidFill>
                  <a:srgbClr val="555555"/>
                </a:solidFill>
                <a:latin typeface="Times New Roman"/>
              </a:rPr>
              <a:t> </a:t>
            </a:r>
            <a:r>
              <a:rPr sz="2200" b="0" i="1">
                <a:solidFill>
                  <a:srgbClr val="555555"/>
                </a:solidFill>
                <a:latin typeface="Times New Roman"/>
              </a:rPr>
              <a:t>What limitations were identified, and what future research opportunities are suggested?</a:t>
            </a:r>
          </a:p>
        </p:txBody>
      </p:sp>
      <p:sp>
        <p:nvSpPr>
          <p:cNvPr id="8" name="authors box"/>
          <p:cNvSpPr/>
          <p:nvPr/>
        </p:nvSpPr>
        <p:spPr>
          <a:xfrm>
            <a:off x="914400" y="4206240"/>
            <a:ext cx="8046720"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uthors edge"/>
          <p:cNvSpPr/>
          <p:nvPr/>
        </p:nvSpPr>
        <p:spPr>
          <a:xfrm>
            <a:off x="914400" y="4206240"/>
            <a:ext cx="109728" cy="4572000"/>
          </a:xfrm>
          <a:prstGeom prst="roundRect">
            <a:avLst>
              <a:gd name="adj" fmla="val 0"/>
            </a:avLst>
          </a:prstGeom>
          <a:solidFill>
            <a:srgbClr val="7A19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uthors text"/>
          <p:cNvSpPr txBox="1"/>
          <p:nvPr/>
        </p:nvSpPr>
        <p:spPr>
          <a:xfrm>
            <a:off x="1280160" y="4407407"/>
            <a:ext cx="7452360" cy="4251960"/>
          </a:xfrm>
          <a:prstGeom prst="rect">
            <a:avLst/>
          </a:prstGeom>
          <a:noFill/>
        </p:spPr>
        <p:txBody>
          <a:bodyPr wrap="square" lIns="0" rIns="0" tIns="0" bIns="0" anchor="t">
            <a:noAutofit/>
          </a:bodyPr>
          <a:lstStyle/>
          <a:p>
            <a:pPr algn="l">
              <a:lnSpc>
                <a:spcPct val="105000"/>
              </a:lnSpc>
              <a:spcAft>
                <a:spcPts val="600"/>
              </a:spcAft>
            </a:pPr>
            <a:r>
              <a:rPr sz="2400" b="1" i="0">
                <a:solidFill>
                  <a:srgbClr val="7A1916"/>
                </a:solidFill>
                <a:latin typeface="Times New Roman"/>
              </a:rPr>
              <a:t>Limitations identified by the authors</a:t>
            </a:r>
          </a:p>
          <a:p>
            <a:pPr algn="l" marL="384048" indent="-384048">
              <a:lnSpc>
                <a:spcPct val="105000"/>
              </a:lnSpc>
              <a:spcAft>
                <a:spcPts val="600"/>
              </a:spcAft>
              <a:buClr>
                <a:srgbClr val="7A1916"/>
              </a:buClr>
              <a:buFont typeface="Times New Roman"/>
              <a:buChar char="•"/>
            </a:pPr>
            <a:r>
              <a:rPr sz="2500" b="0" i="0">
                <a:solidFill>
                  <a:srgbClr val="1A1A1A"/>
                </a:solidFill>
                <a:latin typeface="Times New Roman"/>
              </a:rPr>
              <a:t>Migration statistics hard to compile (p. 391)</a:t>
            </a:r>
          </a:p>
          <a:p>
            <a:pPr algn="l" marL="384048" indent="-384048">
              <a:lnSpc>
                <a:spcPct val="105000"/>
              </a:lnSpc>
              <a:spcAft>
                <a:spcPts val="600"/>
              </a:spcAft>
              <a:buClr>
                <a:srgbClr val="7A1916"/>
              </a:buClr>
              <a:buFont typeface="Times New Roman"/>
              <a:buChar char="•"/>
            </a:pPr>
            <a:r>
              <a:rPr sz="2500" b="0" i="0">
                <a:solidFill>
                  <a:srgbClr val="1A1A1A"/>
                </a:solidFill>
                <a:latin typeface="Times New Roman"/>
              </a:rPr>
              <a:t>Airfare = </a:t>
            </a:r>
            <a:r>
              <a:rPr sz="2500" b="1" i="0">
                <a:solidFill>
                  <a:srgbClr val="7A1916"/>
                </a:solidFill>
                <a:latin typeface="Times New Roman"/>
              </a:rPr>
              <a:t>minimum</a:t>
            </a:r>
            <a:r>
              <a:rPr sz="2500" b="0" i="0">
                <a:solidFill>
                  <a:srgbClr val="1A1A1A"/>
                </a:solidFill>
                <a:latin typeface="Times New Roman"/>
              </a:rPr>
              <a:t> cost; read with caution (p. 392)</a:t>
            </a:r>
          </a:p>
          <a:p>
            <a:pPr algn="l" marL="384048" indent="-384048">
              <a:lnSpc>
                <a:spcPct val="105000"/>
              </a:lnSpc>
              <a:spcAft>
                <a:spcPts val="600"/>
              </a:spcAft>
              <a:buClr>
                <a:srgbClr val="7A1916"/>
              </a:buClr>
              <a:buFont typeface="Times New Roman"/>
              <a:buChar char="•"/>
            </a:pPr>
            <a:r>
              <a:rPr sz="2500" b="0" i="0">
                <a:solidFill>
                  <a:srgbClr val="1A1A1A"/>
                </a:solidFill>
                <a:latin typeface="Times New Roman"/>
              </a:rPr>
              <a:t>Density result: further research “</a:t>
            </a:r>
            <a:r>
              <a:rPr sz="2500" b="1" i="0">
                <a:solidFill>
                  <a:srgbClr val="7A1916"/>
                </a:solidFill>
                <a:latin typeface="Times New Roman"/>
              </a:rPr>
              <a:t>warranted</a:t>
            </a:r>
            <a:r>
              <a:rPr sz="2500" b="0" i="0">
                <a:solidFill>
                  <a:srgbClr val="1A1A1A"/>
                </a:solidFill>
                <a:latin typeface="Times New Roman"/>
              </a:rPr>
              <a:t>” (p. 393)</a:t>
            </a:r>
          </a:p>
          <a:p>
            <a:pPr algn="l" marL="384048" indent="-384048">
              <a:lnSpc>
                <a:spcPct val="105000"/>
              </a:lnSpc>
              <a:spcAft>
                <a:spcPts val="600"/>
              </a:spcAft>
              <a:buClr>
                <a:srgbClr val="7A1916"/>
              </a:buClr>
              <a:buFont typeface="Times New Roman"/>
              <a:buChar char="•"/>
            </a:pPr>
            <a:r>
              <a:rPr sz="2500" b="0" i="0">
                <a:solidFill>
                  <a:srgbClr val="1A1A1A"/>
                </a:solidFill>
                <a:latin typeface="Times New Roman"/>
              </a:rPr>
              <a:t>Data cannot “</a:t>
            </a:r>
            <a:r>
              <a:rPr sz="2500" b="1" i="0">
                <a:solidFill>
                  <a:srgbClr val="7A1916"/>
                </a:solidFill>
                <a:latin typeface="Times New Roman"/>
              </a:rPr>
              <a:t>move beyond speculation</a:t>
            </a:r>
            <a:r>
              <a:rPr sz="2500" b="0" i="0">
                <a:solidFill>
                  <a:srgbClr val="1A1A1A"/>
                </a:solidFill>
                <a:latin typeface="Times New Roman"/>
              </a:rPr>
              <a:t>” on instability (p. 394)</a:t>
            </a:r>
          </a:p>
          <a:p>
            <a:pPr algn="l">
              <a:lnSpc>
                <a:spcPct val="105000"/>
              </a:lnSpc>
              <a:spcAft>
                <a:spcPts val="600"/>
              </a:spcAft>
            </a:pPr>
            <a:r>
              <a:rPr sz="2500" b="0" i="1">
                <a:solidFill>
                  <a:srgbClr val="1A1A1A"/>
                </a:solidFill>
                <a:latin typeface="Times New Roman"/>
              </a:rPr>
              <a:t>Authors suggest:</a:t>
            </a:r>
            <a:r>
              <a:rPr sz="2500" b="0" i="0">
                <a:solidFill>
                  <a:srgbClr val="1A1A1A"/>
                </a:solidFill>
                <a:latin typeface="Times New Roman"/>
              </a:rPr>
              <a:t> explain the density effect; monitor migration statistics.</a:t>
            </a:r>
          </a:p>
        </p:txBody>
      </p:sp>
      <p:sp>
        <p:nvSpPr>
          <p:cNvPr id="11" name="suggest box"/>
          <p:cNvSpPr/>
          <p:nvPr/>
        </p:nvSpPr>
        <p:spPr>
          <a:xfrm>
            <a:off x="9326880" y="4206240"/>
            <a:ext cx="8046720" cy="4572000"/>
          </a:xfrm>
          <a:prstGeom prst="roundRect">
            <a:avLst>
              <a:gd name="adj" fmla="val 4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uggest edge"/>
          <p:cNvSpPr/>
          <p:nvPr/>
        </p:nvSpPr>
        <p:spPr>
          <a:xfrm>
            <a:off x="9326880" y="4206240"/>
            <a:ext cx="109728" cy="4572000"/>
          </a:xfrm>
          <a:prstGeom prst="roundRect">
            <a:avLst>
              <a:gd name="adj" fmla="val 0"/>
            </a:avLst>
          </a:prstGeom>
          <a:solidFill>
            <a:srgbClr val="1F4E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uggest text"/>
          <p:cNvSpPr txBox="1"/>
          <p:nvPr/>
        </p:nvSpPr>
        <p:spPr>
          <a:xfrm>
            <a:off x="9692640" y="4407407"/>
            <a:ext cx="7452360" cy="4251960"/>
          </a:xfrm>
          <a:prstGeom prst="rect">
            <a:avLst/>
          </a:prstGeom>
          <a:noFill/>
        </p:spPr>
        <p:txBody>
          <a:bodyPr wrap="square" lIns="0" rIns="0" tIns="0" bIns="0" anchor="t">
            <a:noAutofit/>
          </a:bodyPr>
          <a:lstStyle/>
          <a:p>
            <a:pPr algn="l">
              <a:lnSpc>
                <a:spcPct val="105000"/>
              </a:lnSpc>
              <a:spcAft>
                <a:spcPts val="600"/>
              </a:spcAft>
            </a:pPr>
            <a:r>
              <a:rPr sz="2400" b="1" i="0">
                <a:solidFill>
                  <a:srgbClr val="1F4E9A"/>
                </a:solidFill>
                <a:latin typeface="Times New Roman"/>
              </a:rPr>
              <a:t>Reviewer suggestions</a:t>
            </a:r>
          </a:p>
          <a:p>
            <a:pPr algn="l" marL="384048" indent="-384048">
              <a:lnSpc>
                <a:spcPct val="105000"/>
              </a:lnSpc>
              <a:spcAft>
                <a:spcPts val="600"/>
              </a:spcAft>
              <a:buClr>
                <a:srgbClr val="1F4E9A"/>
              </a:buClr>
              <a:buFont typeface="Times New Roman"/>
              <a:buChar char="•"/>
            </a:pPr>
            <a:r>
              <a:rPr sz="2500" b="1" i="0">
                <a:solidFill>
                  <a:srgbClr val="1F4E9A"/>
                </a:solidFill>
                <a:latin typeface="Times New Roman"/>
              </a:rPr>
              <a:t>Disaggregate:</a:t>
            </a:r>
            <a:r>
              <a:rPr sz="2500" b="0" i="0">
                <a:solidFill>
                  <a:srgbClr val="1A1A1A"/>
                </a:solidFill>
                <a:latin typeface="Times New Roman"/>
              </a:rPr>
              <a:t> temporary vs. permanent; by skill</a:t>
            </a:r>
          </a:p>
          <a:p>
            <a:pPr algn="l" marL="384048" indent="-384048">
              <a:lnSpc>
                <a:spcPct val="105000"/>
              </a:lnSpc>
              <a:spcAft>
                <a:spcPts val="600"/>
              </a:spcAft>
              <a:buClr>
                <a:srgbClr val="1F4E9A"/>
              </a:buClr>
              <a:buFont typeface="Times New Roman"/>
              <a:buChar char="•"/>
            </a:pPr>
            <a:r>
              <a:rPr sz="2500" b="1" i="0">
                <a:solidFill>
                  <a:srgbClr val="1F4E9A"/>
                </a:solidFill>
                <a:latin typeface="Times New Roman"/>
              </a:rPr>
              <a:t>Add pull factors:</a:t>
            </a:r>
            <a:r>
              <a:rPr sz="2500" b="0" i="0">
                <a:solidFill>
                  <a:srgbClr val="1A1A1A"/>
                </a:solidFill>
                <a:latin typeface="Times New Roman"/>
              </a:rPr>
              <a:t> bilateral panel gravity model (destination wages, labour demand)</a:t>
            </a:r>
          </a:p>
          <a:p>
            <a:pPr algn="l" marL="384048" indent="-384048">
              <a:lnSpc>
                <a:spcPct val="105000"/>
              </a:lnSpc>
              <a:spcAft>
                <a:spcPts val="600"/>
              </a:spcAft>
              <a:buClr>
                <a:srgbClr val="1F4E9A"/>
              </a:buClr>
              <a:buFont typeface="Times New Roman"/>
              <a:buChar char="•"/>
            </a:pPr>
            <a:r>
              <a:rPr sz="2500" b="1" i="0">
                <a:solidFill>
                  <a:srgbClr val="1F4E9A"/>
                </a:solidFill>
                <a:latin typeface="Times New Roman"/>
              </a:rPr>
              <a:t>Extend past 2005;</a:t>
            </a:r>
            <a:r>
              <a:rPr sz="2500" b="0" i="0">
                <a:solidFill>
                  <a:srgbClr val="1A1A1A"/>
                </a:solidFill>
                <a:latin typeface="Times New Roman"/>
              </a:rPr>
              <a:t> test structural breaks (1997, 2008, COVID-19)</a:t>
            </a:r>
          </a:p>
          <a:p>
            <a:pPr algn="l" marL="384048" indent="-384048">
              <a:lnSpc>
                <a:spcPct val="105000"/>
              </a:lnSpc>
              <a:spcAft>
                <a:spcPts val="600"/>
              </a:spcAft>
              <a:buClr>
                <a:srgbClr val="1F4E9A"/>
              </a:buClr>
              <a:buFont typeface="Times New Roman"/>
              <a:buChar char="•"/>
            </a:pPr>
            <a:r>
              <a:rPr sz="2500" b="1" i="0">
                <a:solidFill>
                  <a:srgbClr val="1F4E9A"/>
                </a:solidFill>
                <a:latin typeface="Times New Roman"/>
              </a:rPr>
              <a:t>Household micro-data</a:t>
            </a:r>
            <a:r>
              <a:rPr sz="2500" b="0" i="0">
                <a:solidFill>
                  <a:srgbClr val="1A1A1A"/>
                </a:solidFill>
                <a:latin typeface="Times New Roman"/>
              </a:rPr>
              <a:t> to test human-capital selection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FFFFFF"/>
                </a:solidFill>
                <a:latin typeface="Arial Bold"/>
                <a:ea typeface="Arial Bold"/>
                <a:cs typeface="Arial Bold"/>
                <a:sym typeface="Arial Bold"/>
              </a:rPr>
              <a:t>© 2026 University of Southeastern Philippines |</a:t>
            </a:r>
            <a:r>
              <a:rPr lang="en-US" sz="1275">
                <a:solidFill>
                  <a:srgbClr val="FFFFFF"/>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Kicker"/>
          <p:cNvSpPr txBox="1"/>
          <p:nvPr/>
        </p:nvSpPr>
        <p:spPr>
          <a:xfrm>
            <a:off x="1371600" y="1828800"/>
            <a:ext cx="15544800" cy="822960"/>
          </a:xfrm>
          <a:prstGeom prst="rect">
            <a:avLst/>
          </a:prstGeom>
          <a:noFill/>
        </p:spPr>
        <p:txBody>
          <a:bodyPr wrap="square" lIns="0" rIns="0" tIns="0" bIns="0" anchor="t">
            <a:noAutofit/>
          </a:bodyPr>
          <a:lstStyle/>
          <a:p>
            <a:pPr algn="l">
              <a:lnSpc>
                <a:spcPct val="105000"/>
              </a:lnSpc>
              <a:spcAft>
                <a:spcPts val="1000"/>
              </a:spcAft>
            </a:pPr>
            <a:r>
              <a:rPr sz="3400" b="1" i="0">
                <a:solidFill>
                  <a:srgbClr val="F2C14E"/>
                </a:solidFill>
                <a:latin typeface="Times New Roman"/>
              </a:rPr>
              <a:t>Key Insights</a:t>
            </a:r>
          </a:p>
        </p:txBody>
      </p:sp>
      <p:sp>
        <p:nvSpPr>
          <p:cNvPr id="6" name="Title"/>
          <p:cNvSpPr txBox="1"/>
          <p:nvPr/>
        </p:nvSpPr>
        <p:spPr>
          <a:xfrm>
            <a:off x="1371600" y="2651760"/>
            <a:ext cx="15544800" cy="2011680"/>
          </a:xfrm>
          <a:prstGeom prst="rect">
            <a:avLst/>
          </a:prstGeom>
          <a:noFill/>
        </p:spPr>
        <p:txBody>
          <a:bodyPr wrap="square" lIns="0" rIns="0" tIns="0" bIns="0" anchor="t">
            <a:noAutofit/>
          </a:bodyPr>
          <a:lstStyle/>
          <a:p>
            <a:pPr algn="l">
              <a:lnSpc>
                <a:spcPct val="105000"/>
              </a:lnSpc>
              <a:spcAft>
                <a:spcPts val="1000"/>
              </a:spcAft>
            </a:pPr>
            <a:r>
              <a:rPr sz="4800" b="1" i="0">
                <a:solidFill>
                  <a:srgbClr val="FFFFFF"/>
                </a:solidFill>
                <a:latin typeface="Times New Roman"/>
              </a:rPr>
              <a:t>Push factors at home matter, but they are not the whole story.</a:t>
            </a:r>
          </a:p>
        </p:txBody>
      </p:sp>
      <p:sp>
        <p:nvSpPr>
          <p:cNvPr id="7" name="Insights"/>
          <p:cNvSpPr txBox="1"/>
          <p:nvPr/>
        </p:nvSpPr>
        <p:spPr>
          <a:xfrm>
            <a:off x="1371600" y="4937760"/>
            <a:ext cx="15544800" cy="4572000"/>
          </a:xfrm>
          <a:prstGeom prst="rect">
            <a:avLst/>
          </a:prstGeom>
          <a:noFill/>
        </p:spPr>
        <p:txBody>
          <a:bodyPr wrap="square" lIns="0" rIns="0" tIns="0" bIns="0" anchor="t">
            <a:noAutofit/>
          </a:bodyPr>
          <a:lstStyle/>
          <a:p>
            <a:pPr algn="l">
              <a:lnSpc>
                <a:spcPct val="105000"/>
              </a:lnSpc>
              <a:spcAft>
                <a:spcPts val="1400"/>
              </a:spcAft>
            </a:pPr>
            <a:r>
              <a:rPr sz="2600" b="1" i="0">
                <a:solidFill>
                  <a:srgbClr val="F2C14E"/>
                </a:solidFill>
                <a:latin typeface="Times New Roman"/>
              </a:rPr>
              <a:t>1. Push factors at home matter:</a:t>
            </a:r>
            <a:r>
              <a:rPr sz="2600" b="0" i="0">
                <a:solidFill>
                  <a:srgbClr val="FFFFFF"/>
                </a:solidFill>
                <a:latin typeface="Times New Roman"/>
              </a:rPr>
              <a:t> unemployment is the clearest driver</a:t>
            </a:r>
          </a:p>
          <a:p>
            <a:pPr algn="l">
              <a:lnSpc>
                <a:spcPct val="105000"/>
              </a:lnSpc>
              <a:spcAft>
                <a:spcPts val="1400"/>
              </a:spcAft>
            </a:pPr>
            <a:r>
              <a:rPr sz="2600" b="1" i="0">
                <a:solidFill>
                  <a:srgbClr val="F2C14E"/>
                </a:solidFill>
                <a:latin typeface="Times New Roman"/>
              </a:rPr>
              <a:t>2. Education keeps people home</a:t>
            </a:r>
            <a:r>
              <a:rPr sz="2600" b="0" i="0">
                <a:solidFill>
                  <a:srgbClr val="FFFFFF"/>
                </a:solidFill>
                <a:latin typeface="Times New Roman"/>
              </a:rPr>
              <a:t> at the macro level, against human capital theory, but the explanation is contested</a:t>
            </a:r>
          </a:p>
          <a:p>
            <a:pPr algn="l">
              <a:lnSpc>
                <a:spcPct val="105000"/>
              </a:lnSpc>
              <a:spcAft>
                <a:spcPts val="1400"/>
              </a:spcAft>
            </a:pPr>
            <a:r>
              <a:rPr sz="2600" b="1" i="0">
                <a:solidFill>
                  <a:srgbClr val="F2C14E"/>
                </a:solidFill>
                <a:latin typeface="Times New Roman"/>
              </a:rPr>
              <a:t>3. Instability and density reduce emigration</a:t>
            </a:r>
            <a:r>
              <a:rPr sz="2600" b="0" i="0">
                <a:solidFill>
                  <a:srgbClr val="FFFFFF"/>
                </a:solidFill>
                <a:latin typeface="Times New Roman"/>
              </a:rPr>
              <a:t>; both mechanisms remain speculative</a:t>
            </a:r>
          </a:p>
          <a:p>
            <a:pPr algn="l">
              <a:lnSpc>
                <a:spcPct val="105000"/>
              </a:lnSpc>
              <a:spcAft>
                <a:spcPts val="1400"/>
              </a:spcAft>
            </a:pPr>
            <a:r>
              <a:rPr sz="2600" b="1" i="0">
                <a:solidFill>
                  <a:srgbClr val="F2C14E"/>
                </a:solidFill>
                <a:latin typeface="Times New Roman"/>
              </a:rPr>
              <a:t>4. Long-run equilibrium:</a:t>
            </a:r>
            <a:r>
              <a:rPr sz="2600" b="0" i="0">
                <a:solidFill>
                  <a:srgbClr val="FFFFFF"/>
                </a:solidFill>
                <a:latin typeface="Times New Roman"/>
              </a:rPr>
              <a:t> about 78% of shocks fade within a year</a:t>
            </a:r>
          </a:p>
          <a:p>
            <a:pPr algn="l">
              <a:lnSpc>
                <a:spcPct val="105000"/>
              </a:lnSpc>
              <a:spcAft>
                <a:spcPts val="1400"/>
              </a:spcAft>
            </a:pPr>
            <a:r>
              <a:rPr sz="2600" b="1" i="0">
                <a:solidFill>
                  <a:srgbClr val="F2C14E"/>
                </a:solidFill>
                <a:latin typeface="Times New Roman"/>
              </a:rPr>
              <a:t>5. Read with care:</a:t>
            </a:r>
            <a:r>
              <a:rPr sz="2600" b="0" i="0">
                <a:solidFill>
                  <a:srgbClr val="FFFFFF"/>
                </a:solidFill>
                <a:latin typeface="Times New Roman"/>
              </a:rPr>
              <a:t> T = 31, weak proxies and missing pull factors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A red background with a pattern  AI-generated content may be incorrect."/>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2606021" y="9397517"/>
            <a:ext cx="13533149" cy="302781"/>
          </a:xfrm>
          <a:prstGeom prst="rect">
            <a:avLst/>
          </a:prstGeom>
        </p:spPr>
        <p:txBody>
          <a:bodyPr anchor="t" rtlCol="false" tIns="0" lIns="0" bIns="0" rIns="0">
            <a:spAutoFit/>
          </a:bodyPr>
          <a:lstStyle/>
          <a:p>
            <a:pPr algn="ctr">
              <a:lnSpc>
                <a:spcPts val="2410"/>
              </a:lnSpc>
            </a:pPr>
            <a:r>
              <a:rPr lang="en-US" sz="2790">
                <a:solidFill>
                  <a:srgbClr val="FFFFFF"/>
                </a:solidFill>
                <a:latin typeface="Arial"/>
                <a:ea typeface="Arial"/>
                <a:cs typeface="Arial"/>
                <a:sym typeface="Arial"/>
              </a:rPr>
              <a:t>We build dreams without limits! | www.usep.edu.ph</a:t>
            </a:r>
          </a:p>
        </p:txBody>
      </p:sp>
      <p:grpSp>
        <p:nvGrpSpPr>
          <p:cNvPr name="Group 5" id="5"/>
          <p:cNvGrpSpPr/>
          <p:nvPr/>
        </p:nvGrpSpPr>
        <p:grpSpPr>
          <a:xfrm rot="0">
            <a:off x="1780746" y="749113"/>
            <a:ext cx="14581470" cy="3400806"/>
            <a:chOff x="0" y="0"/>
            <a:chExt cx="19441960" cy="4534408"/>
          </a:xfrm>
        </p:grpSpPr>
        <p:sp>
          <p:nvSpPr>
            <p:cNvPr name="Freeform 6" id="6"/>
            <p:cNvSpPr/>
            <p:nvPr/>
          </p:nvSpPr>
          <p:spPr>
            <a:xfrm flipH="false" flipV="false" rot="0">
              <a:off x="0" y="0"/>
              <a:ext cx="19441922" cy="4534408"/>
            </a:xfrm>
            <a:custGeom>
              <a:avLst/>
              <a:gdLst/>
              <a:ahLst/>
              <a:cxnLst/>
              <a:rect r="r" b="b" t="t" l="l"/>
              <a:pathLst>
                <a:path h="4534408" w="19441922">
                  <a:moveTo>
                    <a:pt x="0" y="0"/>
                  </a:moveTo>
                  <a:lnTo>
                    <a:pt x="19441922" y="0"/>
                  </a:lnTo>
                  <a:lnTo>
                    <a:pt x="19441922" y="4534408"/>
                  </a:lnTo>
                  <a:lnTo>
                    <a:pt x="0" y="4534408"/>
                  </a:lnTo>
                  <a:lnTo>
                    <a:pt x="0" y="0"/>
                  </a:lnTo>
                  <a:close/>
                </a:path>
              </a:pathLst>
            </a:custGeom>
            <a:blipFill>
              <a:blip r:embed="rId4"/>
              <a:stretch>
                <a:fillRect l="0" t="0" r="-231" b="-141178"/>
              </a:stretch>
            </a:blipFill>
          </p:spPr>
        </p:sp>
      </p:grpSp>
      <p:sp>
        <p:nvSpPr>
          <p:cNvPr id="7" name="Title"/>
          <p:cNvSpPr txBox="1"/>
          <p:nvPr/>
        </p:nvSpPr>
        <p:spPr>
          <a:xfrm>
            <a:off x="1371600" y="5120640"/>
            <a:ext cx="15544800" cy="1463040"/>
          </a:xfrm>
          <a:prstGeom prst="rect">
            <a:avLst/>
          </a:prstGeom>
          <a:noFill/>
        </p:spPr>
        <p:txBody>
          <a:bodyPr wrap="square" lIns="0" rIns="0" tIns="0" bIns="0" anchor="ctr">
            <a:noAutofit/>
          </a:bodyPr>
          <a:lstStyle/>
          <a:p>
            <a:pPr algn="ctr">
              <a:lnSpc>
                <a:spcPct val="105000"/>
              </a:lnSpc>
              <a:spcAft>
                <a:spcPts val="1000"/>
              </a:spcAft>
            </a:pPr>
            <a:r>
              <a:rPr sz="6600" b="1" i="0">
                <a:solidFill>
                  <a:srgbClr val="FFFFFF"/>
                </a:solidFill>
                <a:latin typeface="Times New Roman"/>
              </a:rPr>
              <a:t>Thank you</a:t>
            </a:r>
          </a:p>
        </p:txBody>
      </p:sp>
      <p:sp>
        <p:nvSpPr>
          <p:cNvPr id="8" name="Subtitle"/>
          <p:cNvSpPr txBox="1"/>
          <p:nvPr/>
        </p:nvSpPr>
        <p:spPr>
          <a:xfrm>
            <a:off x="1371600" y="6675120"/>
            <a:ext cx="15544800" cy="914400"/>
          </a:xfrm>
          <a:prstGeom prst="rect">
            <a:avLst/>
          </a:prstGeom>
          <a:noFill/>
        </p:spPr>
        <p:txBody>
          <a:bodyPr wrap="square" lIns="0" rIns="0" tIns="0" bIns="0" anchor="t">
            <a:noAutofit/>
          </a:bodyPr>
          <a:lstStyle/>
          <a:p>
            <a:pPr algn="ctr">
              <a:lnSpc>
                <a:spcPct val="105000"/>
              </a:lnSpc>
              <a:spcAft>
                <a:spcPts val="1000"/>
              </a:spcAft>
            </a:pPr>
            <a:r>
              <a:rPr sz="3200" b="0" i="0">
                <a:solidFill>
                  <a:srgbClr val="F2C14E"/>
                </a:solidFill>
                <a:latin typeface="Times New Roman"/>
              </a:rPr>
              <a:t>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DAHSmY36HKY</dc:identifier>
  <dcterms:modified xsi:type="dcterms:W3CDTF">2011-08-01T06:04:30Z</dcterms:modified>
  <cp:revision>1</cp:revision>
  <dc:title>USeP PPT Template</dc:title>
</cp:coreProperties>
</file>