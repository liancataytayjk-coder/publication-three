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2"/>
  </p:notesMasterIdLst>
  <p:sldIdLst>
    <p:sldId id="256" r:id="rId6"/>
    <p:sldId id="260" r:id="rId10"/>
    <p:sldId id="263" r:id="rId23"/>
    <p:sldId id="264" r:id="rId24"/>
    <p:sldId id="265" r:id="rId25"/>
    <p:sldId id="266" r:id="rId26"/>
    <p:sldId id="267" r:id="rId27"/>
    <p:sldId id="268" r:id="rId28"/>
    <p:sldId id="269" r:id="rId29"/>
    <p:sldId id="270" r:id="rId30"/>
    <p:sldId id="271" r:id="rId31"/>
    <p:sldId id="272" r:id="rId32"/>
    <p:sldId id="273" r:id="rId33"/>
    <p:sldId id="274" r:id="rId34"/>
  </p:sldIdLst>
  <p:sldSz cx="18288000" cy="10287000"/>
  <p:notesSz cx="6858000" cy="9144000"/>
  <p:embeddedFontLst>
    <p:embeddedFont>
      <p:font typeface="Arial" charset="1" panose="020B0604020202020204"/>
      <p:regular r:id="rId15"/>
    </p:embeddedFont>
    <p:embeddedFont>
      <p:font typeface="Arial Bold" charset="1" panose="020B0704020202020204"/>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10" Type="http://schemas.openxmlformats.org/officeDocument/2006/relationships/slide" Target="slides/slide2.xml"/><Relationship Id="rId12" Type="http://schemas.openxmlformats.org/officeDocument/2006/relationships/notesMaster" Target="notesMasters/notesMaster1.xml"/><Relationship Id="rId13" Type="http://schemas.openxmlformats.org/officeDocument/2006/relationships/theme" Target="theme/theme2.xml"/><Relationship Id="rId14" Type="http://schemas.openxmlformats.org/officeDocument/2006/relationships/notesSlide" Target="notesSlides/notesSlide1.xml"/><Relationship Id="rId15" Type="http://schemas.openxmlformats.org/officeDocument/2006/relationships/font" Target="fonts/font15.fntdata"/><Relationship Id="rId16" Type="http://schemas.openxmlformats.org/officeDocument/2006/relationships/notesSlide" Target="notesSlides/notesSlide2.xml"/><Relationship Id="rId17" Type="http://schemas.openxmlformats.org/officeDocument/2006/relationships/notesSlide" Target="notesSlides/notesSlide3.xml"/><Relationship Id="rId18" Type="http://schemas.openxmlformats.org/officeDocument/2006/relationships/notesSlide" Target="notesSlides/notesSlide4.xml"/><Relationship Id="rId19" Type="http://schemas.openxmlformats.org/officeDocument/2006/relationships/font" Target="fonts/font19.fntdata"/><Relationship Id="rId20" Type="http://schemas.openxmlformats.org/officeDocument/2006/relationships/notesSlide" Target="notesSlides/notesSlide5.xml"/><Relationship Id="rId21" Type="http://schemas.openxmlformats.org/officeDocument/2006/relationships/notesSlide" Target="notesSlides/notesSlide6.xml"/><Relationship Id="rId23" Type="http://schemas.openxmlformats.org/officeDocument/2006/relationships/slide" Target="slides/slide3.xml"/><Relationship Id="rId24" Type="http://schemas.openxmlformats.org/officeDocument/2006/relationships/slide" Target="slides/slide4.xml"/><Relationship Id="rId25" Type="http://schemas.openxmlformats.org/officeDocument/2006/relationships/slide" Target="slides/slide5.xml"/><Relationship Id="rId26" Type="http://schemas.openxmlformats.org/officeDocument/2006/relationships/slide" Target="slides/slide6.xml"/><Relationship Id="rId27" Type="http://schemas.openxmlformats.org/officeDocument/2006/relationships/slide" Target="slides/slide7.xml"/><Relationship Id="rId28" Type="http://schemas.openxmlformats.org/officeDocument/2006/relationships/slide" Target="slides/slide8.xml"/><Relationship Id="rId29" Type="http://schemas.openxmlformats.org/officeDocument/2006/relationships/slide" Target="slides/slide9.xml"/><Relationship Id="rId30" Type="http://schemas.openxmlformats.org/officeDocument/2006/relationships/slide" Target="slides/slide10.xml"/><Relationship Id="rId31" Type="http://schemas.openxmlformats.org/officeDocument/2006/relationships/slide" Target="slides/slide11.xml"/><Relationship Id="rId32" Type="http://schemas.openxmlformats.org/officeDocument/2006/relationships/slide" Target="slides/slide12.xml"/><Relationship Id="rId33" Type="http://schemas.openxmlformats.org/officeDocument/2006/relationships/slide" Target="slides/slide13.xml"/><Relationship Id="rId3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Good day. This is my critical review of a 2010 article by Agbola and Acupan. The article asks one question: what conditions in the Philippines push Filipinos to leave the country? I will cover six parts: the research problem, the theoretical framework, the data, the methodology, the key findings, and areas for further research. I will also give my own critical assessment.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Some numbers for context. In 2007, Filipinos abroad sent home 14.4 billion US dollars in remittances, which is money sent home by workers abroad. About 8.2 million Filipinos live or work in more than 193 countries. Because emigration is this large, it is important to know what causes it. The study uses 31 years of yearly data, from 1975 to 2005.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going further, here are the terms I will use throughout. Emigration means people leaving the Philippines. The migration share is the number of Filipino migrants divided by the population; it is what the study tries to explain. Push factors are conditions at home, like having no job. Pull factors are conditions abroad, like higher wages. A proxy is a stand-in measure. Stationary data move around a stable average, and a unit root test checks this. Cointegration means several data series move together in the long run. The error correction model, or ECM, shows short-run changes and how the data return to the long-run path; the error correction term, or ECT, measures the speed of that return. Statistically significant means the result is unlikely to be due to chance.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the Philippines started sending workers abroad in the 1970s as a short-term fix for unemployment. It became a permanent part of the economy. The law is also unclear. Republic Act 8042 says the State does not promote overseas work, but the same law says deployment shall be encouraged. The gap: the causes of emigration from the Philippines are not well established, so policymakers lack evidence. My critical comment: the problem is clear and important, but the authors do not review earlier Philippine studies in detail, so the gap is stated more than it is shown.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single theory explains emigration, and the authors admit this. They combine four ideas. First, people migrate when they expect a better life. Second, human capital theory says migration is an investment, so more educated people should migrate more. Third, the Roy effect says income inequality decides which skill groups leave. Fourth, the gravity model says migration depends on income, population and the cost of migration. From these, they build one equation: the migration share depends on nine explanatory variables. My critical view: this is a mix of theories, not one model. Also, the study uses only push factors from the Philippines; pull factors from destination countries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data are secondary data, meaning other agencies collected them. They are yearly national data from 1975 to 2005, so there are only 31 observations. The migration share comes from the Commission on Filipinos Overseas and the National Statistical Coordination Board. The other data come from the IMF, the Bangko Sentral ng Pilipinas and the NSCB. Two measures are proxies: airfare stands in for the cost of migration, and adult literacy stands in for education. The last column shows the sign the authors expected for each coefficient. My critical comment: the paper does not say where the income inequality data came from. The Philippines measures the Gini coefficient only every few years, so the yearly values were probably estimated, but this is not explained.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methodology has five steps. Step one, unit root tests: the ADF and Phillips–Perron tests check if the data are stationary. Most data are not stationary at first, but they become stationary after first differences, meaning the change from one year to the next. Step two, cointegration tests: three tests show that the variables move together in the long run. Step three, choosing the model: start with a big model and drop terms that are not statistically significant. Step four, estimation: the error correction model is estimated using ordinary least squares, or OLS, in EViews. Step five, diagnostic tests: the model passes all checks. My concern: the Johansen test finds five to eight long-run relationships, but the ECM keeps only one error correction term.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shows the results from Table 3 of the article. The shaded rows are the four statistically significant push factors: unemployment, adult literacy, political instability and population density. The other five variables are not statistically significant, so their effects could be due to chance. A t-statistic beyond about plus or minus two means the result is statistically significant. At the bottom: the model explains 63 percent of changes in the migration share, and the error correction term of minus 0.776 means about 78 percent of any gap from the long-run path closes within one year.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statistically significant push factors. One: when unemployment goes up, emigration goes up. Emigration works like a safety valve when there are not enough jobs. Two: when adult literacy goes up, emigration goes down. This is the opposite of what human capital theory predicts. The authors say it is because most Filipino migrants do low-skilled jobs abroad. Three: when political instability goes up, emigration goes down; the migration share fell in unstable years like 1986 and 2001. Four: when population density goes up, emigration goes down. This was not expected, and the authors cannot fully explain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variables were not statistically significant. Cost of migration, per capita income and inflation had the expected negative sign, but their effect could be due to chance. Income inequality was also not significant, so the Roy effect does not hold for the Philippines. The authors conclude that the main push factors are unemployment, adult literacy, political instability and population density. They recommend better migration data, agreements with destination countries to protect workers, and building a home economy with enough jobs.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own assessment. Strengths: the question is important, the steps are careful, the diagnostic tests are all reported, and the paper explains the policy background well. Weaknesses: first, 31 observations is a small sample for 10 explanatory terms, so the tests may miss real effects. Second, the proxies are weak. Airfare is only the minimum cost of migration, and adult literacy in the Philippines is already very high, so it changes little. Third, the study uses only push factors and ignores pull factors such as job demand in the Middle East. Fourth, the authors say literacy lowers emigration because migrants are low-skilled, but the paper itself cites a study showing that more professionals left than were added at home. Fifth, the P–P test shows per capita income is still not stationary after first differences, and there are no tests for structural breaks, meaning sudden changes such as the 1986 EDSA Revolution or the 1997 Asian financial crisis.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are the limitations the authors themselves mention: migration data are hard to collect, airfare shows only the minimum cost of migration, the population density result is hard to explain, and the data cannot prove the political instability story. The authors call for more research on the population density result and for better migration data. On the right are my own suggestions. One, split the data into temporary and permanent migrants, and by skill level. Two, add pull factors from destination countries. Three, update the data past 2005 and test for structural breaks. Four, use household survey data to test human capital theory directly.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push factors at home shape Filipino emigration. Unemployment raises emigration, while adult literacy, political instability and population density lower it. The study gives useful early evidence and a clear policy message: build a home economy with enough jobs. But because of the small sample, the weak proxies and the missing pull factors, we should treat its results as a starting point, not a final answer. Thank you.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I am happy to take questions about the article or my review.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jpeg"/><Relationship Id="rId4" Type="http://schemas.openxmlformats.org/officeDocument/2006/relationships/image" Target="../media/image4.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2606021" y="9397517"/>
            <a:ext cx="13533149" cy="302781"/>
          </a:xfrm>
          <a:prstGeom prst="rect">
            <a:avLst/>
          </a:prstGeom>
        </p:spPr>
        <p:txBody>
          <a:bodyPr anchor="t" rtlCol="false" tIns="0" lIns="0" bIns="0" rIns="0">
            <a:spAutoFit/>
          </a:bodyPr>
          <a:lstStyle/>
          <a:p>
            <a:pPr algn="ctr">
              <a:lnSpc>
                <a:spcPts val="2410"/>
              </a:lnSpc>
            </a:pPr>
            <a:r>
              <a:rPr lang="en-US" sz="2790">
                <a:solidFill>
                  <a:srgbClr val="C00000"/>
                </a:solidFill>
                <a:latin typeface="Arial"/>
                <a:ea typeface="Arial"/>
                <a:cs typeface="Arial"/>
                <a:sym typeface="Arial"/>
              </a:rPr>
              <a:t>We build dreams without limits! | www.usep.edu.ph</a:t>
            </a:r>
          </a:p>
        </p:txBody>
      </p:sp>
      <p:grpSp>
        <p:nvGrpSpPr>
          <p:cNvPr name="Group 5" id="5"/>
          <p:cNvGrpSpPr/>
          <p:nvPr/>
        </p:nvGrpSpPr>
        <p:grpSpPr>
          <a:xfrm rot="0">
            <a:off x="2286000" y="877329"/>
            <a:ext cx="13468864" cy="7576233"/>
            <a:chOff x="0" y="0"/>
            <a:chExt cx="17958486" cy="10101644"/>
          </a:xfrm>
        </p:grpSpPr>
        <p:sp>
          <p:nvSpPr>
            <p:cNvPr name="Freeform 6" id="6"/>
            <p:cNvSpPr/>
            <p:nvPr/>
          </p:nvSpPr>
          <p:spPr>
            <a:xfrm flipH="false" flipV="false" rot="0">
              <a:off x="0" y="0"/>
              <a:ext cx="17958436" cy="10101707"/>
            </a:xfrm>
            <a:custGeom>
              <a:avLst/>
              <a:gdLst/>
              <a:ahLst/>
              <a:cxnLst/>
              <a:rect r="r" b="b" t="t" l="l"/>
              <a:pathLst>
                <a:path h="10101707" w="17958436">
                  <a:moveTo>
                    <a:pt x="0" y="0"/>
                  </a:moveTo>
                  <a:lnTo>
                    <a:pt x="17958436" y="0"/>
                  </a:lnTo>
                  <a:lnTo>
                    <a:pt x="17958436" y="10101707"/>
                  </a:lnTo>
                  <a:lnTo>
                    <a:pt x="0" y="10101707"/>
                  </a:lnTo>
                  <a:lnTo>
                    <a:pt x="0" y="0"/>
                  </a:lnTo>
                  <a:close/>
                </a:path>
              </a:pathLst>
            </a:custGeom>
            <a:blipFill>
              <a:blip r:embed="rId4"/>
              <a:stretch>
                <a:fillRect l="0" t="0" r="-18" b="0"/>
              </a:stretch>
            </a:blipFill>
          </p:spPr>
        </p:sp>
      </p:grpSp>
      <p:sp>
        <p:nvSpPr>
          <p:cNvPr id="7" name="Title"/>
          <p:cNvSpPr txBox="1"/>
          <p:nvPr/>
        </p:nvSpPr>
        <p:spPr>
          <a:xfrm>
            <a:off x="1371600" y="5349240"/>
            <a:ext cx="15544800" cy="2286000"/>
          </a:xfrm>
          <a:prstGeom prst="rect">
            <a:avLst/>
          </a:prstGeom>
          <a:noFill/>
        </p:spPr>
        <p:txBody>
          <a:bodyPr wrap="square" lIns="0" rIns="0" tIns="0" bIns="0" anchor="ctr">
            <a:noAutofit/>
          </a:bodyPr>
          <a:lstStyle/>
          <a:p>
            <a:pPr algn="ctr">
              <a:lnSpc>
                <a:spcPct val="105000"/>
              </a:lnSpc>
              <a:spcAft>
                <a:spcPts val="1000"/>
              </a:spcAft>
            </a:pPr>
            <a:r>
              <a:rPr sz="4600" b="1" i="0">
                <a:solidFill>
                  <a:srgbClr val="7A1916"/>
                </a:solidFill>
                <a:latin typeface="Arial"/>
              </a:rPr>
              <a:t>Critical Review: An Empirical Analysis of International Labour Migration in the Philippines</a:t>
            </a:r>
          </a:p>
        </p:txBody>
      </p:sp>
      <p:sp>
        <p:nvSpPr>
          <p:cNvPr id="8" name="Subtitle"/>
          <p:cNvSpPr txBox="1"/>
          <p:nvPr/>
        </p:nvSpPr>
        <p:spPr>
          <a:xfrm>
            <a:off x="1371600" y="7772400"/>
            <a:ext cx="15544800" cy="1371600"/>
          </a:xfrm>
          <a:prstGeom prst="rect">
            <a:avLst/>
          </a:prstGeom>
          <a:noFill/>
        </p:spPr>
        <p:txBody>
          <a:bodyPr wrap="square" lIns="0" rIns="0" tIns="0" bIns="0" anchor="t">
            <a:noAutofit/>
          </a:bodyPr>
          <a:lstStyle/>
          <a:p>
            <a:pPr algn="ctr">
              <a:lnSpc>
                <a:spcPct val="105000"/>
              </a:lnSpc>
              <a:spcAft>
                <a:spcPts val="600"/>
              </a:spcAft>
            </a:pPr>
            <a:r>
              <a:rPr sz="2600" b="0" i="0">
                <a:solidFill>
                  <a:srgbClr val="222222"/>
                </a:solidFill>
                <a:latin typeface="Arial"/>
              </a:rPr>
              <a:t>Agbola, F. W. &amp; Acupan, A. B. (2010) · </a:t>
            </a:r>
            <a:r>
              <a:rPr sz="2600" b="1" i="0">
                <a:solidFill>
                  <a:srgbClr val="7A1916"/>
                </a:solidFill>
                <a:latin typeface="Arial"/>
              </a:rPr>
              <a:t>Economic Systems, 34</a:t>
            </a:r>
            <a:r>
              <a:rPr sz="2600" b="0" i="0">
                <a:solidFill>
                  <a:srgbClr val="222222"/>
                </a:solidFill>
                <a:latin typeface="Arial"/>
              </a:rPr>
              <a:t>, 386–396</a:t>
            </a:r>
          </a:p>
          <a:p>
            <a:pPr algn="ctr">
              <a:lnSpc>
                <a:spcPct val="105000"/>
              </a:lnSpc>
              <a:spcAft>
                <a:spcPts val="600"/>
              </a:spcAft>
            </a:pPr>
            <a:r>
              <a:rPr sz="2600" b="0" i="0">
                <a:solidFill>
                  <a:srgbClr val="222222"/>
                </a:solidFill>
                <a:latin typeface="Arial"/>
              </a:rPr>
              <a:t>Prepared by: </a:t>
            </a:r>
            <a:r>
              <a:rPr sz="2600" b="1" i="0">
                <a:solidFill>
                  <a:srgbClr val="7A1916"/>
                </a:solidFill>
                <a:latin typeface="Arial"/>
              </a:rPr>
              <a:t>Cataytay</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91421" y="9908915"/>
            <a:ext cx="17981581" cy="369456"/>
          </a:xfrm>
          <a:prstGeom prst="rect">
            <a:avLst/>
          </a:prstGeom>
        </p:spPr>
        <p:txBody>
          <a:bodyPr anchor="t" rtlCol="false" tIns="0" lIns="0" bIns="0" rIns="0">
            <a:spAutoFit/>
          </a:bodyPr>
          <a:lstStyle/>
          <a:p>
            <a:pPr algn="ctr">
              <a:lnSpc>
                <a:spcPts val="1377"/>
              </a:lnSpc>
            </a:pPr>
            <a:r>
              <a:rPr lang="en-US" b="true" sz="1275">
                <a:solidFill>
                  <a:srgbClr val="3A3A3A"/>
                </a:solidFill>
                <a:latin typeface="Arial Bold"/>
                <a:ea typeface="Arial Bold"/>
                <a:cs typeface="Arial Bold"/>
                <a:sym typeface="Arial Bold"/>
              </a:rPr>
              <a:t>© 2026 University of Southeastern Philippines |</a:t>
            </a:r>
            <a:r>
              <a:rPr lang="en-US" sz="1275">
                <a:solidFill>
                  <a:srgbClr val="3A3A3A"/>
                </a:solidFill>
                <a:latin typeface="Arial"/>
                <a:ea typeface="Arial"/>
                <a:cs typeface="Arial"/>
                <a:sym typeface="Arial"/>
              </a:rPr>
              <a:t> All Rights Reserved. This presentation contains confidential and proprietary information. Photography, video, and audio recording of these materials are prohibited without prior authorization.</a:t>
            </a:r>
          </a:p>
        </p:txBody>
      </p:sp>
      <p:sp>
        <p:nvSpPr>
          <p:cNvPr id="5" name="Title"/>
          <p:cNvSpPr txBox="1"/>
          <p:nvPr/>
        </p:nvSpPr>
        <p:spPr>
          <a:xfrm>
            <a:off x="914400" y="1600200"/>
            <a:ext cx="16459200" cy="914400"/>
          </a:xfrm>
          <a:prstGeom prst="rect">
            <a:avLst/>
          </a:prstGeom>
          <a:noFill/>
        </p:spPr>
        <p:txBody>
          <a:bodyPr wrap="square" lIns="0" rIns="0" tIns="0" bIns="0" anchor="ctr">
            <a:noAutofit/>
          </a:bodyPr>
          <a:lstStyle/>
          <a:p>
            <a:pPr algn="l">
              <a:lnSpc>
                <a:spcPct val="105000"/>
              </a:lnSpc>
              <a:spcAft>
                <a:spcPts val="1000"/>
              </a:spcAft>
            </a:pPr>
            <a:r>
              <a:rPr sz="4800" b="1" i="0">
                <a:solidFill>
                  <a:srgbClr val="7A1916"/>
                </a:solidFill>
                <a:latin typeface="Arial"/>
              </a:rPr>
              <a:t>The article at a glance</a:t>
            </a:r>
          </a:p>
        </p:txBody>
      </p:sp>
      <p:sp>
        <p:nvSpPr>
          <p:cNvPr id="6" name="Key message"/>
          <p:cNvSpPr txBox="1"/>
          <p:nvPr/>
        </p:nvSpPr>
        <p:spPr>
          <a:xfrm>
            <a:off x="914400" y="2606040"/>
            <a:ext cx="16459200" cy="822960"/>
          </a:xfrm>
          <a:prstGeom prst="rect">
            <a:avLst/>
          </a:prstGeom>
          <a:noFill/>
        </p:spPr>
        <p:txBody>
          <a:bodyPr wrap="square" lIns="0" rIns="0" tIns="0" bIns="0" anchor="t">
            <a:noAutofit/>
          </a:bodyPr>
          <a:lstStyle/>
          <a:p>
            <a:pPr algn="l">
              <a:lnSpc>
                <a:spcPct val="105000"/>
              </a:lnSpc>
              <a:spcAft>
                <a:spcPts val="1000"/>
              </a:spcAft>
            </a:pPr>
            <a:r>
              <a:rPr sz="2800" b="1" i="1">
                <a:solidFill>
                  <a:srgbClr val="222222"/>
                </a:solidFill>
                <a:latin typeface="Arial"/>
              </a:rPr>
              <a:t>The study asks which push factors in the Philippines lead Filipinos to emigrate.</a:t>
            </a:r>
          </a:p>
        </p:txBody>
      </p:sp>
      <p:sp>
        <p:nvSpPr>
          <p:cNvPr id="7" name="Left heading"/>
          <p:cNvSpPr txBox="1"/>
          <p:nvPr/>
        </p:nvSpPr>
        <p:spPr>
          <a:xfrm>
            <a:off x="914400" y="3749039"/>
            <a:ext cx="7863840" cy="548640"/>
          </a:xfrm>
          <a:prstGeom prst="rect">
            <a:avLst/>
          </a:prstGeom>
          <a:noFill/>
        </p:spPr>
        <p:txBody>
          <a:bodyPr wrap="square" lIns="0" rIns="0" tIns="0" bIns="0" anchor="t">
            <a:noAutofit/>
          </a:bodyPr>
          <a:lstStyle/>
          <a:p>
            <a:pPr algn="l">
              <a:lnSpc>
                <a:spcPct val="105000"/>
              </a:lnSpc>
              <a:spcAft>
                <a:spcPts val="1000"/>
              </a:spcAft>
            </a:pPr>
            <a:r>
              <a:rPr sz="3000" b="1" i="0">
                <a:solidFill>
                  <a:srgbClr val="7A1916"/>
                </a:solidFill>
                <a:latin typeface="Arial"/>
              </a:rPr>
              <a:t>Why it matters</a:t>
            </a:r>
          </a:p>
        </p:txBody>
      </p:sp>
      <p:sp>
        <p:nvSpPr>
          <p:cNvPr id="8" name="Left text"/>
          <p:cNvSpPr txBox="1"/>
          <p:nvPr/>
        </p:nvSpPr>
        <p:spPr>
          <a:xfrm>
            <a:off x="914400" y="4434840"/>
            <a:ext cx="7863840" cy="5029200"/>
          </a:xfrm>
          <a:prstGeom prst="rect">
            <a:avLst/>
          </a:prstGeom>
          <a:noFill/>
        </p:spPr>
        <p:txBody>
          <a:bodyPr wrap="square" lIns="0" rIns="0" tIns="0" bIns="0" anchor="t">
            <a:noAutofit/>
          </a:bodyPr>
          <a:lstStyle/>
          <a:p>
            <a:pPr algn="l" marL="384048" indent="-384048">
              <a:lnSpc>
                <a:spcPct val="105000"/>
              </a:lnSpc>
              <a:spcAft>
                <a:spcPts val="1400"/>
              </a:spcAft>
              <a:buClr>
                <a:srgbClr val="7A1916"/>
              </a:buClr>
              <a:buFont typeface="Arial"/>
              <a:buChar char="•"/>
            </a:pPr>
            <a:r>
              <a:rPr sz="2600" b="1" i="0">
                <a:solidFill>
                  <a:srgbClr val="7A1916"/>
                </a:solidFill>
                <a:latin typeface="Arial"/>
              </a:rPr>
              <a:t>8.2 million</a:t>
            </a:r>
            <a:r>
              <a:rPr sz="2600" b="0" i="0">
                <a:solidFill>
                  <a:srgbClr val="222222"/>
                </a:solidFill>
                <a:latin typeface="Arial"/>
              </a:rPr>
              <a:t> Filipinos live or work in more than 193 countries</a:t>
            </a:r>
          </a:p>
          <a:p>
            <a:pPr algn="l" marL="384048" indent="-384048">
              <a:lnSpc>
                <a:spcPct val="105000"/>
              </a:lnSpc>
              <a:spcAft>
                <a:spcPts val="1400"/>
              </a:spcAft>
              <a:buClr>
                <a:srgbClr val="7A1916"/>
              </a:buClr>
              <a:buFont typeface="Arial"/>
              <a:buChar char="•"/>
            </a:pPr>
            <a:r>
              <a:rPr sz="2600" b="1" i="0">
                <a:solidFill>
                  <a:srgbClr val="7A1916"/>
                </a:solidFill>
                <a:latin typeface="Arial"/>
              </a:rPr>
              <a:t>US$14.4 billion</a:t>
            </a:r>
            <a:r>
              <a:rPr sz="2600" b="0" i="0">
                <a:solidFill>
                  <a:srgbClr val="222222"/>
                </a:solidFill>
                <a:latin typeface="Arial"/>
              </a:rPr>
              <a:t> in remittances (money sent home) in 2007</a:t>
            </a:r>
          </a:p>
          <a:p>
            <a:pPr algn="l" marL="384048" indent="-384048">
              <a:lnSpc>
                <a:spcPct val="105000"/>
              </a:lnSpc>
              <a:spcAft>
                <a:spcPts val="1400"/>
              </a:spcAft>
              <a:buClr>
                <a:srgbClr val="7A1916"/>
              </a:buClr>
              <a:buFont typeface="Arial"/>
              <a:buChar char="•"/>
            </a:pPr>
            <a:r>
              <a:rPr sz="2600" b="0" i="0">
                <a:solidFill>
                  <a:srgbClr val="222222"/>
                </a:solidFill>
                <a:latin typeface="Arial"/>
              </a:rPr>
              <a:t>The Philippines has the </a:t>
            </a:r>
            <a:r>
              <a:rPr sz="2600" b="1" i="0">
                <a:solidFill>
                  <a:srgbClr val="7A1916"/>
                </a:solidFill>
                <a:latin typeface="Arial"/>
              </a:rPr>
              <a:t>third-largest diaspora</a:t>
            </a:r>
            <a:r>
              <a:rPr sz="2600" b="0" i="0">
                <a:solidFill>
                  <a:srgbClr val="222222"/>
                </a:solidFill>
                <a:latin typeface="Arial"/>
              </a:rPr>
              <a:t> in the world</a:t>
            </a:r>
          </a:p>
          <a:p>
            <a:pPr algn="l" marL="384048" indent="-384048">
              <a:lnSpc>
                <a:spcPct val="105000"/>
              </a:lnSpc>
              <a:spcAft>
                <a:spcPts val="1400"/>
              </a:spcAft>
              <a:buClr>
                <a:srgbClr val="7A1916"/>
              </a:buClr>
              <a:buFont typeface="Arial"/>
              <a:buChar char="•"/>
            </a:pPr>
            <a:r>
              <a:rPr sz="2600" b="0" i="0">
                <a:solidFill>
                  <a:srgbClr val="222222"/>
                </a:solidFill>
                <a:latin typeface="Arial"/>
              </a:rPr>
              <a:t>Emigration is now a </a:t>
            </a:r>
            <a:r>
              <a:rPr sz="2600" b="1" i="0">
                <a:solidFill>
                  <a:srgbClr val="7A1916"/>
                </a:solidFill>
                <a:latin typeface="Arial"/>
              </a:rPr>
              <a:t>permanent part</a:t>
            </a:r>
            <a:r>
              <a:rPr sz="2600" b="0" i="0">
                <a:solidFill>
                  <a:srgbClr val="222222"/>
                </a:solidFill>
                <a:latin typeface="Arial"/>
              </a:rPr>
              <a:t> of the economy</a:t>
            </a:r>
          </a:p>
        </p:txBody>
      </p:sp>
      <p:sp>
        <p:nvSpPr>
          <p:cNvPr id="9" name="Article box"/>
          <p:cNvSpPr/>
          <p:nvPr/>
        </p:nvSpPr>
        <p:spPr>
          <a:xfrm>
            <a:off x="9509760" y="3749039"/>
            <a:ext cx="7863840" cy="5669280"/>
          </a:xfrm>
          <a:prstGeom prst="roundRect">
            <a:avLst>
              <a:gd name="adj" fmla="val 4000"/>
            </a:avLst>
          </a:prstGeom>
          <a:solidFill>
            <a:srgbClr val="F6E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Article text"/>
          <p:cNvSpPr txBox="1"/>
          <p:nvPr/>
        </p:nvSpPr>
        <p:spPr>
          <a:xfrm>
            <a:off x="9875520" y="4023360"/>
            <a:ext cx="7132320" cy="5212080"/>
          </a:xfrm>
          <a:prstGeom prst="rect">
            <a:avLst/>
          </a:prstGeom>
          <a:noFill/>
        </p:spPr>
        <p:txBody>
          <a:bodyPr wrap="square" lIns="0" rIns="0" tIns="0" bIns="0" anchor="t">
            <a:noAutofit/>
          </a:bodyPr>
          <a:lstStyle/>
          <a:p>
            <a:pPr algn="l">
              <a:lnSpc>
                <a:spcPct val="105000"/>
              </a:lnSpc>
              <a:spcAft>
                <a:spcPts val="1400"/>
              </a:spcAft>
            </a:pPr>
            <a:r>
              <a:rPr sz="3000" b="1" i="0">
                <a:solidFill>
                  <a:srgbClr val="7A1916"/>
                </a:solidFill>
                <a:latin typeface="Arial"/>
              </a:rPr>
              <a:t>About the article</a:t>
            </a:r>
          </a:p>
          <a:p>
            <a:pPr algn="l">
              <a:lnSpc>
                <a:spcPct val="105000"/>
              </a:lnSpc>
              <a:spcAft>
                <a:spcPts val="1200"/>
              </a:spcAft>
            </a:pPr>
            <a:r>
              <a:rPr sz="2600" b="1" i="0">
                <a:solidFill>
                  <a:srgbClr val="7A1916"/>
                </a:solidFill>
                <a:latin typeface="Arial"/>
              </a:rPr>
              <a:t>Authors:</a:t>
            </a:r>
            <a:r>
              <a:rPr sz="2600" b="0" i="0">
                <a:solidFill>
                  <a:srgbClr val="222222"/>
                </a:solidFill>
                <a:latin typeface="Arial"/>
              </a:rPr>
              <a:t> Frank W. Agbola and Angelito B. Acupan</a:t>
            </a:r>
          </a:p>
          <a:p>
            <a:pPr algn="l">
              <a:lnSpc>
                <a:spcPct val="105000"/>
              </a:lnSpc>
              <a:spcAft>
                <a:spcPts val="1200"/>
              </a:spcAft>
            </a:pPr>
            <a:r>
              <a:rPr sz="2600" b="1" i="0">
                <a:solidFill>
                  <a:srgbClr val="7A1916"/>
                </a:solidFill>
                <a:latin typeface="Arial"/>
              </a:rPr>
              <a:t>Journal:</a:t>
            </a:r>
            <a:r>
              <a:rPr sz="2600" b="0" i="0">
                <a:solidFill>
                  <a:srgbClr val="222222"/>
                </a:solidFill>
                <a:latin typeface="Arial"/>
              </a:rPr>
              <a:t> Economic Systems (Elsevier), 2010</a:t>
            </a:r>
          </a:p>
          <a:p>
            <a:pPr algn="l">
              <a:lnSpc>
                <a:spcPct val="105000"/>
              </a:lnSpc>
              <a:spcAft>
                <a:spcPts val="1200"/>
              </a:spcAft>
            </a:pPr>
            <a:r>
              <a:rPr sz="2600" b="1" i="0">
                <a:solidFill>
                  <a:srgbClr val="7A1916"/>
                </a:solidFill>
                <a:latin typeface="Arial"/>
              </a:rPr>
              <a:t>Data:</a:t>
            </a:r>
            <a:r>
              <a:rPr sz="2600" b="0" i="0">
                <a:solidFill>
                  <a:srgbClr val="222222"/>
                </a:solidFill>
                <a:latin typeface="Arial"/>
              </a:rPr>
              <a:t> yearly national data, 1975–2005 (31 years)</a:t>
            </a:r>
          </a:p>
          <a:p>
            <a:pPr algn="l">
              <a:lnSpc>
                <a:spcPct val="105000"/>
              </a:lnSpc>
              <a:spcAft>
                <a:spcPts val="1200"/>
              </a:spcAft>
            </a:pPr>
            <a:r>
              <a:rPr sz="2600" b="1" i="0">
                <a:solidFill>
                  <a:srgbClr val="7A1916"/>
                </a:solidFill>
                <a:latin typeface="Arial"/>
              </a:rPr>
              <a:t>Method:</a:t>
            </a:r>
            <a:r>
              <a:rPr sz="2600" b="0" i="0">
                <a:solidFill>
                  <a:srgbClr val="222222"/>
                </a:solidFill>
                <a:latin typeface="Arial"/>
              </a:rPr>
              <a:t> error correction model (ECM)</a:t>
            </a:r>
          </a:p>
          <a:p>
            <a:pPr algn="l">
              <a:lnSpc>
                <a:spcPct val="105000"/>
              </a:lnSpc>
              <a:spcAft>
                <a:spcPts val="1200"/>
              </a:spcAft>
            </a:pPr>
            <a:r>
              <a:rPr sz="2600" b="1" i="0">
                <a:solidFill>
                  <a:srgbClr val="7A1916"/>
                </a:solidFill>
                <a:latin typeface="Arial"/>
              </a:rPr>
              <a:t>Type:</a:t>
            </a:r>
            <a:r>
              <a:rPr sz="2600" b="0" i="0">
                <a:solidFill>
                  <a:srgbClr val="222222"/>
                </a:solidFill>
                <a:latin typeface="Arial"/>
              </a:rPr>
              <a:t> quantitative, time-series study</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91421" y="9983057"/>
            <a:ext cx="17981581" cy="369456"/>
          </a:xfrm>
          <a:prstGeom prst="rect">
            <a:avLst/>
          </a:prstGeom>
        </p:spPr>
        <p:txBody>
          <a:bodyPr anchor="t" rtlCol="false" tIns="0" lIns="0" bIns="0" rIns="0">
            <a:spAutoFit/>
          </a:bodyPr>
          <a:lstStyle/>
          <a:p>
            <a:pPr algn="ctr">
              <a:lnSpc>
                <a:spcPts val="1377"/>
              </a:lnSpc>
            </a:pPr>
            <a:r>
              <a:rPr lang="en-US" b="true" sz="1275">
                <a:solidFill>
                  <a:srgbClr val="3A3A3A"/>
                </a:solidFill>
                <a:latin typeface="Arial Bold"/>
                <a:ea typeface="Arial Bold"/>
                <a:cs typeface="Arial Bold"/>
                <a:sym typeface="Arial Bold"/>
              </a:rPr>
              <a:t>© 2026 University of Southeastern Philippines |</a:t>
            </a:r>
            <a:r>
              <a:rPr lang="en-US" sz="1275">
                <a:solidFill>
                  <a:srgbClr val="3A3A3A"/>
                </a:solidFill>
                <a:latin typeface="Arial"/>
                <a:ea typeface="Arial"/>
                <a:cs typeface="Arial"/>
                <a:sym typeface="Arial"/>
              </a:rPr>
              <a:t> All Rights Reserved. This presentation contains confidential and proprietary information. Photography, video, and audio recording of these materials are prohibited without prior authorization.</a:t>
            </a:r>
          </a:p>
        </p:txBody>
      </p:sp>
      <p:sp>
        <p:nvSpPr>
          <p:cNvPr id="5" name="Title"/>
          <p:cNvSpPr txBox="1"/>
          <p:nvPr/>
        </p:nvSpPr>
        <p:spPr>
          <a:xfrm>
            <a:off x="914400" y="1600200"/>
            <a:ext cx="16459200" cy="914400"/>
          </a:xfrm>
          <a:prstGeom prst="rect">
            <a:avLst/>
          </a:prstGeom>
          <a:noFill/>
        </p:spPr>
        <p:txBody>
          <a:bodyPr wrap="square" lIns="0" rIns="0" tIns="0" bIns="0" anchor="ctr">
            <a:noAutofit/>
          </a:bodyPr>
          <a:lstStyle/>
          <a:p>
            <a:pPr algn="l">
              <a:lnSpc>
                <a:spcPct val="105000"/>
              </a:lnSpc>
              <a:spcAft>
                <a:spcPts val="1000"/>
              </a:spcAft>
            </a:pPr>
            <a:r>
              <a:rPr sz="4800" b="1" i="0">
                <a:solidFill>
                  <a:srgbClr val="7A1916"/>
                </a:solidFill>
                <a:latin typeface="Arial"/>
              </a:rPr>
              <a:t>Key terms used in this review</a:t>
            </a:r>
          </a:p>
        </p:txBody>
      </p:sp>
      <p:sp>
        <p:nvSpPr>
          <p:cNvPr id="6" name="Key message"/>
          <p:cNvSpPr txBox="1"/>
          <p:nvPr/>
        </p:nvSpPr>
        <p:spPr>
          <a:xfrm>
            <a:off x="914400" y="2606040"/>
            <a:ext cx="16459200" cy="822960"/>
          </a:xfrm>
          <a:prstGeom prst="rect">
            <a:avLst/>
          </a:prstGeom>
          <a:noFill/>
        </p:spPr>
        <p:txBody>
          <a:bodyPr wrap="square" lIns="0" rIns="0" tIns="0" bIns="0" anchor="t">
            <a:noAutofit/>
          </a:bodyPr>
          <a:lstStyle/>
          <a:p>
            <a:pPr algn="l">
              <a:lnSpc>
                <a:spcPct val="105000"/>
              </a:lnSpc>
              <a:spcAft>
                <a:spcPts val="1000"/>
              </a:spcAft>
            </a:pPr>
            <a:r>
              <a:rPr sz="2800" b="1" i="1">
                <a:solidFill>
                  <a:srgbClr val="222222"/>
                </a:solidFill>
                <a:latin typeface="Arial"/>
              </a:rPr>
              <a:t>Each term keeps the same meaning on every slide.</a:t>
            </a:r>
          </a:p>
        </p:txBody>
      </p:sp>
      <p:graphicFrame>
        <p:nvGraphicFramePr>
          <p:cNvPr id="7" name="Key terms table"/>
          <p:cNvGraphicFramePr>
            <a:graphicFrameLocks noGrp="1"/>
          </p:cNvGraphicFramePr>
          <p:nvPr/>
        </p:nvGraphicFramePr>
        <p:xfrm>
          <a:off x="914400" y="3657600"/>
          <a:ext cx="16459200" cy="5925312"/>
        </p:xfrm>
        <a:graphic>
          <a:graphicData uri="http://schemas.openxmlformats.org/drawingml/2006/table">
            <a:tbl>
              <a:tblPr firstRow="0" bandRow="0">
                <a:tableStyleId>{5940675A-B579-460E-94D1-54222C63F5DA}</a:tableStyleId>
              </a:tblPr>
              <a:tblGrid>
                <a:gridCol w="4206240"/>
                <a:gridCol w="12252960"/>
              </a:tblGrid>
              <a:tr h="658368">
                <a:tc>
                  <a:txBody>
                    <a:bodyPr wrap="square"/>
                    <a:lstStyle/>
                    <a:p>
                      <a:r>
                        <a:rPr sz="2200" b="1">
                          <a:solidFill>
                            <a:srgbClr val="FFFFFF"/>
                          </a:solidFill>
                          <a:latin typeface="Arial"/>
                        </a:rPr>
                        <a:t>Term</a:t>
                      </a:r>
                    </a:p>
                  </a:txBody>
                  <a:tcPr marL="109728" marR="109728" marT="45720" marB="45720" anchor="ctr">
                    <a:solidFill>
                      <a:srgbClr val="7A1916"/>
                    </a:solidFill>
                  </a:tcPr>
                </a:tc>
                <a:tc>
                  <a:txBody>
                    <a:bodyPr wrap="square"/>
                    <a:lstStyle/>
                    <a:p>
                      <a:r>
                        <a:rPr sz="2200" b="1">
                          <a:solidFill>
                            <a:srgbClr val="FFFFFF"/>
                          </a:solidFill>
                          <a:latin typeface="Arial"/>
                        </a:rPr>
                        <a:t>Meaning</a:t>
                      </a:r>
                    </a:p>
                  </a:txBody>
                  <a:tcPr marL="109728" marR="109728" marT="45720" marB="45720" anchor="ctr">
                    <a:solidFill>
                      <a:srgbClr val="7A1916"/>
                    </a:solidFill>
                  </a:tcPr>
                </a:tc>
              </a:tr>
              <a:tr h="658368">
                <a:tc>
                  <a:txBody>
                    <a:bodyPr wrap="square"/>
                    <a:lstStyle/>
                    <a:p>
                      <a:r>
                        <a:rPr sz="2200" b="1">
                          <a:solidFill>
                            <a:srgbClr val="222222"/>
                          </a:solidFill>
                          <a:latin typeface="Arial"/>
                        </a:rPr>
                        <a:t>Emigration</a:t>
                      </a:r>
                    </a:p>
                  </a:txBody>
                  <a:tcPr marL="109728" marR="109728" marT="45720" marB="45720" anchor="ctr">
                    <a:solidFill>
                      <a:srgbClr val="FFFFFF"/>
                    </a:solidFill>
                  </a:tcPr>
                </a:tc>
                <a:tc>
                  <a:txBody>
                    <a:bodyPr wrap="square"/>
                    <a:lstStyle/>
                    <a:p>
                      <a:r>
                        <a:rPr sz="2200" b="0">
                          <a:solidFill>
                            <a:srgbClr val="222222"/>
                          </a:solidFill>
                          <a:latin typeface="Arial"/>
                        </a:rPr>
                        <a:t>People leaving the Philippines to live or work abroad</a:t>
                      </a:r>
                    </a:p>
                  </a:txBody>
                  <a:tcPr marL="109728" marR="109728" marT="45720" marB="45720" anchor="ctr">
                    <a:solidFill>
                      <a:srgbClr val="FFFFFF"/>
                    </a:solidFill>
                  </a:tcPr>
                </a:tc>
              </a:tr>
              <a:tr h="658368">
                <a:tc>
                  <a:txBody>
                    <a:bodyPr wrap="square"/>
                    <a:lstStyle/>
                    <a:p>
                      <a:r>
                        <a:rPr sz="2200" b="1">
                          <a:solidFill>
                            <a:srgbClr val="222222"/>
                          </a:solidFill>
                          <a:latin typeface="Arial"/>
                        </a:rPr>
                        <a:t>Migration share</a:t>
                      </a:r>
                    </a:p>
                  </a:txBody>
                  <a:tcPr marL="109728" marR="109728" marT="45720" marB="45720" anchor="ctr">
                    <a:solidFill>
                      <a:srgbClr val="F4F4F4"/>
                    </a:solidFill>
                  </a:tcPr>
                </a:tc>
                <a:tc>
                  <a:txBody>
                    <a:bodyPr wrap="square"/>
                    <a:lstStyle/>
                    <a:p>
                      <a:r>
                        <a:rPr sz="2200" b="0">
                          <a:solidFill>
                            <a:srgbClr val="222222"/>
                          </a:solidFill>
                          <a:latin typeface="Arial"/>
                        </a:rPr>
                        <a:t>Filipino migrants as a share of the population; what the study explains</a:t>
                      </a:r>
                    </a:p>
                  </a:txBody>
                  <a:tcPr marL="109728" marR="109728" marT="45720" marB="45720" anchor="ctr">
                    <a:solidFill>
                      <a:srgbClr val="F4F4F4"/>
                    </a:solidFill>
                  </a:tcPr>
                </a:tc>
              </a:tr>
              <a:tr h="658368">
                <a:tc>
                  <a:txBody>
                    <a:bodyPr wrap="square"/>
                    <a:lstStyle/>
                    <a:p>
                      <a:r>
                        <a:rPr sz="2200" b="1">
                          <a:solidFill>
                            <a:srgbClr val="222222"/>
                          </a:solidFill>
                          <a:latin typeface="Arial"/>
                        </a:rPr>
                        <a:t>Push / pull factor</a:t>
                      </a:r>
                    </a:p>
                  </a:txBody>
                  <a:tcPr marL="109728" marR="109728" marT="45720" marB="45720" anchor="ctr">
                    <a:solidFill>
                      <a:srgbClr val="FFFFFF"/>
                    </a:solidFill>
                  </a:tcPr>
                </a:tc>
                <a:tc>
                  <a:txBody>
                    <a:bodyPr wrap="square"/>
                    <a:lstStyle/>
                    <a:p>
                      <a:r>
                        <a:rPr sz="2200" b="0">
                          <a:solidFill>
                            <a:srgbClr val="222222"/>
                          </a:solidFill>
                          <a:latin typeface="Arial"/>
                        </a:rPr>
                        <a:t>A condition at home that pushes people out / a condition abroad that pulls them in</a:t>
                      </a:r>
                    </a:p>
                  </a:txBody>
                  <a:tcPr marL="109728" marR="109728" marT="45720" marB="45720" anchor="ctr">
                    <a:solidFill>
                      <a:srgbClr val="FFFFFF"/>
                    </a:solidFill>
                  </a:tcPr>
                </a:tc>
              </a:tr>
              <a:tr h="658368">
                <a:tc>
                  <a:txBody>
                    <a:bodyPr wrap="square"/>
                    <a:lstStyle/>
                    <a:p>
                      <a:r>
                        <a:rPr sz="2200" b="1">
                          <a:solidFill>
                            <a:srgbClr val="222222"/>
                          </a:solidFill>
                          <a:latin typeface="Arial"/>
                        </a:rPr>
                        <a:t>Proxy</a:t>
                      </a:r>
                    </a:p>
                  </a:txBody>
                  <a:tcPr marL="109728" marR="109728" marT="45720" marB="45720" anchor="ctr">
                    <a:solidFill>
                      <a:srgbClr val="F4F4F4"/>
                    </a:solidFill>
                  </a:tcPr>
                </a:tc>
                <a:tc>
                  <a:txBody>
                    <a:bodyPr wrap="square"/>
                    <a:lstStyle/>
                    <a:p>
                      <a:r>
                        <a:rPr sz="2200" b="0">
                          <a:solidFill>
                            <a:srgbClr val="222222"/>
                          </a:solidFill>
                          <a:latin typeface="Arial"/>
                        </a:rPr>
                        <a:t>A stand-in measure for something that cannot be measured directly</a:t>
                      </a:r>
                    </a:p>
                  </a:txBody>
                  <a:tcPr marL="109728" marR="109728" marT="45720" marB="45720" anchor="ctr">
                    <a:solidFill>
                      <a:srgbClr val="F4F4F4"/>
                    </a:solidFill>
                  </a:tcPr>
                </a:tc>
              </a:tr>
              <a:tr h="658368">
                <a:tc>
                  <a:txBody>
                    <a:bodyPr wrap="square"/>
                    <a:lstStyle/>
                    <a:p>
                      <a:r>
                        <a:rPr sz="2200" b="1">
                          <a:solidFill>
                            <a:srgbClr val="222222"/>
                          </a:solidFill>
                          <a:latin typeface="Arial"/>
                        </a:rPr>
                        <a:t>Stationary</a:t>
                      </a:r>
                    </a:p>
                  </a:txBody>
                  <a:tcPr marL="109728" marR="109728" marT="45720" marB="45720" anchor="ctr">
                    <a:solidFill>
                      <a:srgbClr val="FFFFFF"/>
                    </a:solidFill>
                  </a:tcPr>
                </a:tc>
                <a:tc>
                  <a:txBody>
                    <a:bodyPr wrap="square"/>
                    <a:lstStyle/>
                    <a:p>
                      <a:r>
                        <a:rPr sz="2200" b="0">
                          <a:solidFill>
                            <a:srgbClr val="222222"/>
                          </a:solidFill>
                          <a:latin typeface="Arial"/>
                        </a:rPr>
                        <a:t>Data that move around a stable average; checked with a unit root test</a:t>
                      </a:r>
                    </a:p>
                  </a:txBody>
                  <a:tcPr marL="109728" marR="109728" marT="45720" marB="45720" anchor="ctr">
                    <a:solidFill>
                      <a:srgbClr val="FFFFFF"/>
                    </a:solidFill>
                  </a:tcPr>
                </a:tc>
              </a:tr>
              <a:tr h="658368">
                <a:tc>
                  <a:txBody>
                    <a:bodyPr wrap="square"/>
                    <a:lstStyle/>
                    <a:p>
                      <a:r>
                        <a:rPr sz="2200" b="1">
                          <a:solidFill>
                            <a:srgbClr val="222222"/>
                          </a:solidFill>
                          <a:latin typeface="Arial"/>
                        </a:rPr>
                        <a:t>Cointegration</a:t>
                      </a:r>
                    </a:p>
                  </a:txBody>
                  <a:tcPr marL="109728" marR="109728" marT="45720" marB="45720" anchor="ctr">
                    <a:solidFill>
                      <a:srgbClr val="F4F4F4"/>
                    </a:solidFill>
                  </a:tcPr>
                </a:tc>
                <a:tc>
                  <a:txBody>
                    <a:bodyPr wrap="square"/>
                    <a:lstStyle/>
                    <a:p>
                      <a:r>
                        <a:rPr sz="2200" b="0">
                          <a:solidFill>
                            <a:srgbClr val="222222"/>
                          </a:solidFill>
                          <a:latin typeface="Arial"/>
                        </a:rPr>
                        <a:t>Data series that drift over time but still move together in the long run</a:t>
                      </a:r>
                    </a:p>
                  </a:txBody>
                  <a:tcPr marL="109728" marR="109728" marT="45720" marB="45720" anchor="ctr">
                    <a:solidFill>
                      <a:srgbClr val="F4F4F4"/>
                    </a:solidFill>
                  </a:tcPr>
                </a:tc>
              </a:tr>
              <a:tr h="658368">
                <a:tc>
                  <a:txBody>
                    <a:bodyPr wrap="square"/>
                    <a:lstStyle/>
                    <a:p>
                      <a:r>
                        <a:rPr sz="2200" b="1">
                          <a:solidFill>
                            <a:srgbClr val="222222"/>
                          </a:solidFill>
                          <a:latin typeface="Arial"/>
                        </a:rPr>
                        <a:t>ECM and ECT</a:t>
                      </a:r>
                    </a:p>
                  </a:txBody>
                  <a:tcPr marL="109728" marR="109728" marT="45720" marB="45720" anchor="ctr">
                    <a:solidFill>
                      <a:srgbClr val="FFFFFF"/>
                    </a:solidFill>
                  </a:tcPr>
                </a:tc>
                <a:tc>
                  <a:txBody>
                    <a:bodyPr wrap="square"/>
                    <a:lstStyle/>
                    <a:p>
                      <a:r>
                        <a:rPr sz="2200" b="0">
                          <a:solidFill>
                            <a:srgbClr val="222222"/>
                          </a:solidFill>
                          <a:latin typeface="Arial"/>
                        </a:rPr>
                        <a:t>Error correction model; its error correction term shows how fast data return to the long-run path</a:t>
                      </a:r>
                    </a:p>
                  </a:txBody>
                  <a:tcPr marL="109728" marR="109728" marT="45720" marB="45720" anchor="ctr">
                    <a:solidFill>
                      <a:srgbClr val="FFFFFF"/>
                    </a:solidFill>
                  </a:tcPr>
                </a:tc>
              </a:tr>
              <a:tr h="658368">
                <a:tc>
                  <a:txBody>
                    <a:bodyPr wrap="square"/>
                    <a:lstStyle/>
                    <a:p>
                      <a:r>
                        <a:rPr sz="2200" b="1">
                          <a:solidFill>
                            <a:srgbClr val="222222"/>
                          </a:solidFill>
                          <a:latin typeface="Arial"/>
                        </a:rPr>
                        <a:t>Statistically significant</a:t>
                      </a:r>
                    </a:p>
                  </a:txBody>
                  <a:tcPr marL="109728" marR="109728" marT="45720" marB="45720" anchor="ctr">
                    <a:solidFill>
                      <a:srgbClr val="F4F4F4"/>
                    </a:solidFill>
                  </a:tcPr>
                </a:tc>
                <a:tc>
                  <a:txBody>
                    <a:bodyPr wrap="square"/>
                    <a:lstStyle/>
                    <a:p>
                      <a:r>
                        <a:rPr sz="2200" b="0">
                          <a:solidFill>
                            <a:srgbClr val="222222"/>
                          </a:solidFill>
                          <a:latin typeface="Arial"/>
                        </a:rPr>
                        <a:t>Unlikely to be due to chance (here, at the 5% level)</a:t>
                      </a:r>
                    </a:p>
                  </a:txBody>
                  <a:tcPr marL="109728" marR="109728" marT="45720" marB="45720" anchor="ctr">
                    <a:solidFill>
                      <a:srgbClr val="F4F4F4"/>
                    </a:solidFill>
                  </a:tcPr>
                </a:tc>
              </a:tr>
            </a:tbl>
          </a:graphicData>
        </a:graphic>
      </p:graphicFrame>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91421" y="9908915"/>
            <a:ext cx="17981581" cy="369456"/>
          </a:xfrm>
          <a:prstGeom prst="rect">
            <a:avLst/>
          </a:prstGeom>
        </p:spPr>
        <p:txBody>
          <a:bodyPr anchor="t" rtlCol="false" tIns="0" lIns="0" bIns="0" rIns="0">
            <a:spAutoFit/>
          </a:bodyPr>
          <a:lstStyle/>
          <a:p>
            <a:pPr algn="ctr">
              <a:lnSpc>
                <a:spcPts val="1377"/>
              </a:lnSpc>
            </a:pPr>
            <a:r>
              <a:rPr lang="en-US" b="true" sz="1275">
                <a:solidFill>
                  <a:srgbClr val="3A3A3A"/>
                </a:solidFill>
                <a:latin typeface="Arial Bold"/>
                <a:ea typeface="Arial Bold"/>
                <a:cs typeface="Arial Bold"/>
                <a:sym typeface="Arial Bold"/>
              </a:rPr>
              <a:t>© 2026 University of Southeastern Philippines |</a:t>
            </a:r>
            <a:r>
              <a:rPr lang="en-US" sz="1275">
                <a:solidFill>
                  <a:srgbClr val="3A3A3A"/>
                </a:solidFill>
                <a:latin typeface="Arial"/>
                <a:ea typeface="Arial"/>
                <a:cs typeface="Arial"/>
                <a:sym typeface="Arial"/>
              </a:rPr>
              <a:t> All Rights Reserved. This presentation contains confidential and proprietary information. Photography, video, and audio recording of these materials are prohibited without prior authorization.</a:t>
            </a:r>
          </a:p>
        </p:txBody>
      </p:sp>
      <p:sp>
        <p:nvSpPr>
          <p:cNvPr id="5" name="Title"/>
          <p:cNvSpPr txBox="1"/>
          <p:nvPr/>
        </p:nvSpPr>
        <p:spPr>
          <a:xfrm>
            <a:off x="914400" y="1600200"/>
            <a:ext cx="16459200" cy="914400"/>
          </a:xfrm>
          <a:prstGeom prst="rect">
            <a:avLst/>
          </a:prstGeom>
          <a:noFill/>
        </p:spPr>
        <p:txBody>
          <a:bodyPr wrap="square" lIns="0" rIns="0" tIns="0" bIns="0" anchor="ctr">
            <a:noAutofit/>
          </a:bodyPr>
          <a:lstStyle/>
          <a:p>
            <a:pPr algn="l">
              <a:lnSpc>
                <a:spcPct val="105000"/>
              </a:lnSpc>
              <a:spcAft>
                <a:spcPts val="1000"/>
              </a:spcAft>
            </a:pPr>
            <a:r>
              <a:rPr sz="4800" b="1" i="0">
                <a:solidFill>
                  <a:srgbClr val="7A1916"/>
                </a:solidFill>
                <a:latin typeface="Arial"/>
              </a:rPr>
              <a:t>1. Research problem and gap</a:t>
            </a:r>
          </a:p>
        </p:txBody>
      </p:sp>
      <p:sp>
        <p:nvSpPr>
          <p:cNvPr id="6" name="Key message"/>
          <p:cNvSpPr txBox="1"/>
          <p:nvPr/>
        </p:nvSpPr>
        <p:spPr>
          <a:xfrm>
            <a:off x="914400" y="2606040"/>
            <a:ext cx="16459200" cy="822960"/>
          </a:xfrm>
          <a:prstGeom prst="rect">
            <a:avLst/>
          </a:prstGeom>
          <a:noFill/>
        </p:spPr>
        <p:txBody>
          <a:bodyPr wrap="square" lIns="0" rIns="0" tIns="0" bIns="0" anchor="t">
            <a:noAutofit/>
          </a:bodyPr>
          <a:lstStyle/>
          <a:p>
            <a:pPr algn="l">
              <a:lnSpc>
                <a:spcPct val="105000"/>
              </a:lnSpc>
              <a:spcAft>
                <a:spcPts val="1000"/>
              </a:spcAft>
            </a:pPr>
            <a:r>
              <a:rPr sz="2800" b="1" i="1">
                <a:solidFill>
                  <a:srgbClr val="222222"/>
                </a:solidFill>
                <a:latin typeface="Arial"/>
              </a:rPr>
              <a:t>Emigration became permanent, but its causes were “not well established.”</a:t>
            </a:r>
          </a:p>
        </p:txBody>
      </p:sp>
      <p:sp>
        <p:nvSpPr>
          <p:cNvPr id="7" name="Problem heading"/>
          <p:cNvSpPr txBox="1"/>
          <p:nvPr/>
        </p:nvSpPr>
        <p:spPr>
          <a:xfrm>
            <a:off x="914400" y="3657600"/>
            <a:ext cx="7955279" cy="548640"/>
          </a:xfrm>
          <a:prstGeom prst="rect">
            <a:avLst/>
          </a:prstGeom>
          <a:noFill/>
        </p:spPr>
        <p:txBody>
          <a:bodyPr wrap="square" lIns="0" rIns="0" tIns="0" bIns="0" anchor="t">
            <a:noAutofit/>
          </a:bodyPr>
          <a:lstStyle/>
          <a:p>
            <a:pPr algn="l">
              <a:lnSpc>
                <a:spcPct val="105000"/>
              </a:lnSpc>
              <a:spcAft>
                <a:spcPts val="1000"/>
              </a:spcAft>
            </a:pPr>
            <a:r>
              <a:rPr sz="3000" b="1" i="0">
                <a:solidFill>
                  <a:srgbClr val="7A1916"/>
                </a:solidFill>
                <a:latin typeface="Arial"/>
              </a:rPr>
              <a:t>The problem</a:t>
            </a:r>
          </a:p>
        </p:txBody>
      </p:sp>
      <p:sp>
        <p:nvSpPr>
          <p:cNvPr id="8" name="Problem text"/>
          <p:cNvSpPr txBox="1"/>
          <p:nvPr/>
        </p:nvSpPr>
        <p:spPr>
          <a:xfrm>
            <a:off x="914400" y="4343400"/>
            <a:ext cx="7955279" cy="3291840"/>
          </a:xfrm>
          <a:prstGeom prst="rect">
            <a:avLst/>
          </a:prstGeom>
          <a:noFill/>
        </p:spPr>
        <p:txBody>
          <a:bodyPr wrap="square" lIns="0" rIns="0" tIns="0" bIns="0" anchor="t">
            <a:noAutofit/>
          </a:bodyPr>
          <a:lstStyle/>
          <a:p>
            <a:pPr algn="l" marL="384048" indent="-384048">
              <a:lnSpc>
                <a:spcPct val="105000"/>
              </a:lnSpc>
              <a:spcAft>
                <a:spcPts val="1200"/>
              </a:spcAft>
              <a:buClr>
                <a:srgbClr val="7A1916"/>
              </a:buClr>
              <a:buFont typeface="Arial"/>
              <a:buChar char="•"/>
            </a:pPr>
            <a:r>
              <a:rPr sz="2600" b="0" i="0">
                <a:solidFill>
                  <a:srgbClr val="222222"/>
                </a:solidFill>
                <a:latin typeface="Arial"/>
              </a:rPr>
              <a:t>In the 1970s, sending workers abroad began as a </a:t>
            </a:r>
            <a:r>
              <a:rPr sz="2600" b="1" i="0">
                <a:solidFill>
                  <a:srgbClr val="7A1916"/>
                </a:solidFill>
                <a:latin typeface="Arial"/>
              </a:rPr>
              <a:t>short-term fix</a:t>
            </a:r>
            <a:r>
              <a:rPr sz="2600" b="0" i="0">
                <a:solidFill>
                  <a:srgbClr val="222222"/>
                </a:solidFill>
                <a:latin typeface="Arial"/>
              </a:rPr>
              <a:t> for unemployment</a:t>
            </a:r>
          </a:p>
          <a:p>
            <a:pPr algn="l" marL="384048" indent="-384048">
              <a:lnSpc>
                <a:spcPct val="105000"/>
              </a:lnSpc>
              <a:spcAft>
                <a:spcPts val="1200"/>
              </a:spcAft>
              <a:buClr>
                <a:srgbClr val="7A1916"/>
              </a:buClr>
              <a:buFont typeface="Arial"/>
              <a:buChar char="•"/>
            </a:pPr>
            <a:r>
              <a:rPr sz="2600" b="0" i="0">
                <a:solidFill>
                  <a:srgbClr val="222222"/>
                </a:solidFill>
                <a:latin typeface="Arial"/>
              </a:rPr>
              <a:t>It became a </a:t>
            </a:r>
            <a:r>
              <a:rPr sz="2600" b="1" i="0">
                <a:solidFill>
                  <a:srgbClr val="7A1916"/>
                </a:solidFill>
                <a:latin typeface="Arial"/>
              </a:rPr>
              <a:t>permanent part</a:t>
            </a:r>
            <a:r>
              <a:rPr sz="2600" b="0" i="0">
                <a:solidFill>
                  <a:srgbClr val="222222"/>
                </a:solidFill>
                <a:latin typeface="Arial"/>
              </a:rPr>
              <a:t> of the economy</a:t>
            </a:r>
          </a:p>
          <a:p>
            <a:pPr algn="l" marL="384048" indent="-384048">
              <a:lnSpc>
                <a:spcPct val="105000"/>
              </a:lnSpc>
              <a:spcAft>
                <a:spcPts val="1200"/>
              </a:spcAft>
              <a:buClr>
                <a:srgbClr val="7A1916"/>
              </a:buClr>
              <a:buFont typeface="Arial"/>
              <a:buChar char="•"/>
            </a:pPr>
            <a:r>
              <a:rPr sz="2600" b="0" i="0">
                <a:solidFill>
                  <a:srgbClr val="222222"/>
                </a:solidFill>
                <a:latin typeface="Arial"/>
              </a:rPr>
              <a:t>The law is </a:t>
            </a:r>
            <a:r>
              <a:rPr sz="2600" b="1" i="0">
                <a:solidFill>
                  <a:srgbClr val="7A1916"/>
                </a:solidFill>
                <a:latin typeface="Arial"/>
              </a:rPr>
              <a:t>unclear</a:t>
            </a:r>
            <a:r>
              <a:rPr sz="2600" b="0" i="0">
                <a:solidFill>
                  <a:srgbClr val="222222"/>
                </a:solidFill>
                <a:latin typeface="Arial"/>
              </a:rPr>
              <a:t>: RA 8042 says the State “does not promote” overseas work, but deployment “shall be encouraged”</a:t>
            </a:r>
          </a:p>
        </p:txBody>
      </p:sp>
      <p:sp>
        <p:nvSpPr>
          <p:cNvPr id="9" name="Gap heading"/>
          <p:cNvSpPr txBox="1"/>
          <p:nvPr/>
        </p:nvSpPr>
        <p:spPr>
          <a:xfrm>
            <a:off x="9418320" y="3657600"/>
            <a:ext cx="7955279" cy="548640"/>
          </a:xfrm>
          <a:prstGeom prst="rect">
            <a:avLst/>
          </a:prstGeom>
          <a:noFill/>
        </p:spPr>
        <p:txBody>
          <a:bodyPr wrap="square" lIns="0" rIns="0" tIns="0" bIns="0" anchor="t">
            <a:noAutofit/>
          </a:bodyPr>
          <a:lstStyle/>
          <a:p>
            <a:pPr algn="l">
              <a:lnSpc>
                <a:spcPct val="105000"/>
              </a:lnSpc>
              <a:spcAft>
                <a:spcPts val="1000"/>
              </a:spcAft>
            </a:pPr>
            <a:r>
              <a:rPr sz="3000" b="1" i="0">
                <a:solidFill>
                  <a:srgbClr val="7A1916"/>
                </a:solidFill>
                <a:latin typeface="Arial"/>
              </a:rPr>
              <a:t>The gap</a:t>
            </a:r>
          </a:p>
        </p:txBody>
      </p:sp>
      <p:sp>
        <p:nvSpPr>
          <p:cNvPr id="10" name="Gap text"/>
          <p:cNvSpPr txBox="1"/>
          <p:nvPr/>
        </p:nvSpPr>
        <p:spPr>
          <a:xfrm>
            <a:off x="9418320" y="4343400"/>
            <a:ext cx="7955279" cy="3291840"/>
          </a:xfrm>
          <a:prstGeom prst="rect">
            <a:avLst/>
          </a:prstGeom>
          <a:noFill/>
        </p:spPr>
        <p:txBody>
          <a:bodyPr wrap="square" lIns="0" rIns="0" tIns="0" bIns="0" anchor="t">
            <a:noAutofit/>
          </a:bodyPr>
          <a:lstStyle/>
          <a:p>
            <a:pPr algn="l" marL="384048" indent="-384048">
              <a:lnSpc>
                <a:spcPct val="105000"/>
              </a:lnSpc>
              <a:spcAft>
                <a:spcPts val="1200"/>
              </a:spcAft>
              <a:buClr>
                <a:srgbClr val="7A1916"/>
              </a:buClr>
              <a:buFont typeface="Arial"/>
              <a:buChar char="•"/>
            </a:pPr>
            <a:r>
              <a:rPr sz="2600" b="0" i="0">
                <a:solidFill>
                  <a:srgbClr val="222222"/>
                </a:solidFill>
                <a:latin typeface="Arial"/>
              </a:rPr>
              <a:t>The causes of emigration from the Philippines are </a:t>
            </a:r>
            <a:r>
              <a:rPr sz="2600" b="1" i="0">
                <a:solidFill>
                  <a:srgbClr val="7A1916"/>
                </a:solidFill>
                <a:latin typeface="Arial"/>
              </a:rPr>
              <a:t>not well established</a:t>
            </a:r>
          </a:p>
          <a:p>
            <a:pPr algn="l" marL="384048" indent="-384048">
              <a:lnSpc>
                <a:spcPct val="105000"/>
              </a:lnSpc>
              <a:spcAft>
                <a:spcPts val="1200"/>
              </a:spcAft>
              <a:buClr>
                <a:srgbClr val="7A1916"/>
              </a:buClr>
              <a:buFont typeface="Arial"/>
              <a:buChar char="•"/>
            </a:pPr>
            <a:r>
              <a:rPr sz="2600" b="0" i="0">
                <a:solidFill>
                  <a:srgbClr val="222222"/>
                </a:solidFill>
                <a:latin typeface="Arial"/>
              </a:rPr>
              <a:t>Policymakers need </a:t>
            </a:r>
            <a:r>
              <a:rPr sz="2600" b="1" i="0">
                <a:solidFill>
                  <a:srgbClr val="7A1916"/>
                </a:solidFill>
                <a:latin typeface="Arial"/>
              </a:rPr>
              <a:t>evidence</a:t>
            </a:r>
            <a:r>
              <a:rPr sz="2600" b="0" i="0">
                <a:solidFill>
                  <a:srgbClr val="222222"/>
                </a:solidFill>
                <a:latin typeface="Arial"/>
              </a:rPr>
              <a:t> on which push factors matter most</a:t>
            </a:r>
          </a:p>
        </p:txBody>
      </p:sp>
      <p:sp>
        <p:nvSpPr>
          <p:cNvPr id="11" name="Research question box"/>
          <p:cNvSpPr/>
          <p:nvPr/>
        </p:nvSpPr>
        <p:spPr>
          <a:xfrm>
            <a:off x="914400" y="7818120"/>
            <a:ext cx="16459200" cy="1645920"/>
          </a:xfrm>
          <a:prstGeom prst="roundRect">
            <a:avLst>
              <a:gd name="adj" fmla="val 4000"/>
            </a:avLst>
          </a:prstGeom>
          <a:solidFill>
            <a:srgbClr val="7A19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search question"/>
          <p:cNvSpPr txBox="1"/>
          <p:nvPr/>
        </p:nvSpPr>
        <p:spPr>
          <a:xfrm>
            <a:off x="1280160" y="7818120"/>
            <a:ext cx="15727680" cy="1645920"/>
          </a:xfrm>
          <a:prstGeom prst="rect">
            <a:avLst/>
          </a:prstGeom>
          <a:noFill/>
        </p:spPr>
        <p:txBody>
          <a:bodyPr wrap="square" lIns="0" rIns="0" tIns="0" bIns="0" anchor="ctr">
            <a:noAutofit/>
          </a:bodyPr>
          <a:lstStyle/>
          <a:p>
            <a:pPr algn="l">
              <a:lnSpc>
                <a:spcPct val="105000"/>
              </a:lnSpc>
              <a:spcAft>
                <a:spcPts val="1000"/>
              </a:spcAft>
            </a:pPr>
            <a:r>
              <a:rPr sz="2800" b="1" i="0">
                <a:solidFill>
                  <a:srgbClr val="F2C14E"/>
                </a:solidFill>
                <a:latin typeface="Arial"/>
              </a:rPr>
              <a:t>Research question:</a:t>
            </a:r>
            <a:r>
              <a:rPr sz="2800" b="0" i="0">
                <a:solidFill>
                  <a:srgbClr val="FFFFFF"/>
                </a:solidFill>
                <a:latin typeface="Arial"/>
              </a:rPr>
              <a:t> How do economic, demographic and political factors affect emigration from the Philippines?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91421" y="9908915"/>
            <a:ext cx="17981581" cy="369456"/>
          </a:xfrm>
          <a:prstGeom prst="rect">
            <a:avLst/>
          </a:prstGeom>
        </p:spPr>
        <p:txBody>
          <a:bodyPr anchor="t" rtlCol="false" tIns="0" lIns="0" bIns="0" rIns="0">
            <a:spAutoFit/>
          </a:bodyPr>
          <a:lstStyle/>
          <a:p>
            <a:pPr algn="ctr">
              <a:lnSpc>
                <a:spcPts val="1377"/>
              </a:lnSpc>
            </a:pPr>
            <a:r>
              <a:rPr lang="en-US" b="true" sz="1275">
                <a:solidFill>
                  <a:srgbClr val="3A3A3A"/>
                </a:solidFill>
                <a:latin typeface="Arial Bold"/>
                <a:ea typeface="Arial Bold"/>
                <a:cs typeface="Arial Bold"/>
                <a:sym typeface="Arial Bold"/>
              </a:rPr>
              <a:t>© 2026 University of Southeastern Philippines |</a:t>
            </a:r>
            <a:r>
              <a:rPr lang="en-US" sz="1275">
                <a:solidFill>
                  <a:srgbClr val="3A3A3A"/>
                </a:solidFill>
                <a:latin typeface="Arial"/>
                <a:ea typeface="Arial"/>
                <a:cs typeface="Arial"/>
                <a:sym typeface="Arial"/>
              </a:rPr>
              <a:t> All Rights Reserved. This presentation contains confidential and proprietary information. Photography, video, and audio recording of these materials are prohibited without prior authorization.</a:t>
            </a:r>
          </a:p>
        </p:txBody>
      </p:sp>
      <p:sp>
        <p:nvSpPr>
          <p:cNvPr id="5" name="Title"/>
          <p:cNvSpPr txBox="1"/>
          <p:nvPr/>
        </p:nvSpPr>
        <p:spPr>
          <a:xfrm>
            <a:off x="914400" y="1600200"/>
            <a:ext cx="16459200" cy="914400"/>
          </a:xfrm>
          <a:prstGeom prst="rect">
            <a:avLst/>
          </a:prstGeom>
          <a:noFill/>
        </p:spPr>
        <p:txBody>
          <a:bodyPr wrap="square" lIns="0" rIns="0" tIns="0" bIns="0" anchor="ctr">
            <a:noAutofit/>
          </a:bodyPr>
          <a:lstStyle/>
          <a:p>
            <a:pPr algn="l">
              <a:lnSpc>
                <a:spcPct val="105000"/>
              </a:lnSpc>
              <a:spcAft>
                <a:spcPts val="1000"/>
              </a:spcAft>
            </a:pPr>
            <a:r>
              <a:rPr sz="4800" b="1" i="0">
                <a:solidFill>
                  <a:srgbClr val="7A1916"/>
                </a:solidFill>
                <a:latin typeface="Arial"/>
              </a:rPr>
              <a:t>2. Theoretical framework</a:t>
            </a:r>
          </a:p>
        </p:txBody>
      </p:sp>
      <p:sp>
        <p:nvSpPr>
          <p:cNvPr id="6" name="Key message"/>
          <p:cNvSpPr txBox="1"/>
          <p:nvPr/>
        </p:nvSpPr>
        <p:spPr>
          <a:xfrm>
            <a:off x="914400" y="2606040"/>
            <a:ext cx="16459200" cy="822960"/>
          </a:xfrm>
          <a:prstGeom prst="rect">
            <a:avLst/>
          </a:prstGeom>
          <a:noFill/>
        </p:spPr>
        <p:txBody>
          <a:bodyPr wrap="square" lIns="0" rIns="0" tIns="0" bIns="0" anchor="t">
            <a:noAutofit/>
          </a:bodyPr>
          <a:lstStyle/>
          <a:p>
            <a:pPr algn="l">
              <a:lnSpc>
                <a:spcPct val="105000"/>
              </a:lnSpc>
              <a:spcAft>
                <a:spcPts val="1000"/>
              </a:spcAft>
            </a:pPr>
            <a:r>
              <a:rPr sz="2800" b="1" i="1">
                <a:solidFill>
                  <a:srgbClr val="222222"/>
                </a:solidFill>
                <a:latin typeface="Arial"/>
              </a:rPr>
              <a:t>The authors combine four theories into one model of push factors.</a:t>
            </a:r>
          </a:p>
        </p:txBody>
      </p:sp>
      <p:sp>
        <p:nvSpPr>
          <p:cNvPr id="7" name="Theories"/>
          <p:cNvSpPr txBox="1"/>
          <p:nvPr/>
        </p:nvSpPr>
        <p:spPr>
          <a:xfrm>
            <a:off x="914400" y="3566160"/>
            <a:ext cx="9601200" cy="4846320"/>
          </a:xfrm>
          <a:prstGeom prst="rect">
            <a:avLst/>
          </a:prstGeom>
          <a:noFill/>
        </p:spPr>
        <p:txBody>
          <a:bodyPr wrap="square" lIns="0" rIns="0" tIns="0" bIns="0" anchor="t">
            <a:noAutofit/>
          </a:bodyPr>
          <a:lstStyle/>
          <a:p>
            <a:pPr algn="l">
              <a:lnSpc>
                <a:spcPct val="105000"/>
              </a:lnSpc>
              <a:spcAft>
                <a:spcPts val="200"/>
              </a:spcAft>
            </a:pPr>
            <a:r>
              <a:rPr sz="2400" b="1" i="0">
                <a:solidFill>
                  <a:srgbClr val="7A1916"/>
                </a:solidFill>
                <a:latin typeface="Arial"/>
              </a:rPr>
              <a:t>1. Ravenstein (1885); Todaro (1969)</a:t>
            </a:r>
          </a:p>
          <a:p>
            <a:pPr algn="l">
              <a:lnSpc>
                <a:spcPct val="105000"/>
              </a:lnSpc>
              <a:spcAft>
                <a:spcPts val="1400"/>
              </a:spcAft>
            </a:pPr>
            <a:r>
              <a:rPr sz="2400" b="0" i="0">
                <a:solidFill>
                  <a:srgbClr val="222222"/>
                </a:solidFill>
                <a:latin typeface="Arial"/>
              </a:rPr>
              <a:t>People migrate when they expect a better life abroad</a:t>
            </a:r>
          </a:p>
          <a:p>
            <a:pPr algn="l">
              <a:lnSpc>
                <a:spcPct val="105000"/>
              </a:lnSpc>
              <a:spcAft>
                <a:spcPts val="200"/>
              </a:spcAft>
            </a:pPr>
            <a:r>
              <a:rPr sz="2400" b="1" i="0">
                <a:solidFill>
                  <a:srgbClr val="7A1916"/>
                </a:solidFill>
                <a:latin typeface="Arial"/>
              </a:rPr>
              <a:t>2. Human capital theory (Hicks 1939)</a:t>
            </a:r>
          </a:p>
          <a:p>
            <a:pPr algn="l">
              <a:lnSpc>
                <a:spcPct val="105000"/>
              </a:lnSpc>
              <a:spcAft>
                <a:spcPts val="1400"/>
              </a:spcAft>
            </a:pPr>
            <a:r>
              <a:rPr sz="2400" b="0" i="0">
                <a:solidFill>
                  <a:srgbClr val="222222"/>
                </a:solidFill>
                <a:latin typeface="Arial"/>
              </a:rPr>
              <a:t>Migration is an investment; more educated people migrate more</a:t>
            </a:r>
          </a:p>
          <a:p>
            <a:pPr algn="l">
              <a:lnSpc>
                <a:spcPct val="105000"/>
              </a:lnSpc>
              <a:spcAft>
                <a:spcPts val="200"/>
              </a:spcAft>
            </a:pPr>
            <a:r>
              <a:rPr sz="2400" b="1" i="0">
                <a:solidFill>
                  <a:srgbClr val="7A1916"/>
                </a:solidFill>
                <a:latin typeface="Arial"/>
              </a:rPr>
              <a:t>3. Roy effect (Borjas 1987)</a:t>
            </a:r>
          </a:p>
          <a:p>
            <a:pPr algn="l">
              <a:lnSpc>
                <a:spcPct val="105000"/>
              </a:lnSpc>
              <a:spcAft>
                <a:spcPts val="1400"/>
              </a:spcAft>
            </a:pPr>
            <a:r>
              <a:rPr sz="2400" b="0" i="0">
                <a:solidFill>
                  <a:srgbClr val="222222"/>
                </a:solidFill>
                <a:latin typeface="Arial"/>
              </a:rPr>
              <a:t>Income inequality decides which skill groups leave</a:t>
            </a:r>
          </a:p>
          <a:p>
            <a:pPr algn="l">
              <a:lnSpc>
                <a:spcPct val="105000"/>
              </a:lnSpc>
              <a:spcAft>
                <a:spcPts val="200"/>
              </a:spcAft>
            </a:pPr>
            <a:r>
              <a:rPr sz="2400" b="1" i="0">
                <a:solidFill>
                  <a:srgbClr val="7A1916"/>
                </a:solidFill>
                <a:latin typeface="Arial"/>
              </a:rPr>
              <a:t>4. Gravity model (Greenwood 1975)</a:t>
            </a:r>
          </a:p>
          <a:p>
            <a:pPr algn="l">
              <a:lnSpc>
                <a:spcPct val="105000"/>
              </a:lnSpc>
              <a:spcAft>
                <a:spcPts val="0"/>
              </a:spcAft>
            </a:pPr>
            <a:r>
              <a:rPr sz="2400" b="0" i="0">
                <a:solidFill>
                  <a:srgbClr val="222222"/>
                </a:solidFill>
                <a:latin typeface="Arial"/>
              </a:rPr>
              <a:t>Migration depends on income, population and the cost of migration</a:t>
            </a:r>
          </a:p>
        </p:txBody>
      </p:sp>
      <p:sp>
        <p:nvSpPr>
          <p:cNvPr id="8" name="Model box"/>
          <p:cNvSpPr/>
          <p:nvPr/>
        </p:nvSpPr>
        <p:spPr>
          <a:xfrm>
            <a:off x="10881360" y="3657600"/>
            <a:ext cx="6492240" cy="3931920"/>
          </a:xfrm>
          <a:prstGeom prst="roundRect">
            <a:avLst>
              <a:gd name="adj" fmla="val 4000"/>
            </a:avLst>
          </a:prstGeom>
          <a:solidFill>
            <a:srgbClr val="F6E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Model text"/>
          <p:cNvSpPr txBox="1"/>
          <p:nvPr/>
        </p:nvSpPr>
        <p:spPr>
          <a:xfrm>
            <a:off x="11247120" y="3886200"/>
            <a:ext cx="5760720" cy="3566160"/>
          </a:xfrm>
          <a:prstGeom prst="rect">
            <a:avLst/>
          </a:prstGeom>
          <a:noFill/>
        </p:spPr>
        <p:txBody>
          <a:bodyPr wrap="square" lIns="0" rIns="0" tIns="0" bIns="0" anchor="t">
            <a:noAutofit/>
          </a:bodyPr>
          <a:lstStyle/>
          <a:p>
            <a:pPr algn="l">
              <a:lnSpc>
                <a:spcPct val="105000"/>
              </a:lnSpc>
              <a:spcAft>
                <a:spcPts val="1000"/>
              </a:spcAft>
            </a:pPr>
            <a:r>
              <a:rPr sz="2800" b="1" i="0">
                <a:solidFill>
                  <a:srgbClr val="7A1916"/>
                </a:solidFill>
                <a:latin typeface="Arial"/>
              </a:rPr>
              <a:t>The model in words</a:t>
            </a:r>
          </a:p>
          <a:p>
            <a:pPr algn="l">
              <a:lnSpc>
                <a:spcPct val="105000"/>
              </a:lnSpc>
              <a:spcAft>
                <a:spcPts val="1000"/>
              </a:spcAft>
            </a:pPr>
            <a:r>
              <a:rPr sz="2200" b="1" i="0">
                <a:solidFill>
                  <a:srgbClr val="7A1916"/>
                </a:solidFill>
                <a:latin typeface="Arial"/>
              </a:rPr>
              <a:t>Migration share</a:t>
            </a:r>
            <a:r>
              <a:rPr sz="2200" b="0" i="0">
                <a:solidFill>
                  <a:srgbClr val="222222"/>
                </a:solidFill>
                <a:latin typeface="Arial"/>
              </a:rPr>
              <a:t> = f(cost of migration, adult literacy, income inequality, income inequality², political instability, inflation, population density, unemployment, per capita income)</a:t>
            </a:r>
          </a:p>
        </p:txBody>
      </p:sp>
      <p:sp>
        <p:nvSpPr>
          <p:cNvPr id="10" name="Critical view box"/>
          <p:cNvSpPr/>
          <p:nvPr/>
        </p:nvSpPr>
        <p:spPr>
          <a:xfrm>
            <a:off x="914400" y="8641080"/>
            <a:ext cx="16459200" cy="1005840"/>
          </a:xfrm>
          <a:prstGeom prst="roundRect">
            <a:avLst>
              <a:gd name="adj" fmla="val 4000"/>
            </a:avLst>
          </a:prstGeom>
          <a:solidFill>
            <a:srgbClr val="7A19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ritical view"/>
          <p:cNvSpPr txBox="1"/>
          <p:nvPr/>
        </p:nvSpPr>
        <p:spPr>
          <a:xfrm>
            <a:off x="1280160" y="8641080"/>
            <a:ext cx="15727680" cy="1005840"/>
          </a:xfrm>
          <a:prstGeom prst="rect">
            <a:avLst/>
          </a:prstGeom>
          <a:noFill/>
        </p:spPr>
        <p:txBody>
          <a:bodyPr wrap="square" lIns="0" rIns="0" tIns="0" bIns="0" anchor="ctr">
            <a:noAutofit/>
          </a:bodyPr>
          <a:lstStyle/>
          <a:p>
            <a:pPr algn="l">
              <a:lnSpc>
                <a:spcPct val="105000"/>
              </a:lnSpc>
              <a:spcAft>
                <a:spcPts val="1000"/>
              </a:spcAft>
            </a:pPr>
            <a:r>
              <a:rPr sz="2400" b="1" i="0">
                <a:solidFill>
                  <a:srgbClr val="F2C14E"/>
                </a:solidFill>
                <a:latin typeface="Arial"/>
              </a:rPr>
              <a:t>Critical view:</a:t>
            </a:r>
            <a:r>
              <a:rPr sz="2400" b="0" i="0">
                <a:solidFill>
                  <a:srgbClr val="FFFFFF"/>
                </a:solidFill>
                <a:latin typeface="Arial"/>
              </a:rPr>
              <a:t> a mix of theories, not one model. Only push factors are used; pull factors from destination countries are left out.</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91421" y="9983057"/>
            <a:ext cx="17981581" cy="369456"/>
          </a:xfrm>
          <a:prstGeom prst="rect">
            <a:avLst/>
          </a:prstGeom>
        </p:spPr>
        <p:txBody>
          <a:bodyPr anchor="t" rtlCol="false" tIns="0" lIns="0" bIns="0" rIns="0">
            <a:spAutoFit/>
          </a:bodyPr>
          <a:lstStyle/>
          <a:p>
            <a:pPr algn="ctr">
              <a:lnSpc>
                <a:spcPts val="1377"/>
              </a:lnSpc>
            </a:pPr>
            <a:r>
              <a:rPr lang="en-US" b="true" sz="1275">
                <a:solidFill>
                  <a:srgbClr val="3A3A3A"/>
                </a:solidFill>
                <a:latin typeface="Arial Bold"/>
                <a:ea typeface="Arial Bold"/>
                <a:cs typeface="Arial Bold"/>
                <a:sym typeface="Arial Bold"/>
              </a:rPr>
              <a:t>© 2026 University of Southeastern Philippines |</a:t>
            </a:r>
            <a:r>
              <a:rPr lang="en-US" sz="1275">
                <a:solidFill>
                  <a:srgbClr val="3A3A3A"/>
                </a:solidFill>
                <a:latin typeface="Arial"/>
                <a:ea typeface="Arial"/>
                <a:cs typeface="Arial"/>
                <a:sym typeface="Arial"/>
              </a:rPr>
              <a:t> All Rights Reserved. This presentation contains confidential and proprietary information. Photography, video, and audio recording of these materials are prohibited without prior authorization.</a:t>
            </a:r>
          </a:p>
        </p:txBody>
      </p:sp>
      <p:sp>
        <p:nvSpPr>
          <p:cNvPr id="5" name="Title"/>
          <p:cNvSpPr txBox="1"/>
          <p:nvPr/>
        </p:nvSpPr>
        <p:spPr>
          <a:xfrm>
            <a:off x="914400" y="1600200"/>
            <a:ext cx="16459200" cy="914400"/>
          </a:xfrm>
          <a:prstGeom prst="rect">
            <a:avLst/>
          </a:prstGeom>
          <a:noFill/>
        </p:spPr>
        <p:txBody>
          <a:bodyPr wrap="square" lIns="0" rIns="0" tIns="0" bIns="0" anchor="ctr">
            <a:noAutofit/>
          </a:bodyPr>
          <a:lstStyle/>
          <a:p>
            <a:pPr algn="l">
              <a:lnSpc>
                <a:spcPct val="105000"/>
              </a:lnSpc>
              <a:spcAft>
                <a:spcPts val="1000"/>
              </a:spcAft>
            </a:pPr>
            <a:r>
              <a:rPr sz="4800" b="1" i="0">
                <a:solidFill>
                  <a:srgbClr val="7A1916"/>
                </a:solidFill>
                <a:latin typeface="Arial"/>
              </a:rPr>
              <a:t>3. Data</a:t>
            </a:r>
          </a:p>
        </p:txBody>
      </p:sp>
      <p:sp>
        <p:nvSpPr>
          <p:cNvPr id="6" name="Key message"/>
          <p:cNvSpPr txBox="1"/>
          <p:nvPr/>
        </p:nvSpPr>
        <p:spPr>
          <a:xfrm>
            <a:off x="914400" y="2606040"/>
            <a:ext cx="16459200" cy="822960"/>
          </a:xfrm>
          <a:prstGeom prst="rect">
            <a:avLst/>
          </a:prstGeom>
          <a:noFill/>
        </p:spPr>
        <p:txBody>
          <a:bodyPr wrap="square" lIns="0" rIns="0" tIns="0" bIns="0" anchor="t">
            <a:noAutofit/>
          </a:bodyPr>
          <a:lstStyle/>
          <a:p>
            <a:pPr algn="l">
              <a:lnSpc>
                <a:spcPct val="105000"/>
              </a:lnSpc>
              <a:spcAft>
                <a:spcPts val="1000"/>
              </a:spcAft>
            </a:pPr>
            <a:r>
              <a:rPr sz="2800" b="1" i="1">
                <a:solidFill>
                  <a:srgbClr val="222222"/>
                </a:solidFill>
                <a:latin typeface="Arial"/>
              </a:rPr>
              <a:t>Yearly national data, 1975–2005: only 31 observations, all secondary data.</a:t>
            </a:r>
          </a:p>
        </p:txBody>
      </p:sp>
      <p:graphicFrame>
        <p:nvGraphicFramePr>
          <p:cNvPr id="7" name="Data table"/>
          <p:cNvGraphicFramePr>
            <a:graphicFrameLocks noGrp="1"/>
          </p:cNvGraphicFramePr>
          <p:nvPr/>
        </p:nvGraphicFramePr>
        <p:xfrm>
          <a:off x="914400" y="3611880"/>
          <a:ext cx="16459200" cy="4937760"/>
        </p:xfrm>
        <a:graphic>
          <a:graphicData uri="http://schemas.openxmlformats.org/drawingml/2006/table">
            <a:tbl>
              <a:tblPr firstRow="0" bandRow="0">
                <a:tableStyleId>{5940675A-B579-460E-94D1-54222C63F5DA}</a:tableStyleId>
              </a:tblPr>
              <a:tblGrid>
                <a:gridCol w="4023360"/>
                <a:gridCol w="6949440"/>
                <a:gridCol w="3566160"/>
                <a:gridCol w="1920240"/>
              </a:tblGrid>
              <a:tr h="493776">
                <a:tc>
                  <a:txBody>
                    <a:bodyPr wrap="square"/>
                    <a:lstStyle/>
                    <a:p>
                      <a:r>
                        <a:rPr sz="2000" b="1">
                          <a:solidFill>
                            <a:srgbClr val="FFFFFF"/>
                          </a:solidFill>
                          <a:latin typeface="Arial"/>
                        </a:rPr>
                        <a:t>Variable</a:t>
                      </a:r>
                    </a:p>
                  </a:txBody>
                  <a:tcPr marL="109728" marR="109728" marT="45720" marB="45720" anchor="ctr">
                    <a:solidFill>
                      <a:srgbClr val="7A1916"/>
                    </a:solidFill>
                  </a:tcPr>
                </a:tc>
                <a:tc>
                  <a:txBody>
                    <a:bodyPr wrap="square"/>
                    <a:lstStyle/>
                    <a:p>
                      <a:r>
                        <a:rPr sz="2000" b="1">
                          <a:solidFill>
                            <a:srgbClr val="FFFFFF"/>
                          </a:solidFill>
                          <a:latin typeface="Arial"/>
                        </a:rPr>
                        <a:t>Measure / proxy</a:t>
                      </a:r>
                    </a:p>
                  </a:txBody>
                  <a:tcPr marL="109728" marR="109728" marT="45720" marB="45720" anchor="ctr">
                    <a:solidFill>
                      <a:srgbClr val="7A1916"/>
                    </a:solidFill>
                  </a:tcPr>
                </a:tc>
                <a:tc>
                  <a:txBody>
                    <a:bodyPr wrap="square"/>
                    <a:lstStyle/>
                    <a:p>
                      <a:r>
                        <a:rPr sz="2000" b="1">
                          <a:solidFill>
                            <a:srgbClr val="FFFFFF"/>
                          </a:solidFill>
                          <a:latin typeface="Arial"/>
                        </a:rPr>
                        <a:t>Source</a:t>
                      </a:r>
                    </a:p>
                  </a:txBody>
                  <a:tcPr marL="109728" marR="109728" marT="45720" marB="45720" anchor="ctr">
                    <a:solidFill>
                      <a:srgbClr val="7A1916"/>
                    </a:solidFill>
                  </a:tcPr>
                </a:tc>
                <a:tc>
                  <a:txBody>
                    <a:bodyPr wrap="square"/>
                    <a:lstStyle/>
                    <a:p>
                      <a:r>
                        <a:rPr sz="2000" b="1">
                          <a:solidFill>
                            <a:srgbClr val="FFFFFF"/>
                          </a:solidFill>
                          <a:latin typeface="Arial"/>
                        </a:rPr>
                        <a:t>Exp. sign</a:t>
                      </a:r>
                    </a:p>
                  </a:txBody>
                  <a:tcPr marL="109728" marR="109728" marT="45720" marB="45720" anchor="ctr">
                    <a:solidFill>
                      <a:srgbClr val="7A1916"/>
                    </a:solidFill>
                  </a:tcPr>
                </a:tc>
              </a:tr>
              <a:tr h="493776">
                <a:tc>
                  <a:txBody>
                    <a:bodyPr wrap="square"/>
                    <a:lstStyle/>
                    <a:p>
                      <a:r>
                        <a:rPr sz="2000" b="1">
                          <a:solidFill>
                            <a:srgbClr val="222222"/>
                          </a:solidFill>
                          <a:latin typeface="Arial"/>
                        </a:rPr>
                        <a:t>Migration share</a:t>
                      </a:r>
                    </a:p>
                  </a:txBody>
                  <a:tcPr marL="109728" marR="109728" marT="45720" marB="45720" anchor="ctr">
                    <a:solidFill>
                      <a:srgbClr val="FFFFFF"/>
                    </a:solidFill>
                  </a:tcPr>
                </a:tc>
                <a:tc>
                  <a:txBody>
                    <a:bodyPr wrap="square"/>
                    <a:lstStyle/>
                    <a:p>
                      <a:r>
                        <a:rPr sz="2000" b="0">
                          <a:solidFill>
                            <a:srgbClr val="222222"/>
                          </a:solidFill>
                          <a:latin typeface="Arial"/>
                        </a:rPr>
                        <a:t>Migrants (temporary + permanent) ÷ population</a:t>
                      </a:r>
                    </a:p>
                  </a:txBody>
                  <a:tcPr marL="109728" marR="109728" marT="45720" marB="45720" anchor="ctr">
                    <a:solidFill>
                      <a:srgbClr val="FFFFFF"/>
                    </a:solidFill>
                  </a:tcPr>
                </a:tc>
                <a:tc>
                  <a:txBody>
                    <a:bodyPr wrap="square"/>
                    <a:lstStyle/>
                    <a:p>
                      <a:r>
                        <a:rPr sz="2000" b="0">
                          <a:solidFill>
                            <a:srgbClr val="222222"/>
                          </a:solidFill>
                          <a:latin typeface="Arial"/>
                        </a:rPr>
                        <a:t>CFO; NSCB</a:t>
                      </a:r>
                    </a:p>
                  </a:txBody>
                  <a:tcPr marL="109728" marR="109728" marT="45720" marB="45720" anchor="ctr">
                    <a:solidFill>
                      <a:srgbClr val="FFFFFF"/>
                    </a:solidFill>
                  </a:tcPr>
                </a:tc>
                <a:tc>
                  <a:txBody>
                    <a:bodyPr wrap="square"/>
                    <a:lstStyle/>
                    <a:p>
                      <a:r>
                        <a:rPr sz="2000" b="0">
                          <a:solidFill>
                            <a:srgbClr val="222222"/>
                          </a:solidFill>
                          <a:latin typeface="Arial"/>
                        </a:rPr>
                        <a:t>Explained</a:t>
                      </a:r>
                    </a:p>
                  </a:txBody>
                  <a:tcPr marL="109728" marR="109728" marT="45720" marB="45720" anchor="ctr">
                    <a:solidFill>
                      <a:srgbClr val="FFFFFF"/>
                    </a:solidFill>
                  </a:tcPr>
                </a:tc>
              </a:tr>
              <a:tr h="493776">
                <a:tc>
                  <a:txBody>
                    <a:bodyPr wrap="square"/>
                    <a:lstStyle/>
                    <a:p>
                      <a:r>
                        <a:rPr sz="2000" b="1">
                          <a:solidFill>
                            <a:srgbClr val="222222"/>
                          </a:solidFill>
                          <a:latin typeface="Arial"/>
                        </a:rPr>
                        <a:t>Cost of migration</a:t>
                      </a:r>
                    </a:p>
                  </a:txBody>
                  <a:tcPr marL="109728" marR="109728" marT="45720" marB="45720" anchor="ctr">
                    <a:solidFill>
                      <a:srgbClr val="F4F4F4"/>
                    </a:solidFill>
                  </a:tcPr>
                </a:tc>
                <a:tc>
                  <a:txBody>
                    <a:bodyPr wrap="square"/>
                    <a:lstStyle/>
                    <a:p>
                      <a:r>
                        <a:rPr sz="2000" b="0">
                          <a:solidFill>
                            <a:srgbClr val="222222"/>
                          </a:solidFill>
                          <a:latin typeface="Arial"/>
                        </a:rPr>
                        <a:t>Average one-way airfare, Manila → top 24 destinations (</a:t>
                      </a:r>
                      <a:r>
                        <a:rPr sz="2000" b="1">
                          <a:solidFill>
                            <a:srgbClr val="7A1916"/>
                          </a:solidFill>
                          <a:latin typeface="Arial"/>
                        </a:rPr>
                        <a:t>proxy</a:t>
                      </a:r>
                      <a:r>
                        <a:rPr sz="2000" b="0">
                          <a:solidFill>
                            <a:srgbClr val="222222"/>
                          </a:solidFill>
                          <a:latin typeface="Arial"/>
                        </a:rPr>
                        <a:t>)</a:t>
                      </a:r>
                    </a:p>
                  </a:txBody>
                  <a:tcPr marL="109728" marR="109728" marT="45720" marB="45720" anchor="ctr">
                    <a:solidFill>
                      <a:srgbClr val="F4F4F4"/>
                    </a:solidFill>
                  </a:tcPr>
                </a:tc>
                <a:tc>
                  <a:txBody>
                    <a:bodyPr wrap="square"/>
                    <a:lstStyle/>
                    <a:p>
                      <a:r>
                        <a:rPr sz="2000" b="0">
                          <a:solidFill>
                            <a:srgbClr val="222222"/>
                          </a:solidFill>
                          <a:latin typeface="Arial"/>
                        </a:rPr>
                        <a:t>Authors’ estimate</a:t>
                      </a:r>
                    </a:p>
                  </a:txBody>
                  <a:tcPr marL="109728" marR="109728" marT="45720" marB="45720" anchor="ctr">
                    <a:solidFill>
                      <a:srgbClr val="F4F4F4"/>
                    </a:solidFill>
                  </a:tcPr>
                </a:tc>
                <a:tc>
                  <a:txBody>
                    <a:bodyPr wrap="square"/>
                    <a:lstStyle/>
                    <a:p>
                      <a:r>
                        <a:rPr sz="2000" b="0">
                          <a:solidFill>
                            <a:srgbClr val="222222"/>
                          </a:solidFill>
                          <a:latin typeface="Arial"/>
                        </a:rPr>
                        <a:t>−</a:t>
                      </a:r>
                    </a:p>
                  </a:txBody>
                  <a:tcPr marL="109728" marR="109728" marT="45720" marB="45720" anchor="ctr">
                    <a:solidFill>
                      <a:srgbClr val="F4F4F4"/>
                    </a:solidFill>
                  </a:tcPr>
                </a:tc>
              </a:tr>
              <a:tr h="493776">
                <a:tc>
                  <a:txBody>
                    <a:bodyPr wrap="square"/>
                    <a:lstStyle/>
                    <a:p>
                      <a:r>
                        <a:rPr sz="2000" b="1">
                          <a:solidFill>
                            <a:srgbClr val="222222"/>
                          </a:solidFill>
                          <a:latin typeface="Arial"/>
                        </a:rPr>
                        <a:t>Adult literacy</a:t>
                      </a:r>
                    </a:p>
                  </a:txBody>
                  <a:tcPr marL="109728" marR="109728" marT="45720" marB="45720" anchor="ctr">
                    <a:solidFill>
                      <a:srgbClr val="FFFFFF"/>
                    </a:solidFill>
                  </a:tcPr>
                </a:tc>
                <a:tc>
                  <a:txBody>
                    <a:bodyPr wrap="square"/>
                    <a:lstStyle/>
                    <a:p>
                      <a:r>
                        <a:rPr sz="2000" b="0">
                          <a:solidFill>
                            <a:srgbClr val="222222"/>
                          </a:solidFill>
                          <a:latin typeface="Arial"/>
                        </a:rPr>
                        <a:t>Adult literacy rate (</a:t>
                      </a:r>
                      <a:r>
                        <a:rPr sz="2000" b="1">
                          <a:solidFill>
                            <a:srgbClr val="7A1916"/>
                          </a:solidFill>
                          <a:latin typeface="Arial"/>
                        </a:rPr>
                        <a:t>proxy</a:t>
                      </a:r>
                      <a:r>
                        <a:rPr sz="2000" b="0">
                          <a:solidFill>
                            <a:srgbClr val="222222"/>
                          </a:solidFill>
                          <a:latin typeface="Arial"/>
                        </a:rPr>
                        <a:t> for education)</a:t>
                      </a:r>
                    </a:p>
                  </a:txBody>
                  <a:tcPr marL="109728" marR="109728" marT="45720" marB="45720" anchor="ctr">
                    <a:solidFill>
                      <a:srgbClr val="FFFFFF"/>
                    </a:solidFill>
                  </a:tcPr>
                </a:tc>
                <a:tc>
                  <a:txBody>
                    <a:bodyPr wrap="square"/>
                    <a:lstStyle/>
                    <a:p>
                      <a:r>
                        <a:rPr sz="2000" b="0">
                          <a:solidFill>
                            <a:srgbClr val="222222"/>
                          </a:solidFill>
                          <a:latin typeface="Arial"/>
                        </a:rPr>
                        <a:t>BSP; NSCB</a:t>
                      </a:r>
                    </a:p>
                  </a:txBody>
                  <a:tcPr marL="109728" marR="109728" marT="45720" marB="45720" anchor="ctr">
                    <a:solidFill>
                      <a:srgbClr val="FFFFFF"/>
                    </a:solidFill>
                  </a:tcPr>
                </a:tc>
                <a:tc>
                  <a:txBody>
                    <a:bodyPr wrap="square"/>
                    <a:lstStyle/>
                    <a:p>
                      <a:r>
                        <a:rPr sz="2000" b="0">
                          <a:solidFill>
                            <a:srgbClr val="222222"/>
                          </a:solidFill>
                          <a:latin typeface="Arial"/>
                        </a:rPr>
                        <a:t>+</a:t>
                      </a:r>
                    </a:p>
                  </a:txBody>
                  <a:tcPr marL="109728" marR="109728" marT="45720" marB="45720" anchor="ctr">
                    <a:solidFill>
                      <a:srgbClr val="FFFFFF"/>
                    </a:solidFill>
                  </a:tcPr>
                </a:tc>
              </a:tr>
              <a:tr h="493776">
                <a:tc>
                  <a:txBody>
                    <a:bodyPr wrap="square"/>
                    <a:lstStyle/>
                    <a:p>
                      <a:r>
                        <a:rPr sz="2000" b="1">
                          <a:solidFill>
                            <a:srgbClr val="222222"/>
                          </a:solidFill>
                          <a:latin typeface="Arial"/>
                        </a:rPr>
                        <a:t>Income inequality, inequality²</a:t>
                      </a:r>
                    </a:p>
                  </a:txBody>
                  <a:tcPr marL="109728" marR="109728" marT="45720" marB="45720" anchor="ctr">
                    <a:solidFill>
                      <a:srgbClr val="F4F4F4"/>
                    </a:solidFill>
                  </a:tcPr>
                </a:tc>
                <a:tc>
                  <a:txBody>
                    <a:bodyPr wrap="square"/>
                    <a:lstStyle/>
                    <a:p>
                      <a:r>
                        <a:rPr sz="2000" b="0">
                          <a:solidFill>
                            <a:srgbClr val="222222"/>
                          </a:solidFill>
                          <a:latin typeface="Arial"/>
                        </a:rPr>
                        <a:t>Gini coefficient and its square (Roy effect)</a:t>
                      </a:r>
                    </a:p>
                  </a:txBody>
                  <a:tcPr marL="109728" marR="109728" marT="45720" marB="45720" anchor="ctr">
                    <a:solidFill>
                      <a:srgbClr val="F4F4F4"/>
                    </a:solidFill>
                  </a:tcPr>
                </a:tc>
                <a:tc>
                  <a:txBody>
                    <a:bodyPr wrap="square"/>
                    <a:lstStyle/>
                    <a:p>
                      <a:r>
                        <a:rPr sz="2000" b="1">
                          <a:solidFill>
                            <a:srgbClr val="7A1916"/>
                          </a:solidFill>
                          <a:latin typeface="Arial"/>
                        </a:rPr>
                        <a:t>Not stated</a:t>
                      </a:r>
                    </a:p>
                  </a:txBody>
                  <a:tcPr marL="109728" marR="109728" marT="45720" marB="45720" anchor="ctr">
                    <a:solidFill>
                      <a:srgbClr val="F4F4F4"/>
                    </a:solidFill>
                  </a:tcPr>
                </a:tc>
                <a:tc>
                  <a:txBody>
                    <a:bodyPr wrap="square"/>
                    <a:lstStyle/>
                    <a:p>
                      <a:r>
                        <a:rPr sz="2000" b="0">
                          <a:solidFill>
                            <a:srgbClr val="222222"/>
                          </a:solidFill>
                          <a:latin typeface="Arial"/>
                        </a:rPr>
                        <a:t>±</a:t>
                      </a:r>
                    </a:p>
                  </a:txBody>
                  <a:tcPr marL="109728" marR="109728" marT="45720" marB="45720" anchor="ctr">
                    <a:solidFill>
                      <a:srgbClr val="F4F4F4"/>
                    </a:solidFill>
                  </a:tcPr>
                </a:tc>
              </a:tr>
              <a:tr h="493776">
                <a:tc>
                  <a:txBody>
                    <a:bodyPr wrap="square"/>
                    <a:lstStyle/>
                    <a:p>
                      <a:r>
                        <a:rPr sz="2000" b="1">
                          <a:solidFill>
                            <a:srgbClr val="222222"/>
                          </a:solidFill>
                          <a:latin typeface="Arial"/>
                        </a:rPr>
                        <a:t>Political instability</a:t>
                      </a:r>
                    </a:p>
                  </a:txBody>
                  <a:tcPr marL="109728" marR="109728" marT="45720" marB="45720" anchor="ctr">
                    <a:solidFill>
                      <a:srgbClr val="FFFFFF"/>
                    </a:solidFill>
                  </a:tcPr>
                </a:tc>
                <a:tc>
                  <a:txBody>
                    <a:bodyPr wrap="square"/>
                    <a:lstStyle/>
                    <a:p>
                      <a:r>
                        <a:rPr sz="2000" b="0">
                          <a:solidFill>
                            <a:srgbClr val="222222"/>
                          </a:solidFill>
                          <a:latin typeface="Arial"/>
                        </a:rPr>
                        <a:t>Number of leadership changes, coups and uprisings</a:t>
                      </a:r>
                    </a:p>
                  </a:txBody>
                  <a:tcPr marL="109728" marR="109728" marT="45720" marB="45720" anchor="ctr">
                    <a:solidFill>
                      <a:srgbClr val="FFFFFF"/>
                    </a:solidFill>
                  </a:tcPr>
                </a:tc>
                <a:tc>
                  <a:txBody>
                    <a:bodyPr wrap="square"/>
                    <a:lstStyle/>
                    <a:p>
                      <a:r>
                        <a:rPr sz="2000" b="0">
                          <a:solidFill>
                            <a:srgbClr val="222222"/>
                          </a:solidFill>
                          <a:latin typeface="Arial"/>
                        </a:rPr>
                        <a:t>Gastil (1987)</a:t>
                      </a:r>
                    </a:p>
                  </a:txBody>
                  <a:tcPr marL="109728" marR="109728" marT="45720" marB="45720" anchor="ctr">
                    <a:solidFill>
                      <a:srgbClr val="FFFFFF"/>
                    </a:solidFill>
                  </a:tcPr>
                </a:tc>
                <a:tc>
                  <a:txBody>
                    <a:bodyPr wrap="square"/>
                    <a:lstStyle/>
                    <a:p>
                      <a:r>
                        <a:rPr sz="2000" b="0">
                          <a:solidFill>
                            <a:srgbClr val="222222"/>
                          </a:solidFill>
                          <a:latin typeface="Arial"/>
                        </a:rPr>
                        <a:t>−</a:t>
                      </a:r>
                    </a:p>
                  </a:txBody>
                  <a:tcPr marL="109728" marR="109728" marT="45720" marB="45720" anchor="ctr">
                    <a:solidFill>
                      <a:srgbClr val="FFFFFF"/>
                    </a:solidFill>
                  </a:tcPr>
                </a:tc>
              </a:tr>
              <a:tr h="493776">
                <a:tc>
                  <a:txBody>
                    <a:bodyPr wrap="square"/>
                    <a:lstStyle/>
                    <a:p>
                      <a:r>
                        <a:rPr sz="2000" b="1">
                          <a:solidFill>
                            <a:srgbClr val="222222"/>
                          </a:solidFill>
                          <a:latin typeface="Arial"/>
                        </a:rPr>
                        <a:t>Inflation</a:t>
                      </a:r>
                    </a:p>
                  </a:txBody>
                  <a:tcPr marL="109728" marR="109728" marT="45720" marB="45720" anchor="ctr">
                    <a:solidFill>
                      <a:srgbClr val="F4F4F4"/>
                    </a:solidFill>
                  </a:tcPr>
                </a:tc>
                <a:tc>
                  <a:txBody>
                    <a:bodyPr wrap="square"/>
                    <a:lstStyle/>
                    <a:p>
                      <a:r>
                        <a:rPr sz="2000" b="0">
                          <a:solidFill>
                            <a:srgbClr val="222222"/>
                          </a:solidFill>
                          <a:latin typeface="Arial"/>
                        </a:rPr>
                        <a:t>Inflation rate (consumer prices)</a:t>
                      </a:r>
                    </a:p>
                  </a:txBody>
                  <a:tcPr marL="109728" marR="109728" marT="45720" marB="45720" anchor="ctr">
                    <a:solidFill>
                      <a:srgbClr val="F4F4F4"/>
                    </a:solidFill>
                  </a:tcPr>
                </a:tc>
                <a:tc>
                  <a:txBody>
                    <a:bodyPr wrap="square"/>
                    <a:lstStyle/>
                    <a:p>
                      <a:r>
                        <a:rPr sz="2000" b="0">
                          <a:solidFill>
                            <a:srgbClr val="222222"/>
                          </a:solidFill>
                          <a:latin typeface="Arial"/>
                        </a:rPr>
                        <a:t>IMF; BSP; NSCB</a:t>
                      </a:r>
                    </a:p>
                  </a:txBody>
                  <a:tcPr marL="109728" marR="109728" marT="45720" marB="45720" anchor="ctr">
                    <a:solidFill>
                      <a:srgbClr val="F4F4F4"/>
                    </a:solidFill>
                  </a:tcPr>
                </a:tc>
                <a:tc>
                  <a:txBody>
                    <a:bodyPr wrap="square"/>
                    <a:lstStyle/>
                    <a:p>
                      <a:r>
                        <a:rPr sz="2000" b="0">
                          <a:solidFill>
                            <a:srgbClr val="222222"/>
                          </a:solidFill>
                          <a:latin typeface="Arial"/>
                        </a:rPr>
                        <a:t>−</a:t>
                      </a:r>
                    </a:p>
                  </a:txBody>
                  <a:tcPr marL="109728" marR="109728" marT="45720" marB="45720" anchor="ctr">
                    <a:solidFill>
                      <a:srgbClr val="F4F4F4"/>
                    </a:solidFill>
                  </a:tcPr>
                </a:tc>
              </a:tr>
              <a:tr h="493776">
                <a:tc>
                  <a:txBody>
                    <a:bodyPr wrap="square"/>
                    <a:lstStyle/>
                    <a:p>
                      <a:r>
                        <a:rPr sz="2000" b="1">
                          <a:solidFill>
                            <a:srgbClr val="222222"/>
                          </a:solidFill>
                          <a:latin typeface="Arial"/>
                        </a:rPr>
                        <a:t>Population density</a:t>
                      </a:r>
                    </a:p>
                  </a:txBody>
                  <a:tcPr marL="109728" marR="109728" marT="45720" marB="45720" anchor="ctr">
                    <a:solidFill>
                      <a:srgbClr val="FFFFFF"/>
                    </a:solidFill>
                  </a:tcPr>
                </a:tc>
                <a:tc>
                  <a:txBody>
                    <a:bodyPr wrap="square"/>
                    <a:lstStyle/>
                    <a:p>
                      <a:r>
                        <a:rPr sz="2000" b="0">
                          <a:solidFill>
                            <a:srgbClr val="222222"/>
                          </a:solidFill>
                          <a:latin typeface="Arial"/>
                        </a:rPr>
                        <a:t>People per km²</a:t>
                      </a:r>
                    </a:p>
                  </a:txBody>
                  <a:tcPr marL="109728" marR="109728" marT="45720" marB="45720" anchor="ctr">
                    <a:solidFill>
                      <a:srgbClr val="FFFFFF"/>
                    </a:solidFill>
                  </a:tcPr>
                </a:tc>
                <a:tc>
                  <a:txBody>
                    <a:bodyPr wrap="square"/>
                    <a:lstStyle/>
                    <a:p>
                      <a:r>
                        <a:rPr sz="2000" b="0">
                          <a:solidFill>
                            <a:srgbClr val="222222"/>
                          </a:solidFill>
                          <a:latin typeface="Arial"/>
                        </a:rPr>
                        <a:t>NSCB</a:t>
                      </a:r>
                    </a:p>
                  </a:txBody>
                  <a:tcPr marL="109728" marR="109728" marT="45720" marB="45720" anchor="ctr">
                    <a:solidFill>
                      <a:srgbClr val="FFFFFF"/>
                    </a:solidFill>
                  </a:tcPr>
                </a:tc>
                <a:tc>
                  <a:txBody>
                    <a:bodyPr wrap="square"/>
                    <a:lstStyle/>
                    <a:p>
                      <a:r>
                        <a:rPr sz="2000" b="0">
                          <a:solidFill>
                            <a:srgbClr val="222222"/>
                          </a:solidFill>
                          <a:latin typeface="Arial"/>
                        </a:rPr>
                        <a:t>+</a:t>
                      </a:r>
                    </a:p>
                  </a:txBody>
                  <a:tcPr marL="109728" marR="109728" marT="45720" marB="45720" anchor="ctr">
                    <a:solidFill>
                      <a:srgbClr val="FFFFFF"/>
                    </a:solidFill>
                  </a:tcPr>
                </a:tc>
              </a:tr>
              <a:tr h="493776">
                <a:tc>
                  <a:txBody>
                    <a:bodyPr wrap="square"/>
                    <a:lstStyle/>
                    <a:p>
                      <a:r>
                        <a:rPr sz="2000" b="1">
                          <a:solidFill>
                            <a:srgbClr val="222222"/>
                          </a:solidFill>
                          <a:latin typeface="Arial"/>
                        </a:rPr>
                        <a:t>Unemployment</a:t>
                      </a:r>
                    </a:p>
                  </a:txBody>
                  <a:tcPr marL="109728" marR="109728" marT="45720" marB="45720" anchor="ctr">
                    <a:solidFill>
                      <a:srgbClr val="F4F4F4"/>
                    </a:solidFill>
                  </a:tcPr>
                </a:tc>
                <a:tc>
                  <a:txBody>
                    <a:bodyPr wrap="square"/>
                    <a:lstStyle/>
                    <a:p>
                      <a:r>
                        <a:rPr sz="2000" b="0">
                          <a:solidFill>
                            <a:srgbClr val="222222"/>
                          </a:solidFill>
                          <a:latin typeface="Arial"/>
                        </a:rPr>
                        <a:t>Unemployment rate</a:t>
                      </a:r>
                    </a:p>
                  </a:txBody>
                  <a:tcPr marL="109728" marR="109728" marT="45720" marB="45720" anchor="ctr">
                    <a:solidFill>
                      <a:srgbClr val="F4F4F4"/>
                    </a:solidFill>
                  </a:tcPr>
                </a:tc>
                <a:tc>
                  <a:txBody>
                    <a:bodyPr wrap="square"/>
                    <a:lstStyle/>
                    <a:p>
                      <a:r>
                        <a:rPr sz="2000" b="0">
                          <a:solidFill>
                            <a:srgbClr val="222222"/>
                          </a:solidFill>
                          <a:latin typeface="Arial"/>
                        </a:rPr>
                        <a:t>IMF; BSP; NSCB</a:t>
                      </a:r>
                    </a:p>
                  </a:txBody>
                  <a:tcPr marL="109728" marR="109728" marT="45720" marB="45720" anchor="ctr">
                    <a:solidFill>
                      <a:srgbClr val="F4F4F4"/>
                    </a:solidFill>
                  </a:tcPr>
                </a:tc>
                <a:tc>
                  <a:txBody>
                    <a:bodyPr wrap="square"/>
                    <a:lstStyle/>
                    <a:p>
                      <a:r>
                        <a:rPr sz="2000" b="0">
                          <a:solidFill>
                            <a:srgbClr val="222222"/>
                          </a:solidFill>
                          <a:latin typeface="Arial"/>
                        </a:rPr>
                        <a:t>+</a:t>
                      </a:r>
                    </a:p>
                  </a:txBody>
                  <a:tcPr marL="109728" marR="109728" marT="45720" marB="45720" anchor="ctr">
                    <a:solidFill>
                      <a:srgbClr val="F4F4F4"/>
                    </a:solidFill>
                  </a:tcPr>
                </a:tc>
              </a:tr>
              <a:tr h="493776">
                <a:tc>
                  <a:txBody>
                    <a:bodyPr wrap="square"/>
                    <a:lstStyle/>
                    <a:p>
                      <a:r>
                        <a:rPr sz="2000" b="1">
                          <a:solidFill>
                            <a:srgbClr val="222222"/>
                          </a:solidFill>
                          <a:latin typeface="Arial"/>
                        </a:rPr>
                        <a:t>Per capita income</a:t>
                      </a:r>
                    </a:p>
                  </a:txBody>
                  <a:tcPr marL="109728" marR="109728" marT="45720" marB="45720" anchor="ctr">
                    <a:solidFill>
                      <a:srgbClr val="FFFFFF"/>
                    </a:solidFill>
                  </a:tcPr>
                </a:tc>
                <a:tc>
                  <a:txBody>
                    <a:bodyPr wrap="square"/>
                    <a:lstStyle/>
                    <a:p>
                      <a:r>
                        <a:rPr sz="2000" b="0">
                          <a:solidFill>
                            <a:srgbClr val="222222"/>
                          </a:solidFill>
                          <a:latin typeface="Arial"/>
                        </a:rPr>
                        <a:t>Real GDP per person</a:t>
                      </a:r>
                    </a:p>
                  </a:txBody>
                  <a:tcPr marL="109728" marR="109728" marT="45720" marB="45720" anchor="ctr">
                    <a:solidFill>
                      <a:srgbClr val="FFFFFF"/>
                    </a:solidFill>
                  </a:tcPr>
                </a:tc>
                <a:tc>
                  <a:txBody>
                    <a:bodyPr wrap="square"/>
                    <a:lstStyle/>
                    <a:p>
                      <a:r>
                        <a:rPr sz="2000" b="0">
                          <a:solidFill>
                            <a:srgbClr val="222222"/>
                          </a:solidFill>
                          <a:latin typeface="Arial"/>
                        </a:rPr>
                        <a:t>IMF; BSP; NSCB</a:t>
                      </a:r>
                    </a:p>
                  </a:txBody>
                  <a:tcPr marL="109728" marR="109728" marT="45720" marB="45720" anchor="ctr">
                    <a:solidFill>
                      <a:srgbClr val="FFFFFF"/>
                    </a:solidFill>
                  </a:tcPr>
                </a:tc>
                <a:tc>
                  <a:txBody>
                    <a:bodyPr wrap="square"/>
                    <a:lstStyle/>
                    <a:p>
                      <a:r>
                        <a:rPr sz="2000" b="0">
                          <a:solidFill>
                            <a:srgbClr val="222222"/>
                          </a:solidFill>
                          <a:latin typeface="Arial"/>
                        </a:rPr>
                        <a:t>−</a:t>
                      </a:r>
                    </a:p>
                  </a:txBody>
                  <a:tcPr marL="109728" marR="109728" marT="45720" marB="45720" anchor="ctr">
                    <a:solidFill>
                      <a:srgbClr val="FFFFFF"/>
                    </a:solidFill>
                  </a:tcPr>
                </a:tc>
              </a:tr>
            </a:tbl>
          </a:graphicData>
        </a:graphic>
      </p:graphicFrame>
      <p:sp>
        <p:nvSpPr>
          <p:cNvPr id="8" name="Data critique"/>
          <p:cNvSpPr txBox="1"/>
          <p:nvPr/>
        </p:nvSpPr>
        <p:spPr>
          <a:xfrm>
            <a:off x="914400" y="8778240"/>
            <a:ext cx="16459200" cy="822960"/>
          </a:xfrm>
          <a:prstGeom prst="rect">
            <a:avLst/>
          </a:prstGeom>
          <a:noFill/>
        </p:spPr>
        <p:txBody>
          <a:bodyPr wrap="square" lIns="0" rIns="0" tIns="0" bIns="0" anchor="t">
            <a:noAutofit/>
          </a:bodyPr>
          <a:lstStyle/>
          <a:p>
            <a:pPr algn="l">
              <a:lnSpc>
                <a:spcPct val="105000"/>
              </a:lnSpc>
              <a:spcAft>
                <a:spcPts val="1000"/>
              </a:spcAft>
            </a:pPr>
            <a:r>
              <a:rPr sz="2200" b="1" i="0">
                <a:solidFill>
                  <a:srgbClr val="7A1916"/>
                </a:solidFill>
                <a:latin typeface="Arial"/>
              </a:rPr>
              <a:t>Critical view:</a:t>
            </a:r>
            <a:r>
              <a:rPr sz="2200" b="0" i="0">
                <a:solidFill>
                  <a:srgbClr val="222222"/>
                </a:solidFill>
                <a:latin typeface="Arial"/>
              </a:rPr>
              <a:t> the source of the income inequality data is not stated, and the migration share mixes temporary and permanent migrants.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91421" y="9908915"/>
            <a:ext cx="17981581" cy="369456"/>
          </a:xfrm>
          <a:prstGeom prst="rect">
            <a:avLst/>
          </a:prstGeom>
        </p:spPr>
        <p:txBody>
          <a:bodyPr anchor="t" rtlCol="false" tIns="0" lIns="0" bIns="0" rIns="0">
            <a:spAutoFit/>
          </a:bodyPr>
          <a:lstStyle/>
          <a:p>
            <a:pPr algn="ctr">
              <a:lnSpc>
                <a:spcPts val="1377"/>
              </a:lnSpc>
            </a:pPr>
            <a:r>
              <a:rPr lang="en-US" b="true" sz="1275">
                <a:solidFill>
                  <a:srgbClr val="3A3A3A"/>
                </a:solidFill>
                <a:latin typeface="Arial Bold"/>
                <a:ea typeface="Arial Bold"/>
                <a:cs typeface="Arial Bold"/>
                <a:sym typeface="Arial Bold"/>
              </a:rPr>
              <a:t>© 2026 University of Southeastern Philippines |</a:t>
            </a:r>
            <a:r>
              <a:rPr lang="en-US" sz="1275">
                <a:solidFill>
                  <a:srgbClr val="3A3A3A"/>
                </a:solidFill>
                <a:latin typeface="Arial"/>
                <a:ea typeface="Arial"/>
                <a:cs typeface="Arial"/>
                <a:sym typeface="Arial"/>
              </a:rPr>
              <a:t> All Rights Reserved. This presentation contains confidential and proprietary information. Photography, video, and audio recording of these materials are prohibited without prior authorization.</a:t>
            </a:r>
          </a:p>
        </p:txBody>
      </p:sp>
      <p:sp>
        <p:nvSpPr>
          <p:cNvPr id="5" name="Title"/>
          <p:cNvSpPr txBox="1"/>
          <p:nvPr/>
        </p:nvSpPr>
        <p:spPr>
          <a:xfrm>
            <a:off x="914400" y="1600200"/>
            <a:ext cx="16459200" cy="914400"/>
          </a:xfrm>
          <a:prstGeom prst="rect">
            <a:avLst/>
          </a:prstGeom>
          <a:noFill/>
        </p:spPr>
        <p:txBody>
          <a:bodyPr wrap="square" lIns="0" rIns="0" tIns="0" bIns="0" anchor="ctr">
            <a:noAutofit/>
          </a:bodyPr>
          <a:lstStyle/>
          <a:p>
            <a:pPr algn="l">
              <a:lnSpc>
                <a:spcPct val="105000"/>
              </a:lnSpc>
              <a:spcAft>
                <a:spcPts val="1000"/>
              </a:spcAft>
            </a:pPr>
            <a:r>
              <a:rPr sz="4800" b="1" i="0">
                <a:solidFill>
                  <a:srgbClr val="7A1916"/>
                </a:solidFill>
                <a:latin typeface="Arial"/>
              </a:rPr>
              <a:t>4. Methodology</a:t>
            </a:r>
          </a:p>
        </p:txBody>
      </p:sp>
      <p:sp>
        <p:nvSpPr>
          <p:cNvPr id="6" name="Key message"/>
          <p:cNvSpPr txBox="1"/>
          <p:nvPr/>
        </p:nvSpPr>
        <p:spPr>
          <a:xfrm>
            <a:off x="914400" y="2606040"/>
            <a:ext cx="16459200" cy="822960"/>
          </a:xfrm>
          <a:prstGeom prst="rect">
            <a:avLst/>
          </a:prstGeom>
          <a:noFill/>
        </p:spPr>
        <p:txBody>
          <a:bodyPr wrap="square" lIns="0" rIns="0" tIns="0" bIns="0" anchor="t">
            <a:noAutofit/>
          </a:bodyPr>
          <a:lstStyle/>
          <a:p>
            <a:pPr algn="l">
              <a:lnSpc>
                <a:spcPct val="105000"/>
              </a:lnSpc>
              <a:spcAft>
                <a:spcPts val="1000"/>
              </a:spcAft>
            </a:pPr>
            <a:r>
              <a:rPr sz="2800" b="1" i="1">
                <a:solidFill>
                  <a:srgbClr val="222222"/>
                </a:solidFill>
                <a:latin typeface="Arial"/>
              </a:rPr>
              <a:t>A standard five-step time-series method, carefully applied.</a:t>
            </a:r>
          </a:p>
        </p:txBody>
      </p:sp>
      <p:sp>
        <p:nvSpPr>
          <p:cNvPr id="7" name="Steps"/>
          <p:cNvSpPr txBox="1"/>
          <p:nvPr/>
        </p:nvSpPr>
        <p:spPr>
          <a:xfrm>
            <a:off x="914400" y="3657600"/>
            <a:ext cx="16459200" cy="4480560"/>
          </a:xfrm>
          <a:prstGeom prst="rect">
            <a:avLst/>
          </a:prstGeom>
          <a:noFill/>
        </p:spPr>
        <p:txBody>
          <a:bodyPr wrap="square" lIns="0" rIns="0" tIns="0" bIns="0" anchor="t">
            <a:noAutofit/>
          </a:bodyPr>
          <a:lstStyle/>
          <a:p>
            <a:pPr algn="l">
              <a:lnSpc>
                <a:spcPct val="105000"/>
              </a:lnSpc>
              <a:spcAft>
                <a:spcPts val="1400"/>
              </a:spcAft>
            </a:pPr>
            <a:r>
              <a:rPr sz="2800" b="1" i="0">
                <a:solidFill>
                  <a:srgbClr val="7A1916"/>
                </a:solidFill>
                <a:latin typeface="Arial"/>
              </a:rPr>
              <a:t>Step 1 – Unit root tests:</a:t>
            </a:r>
            <a:r>
              <a:rPr sz="2800" b="0" i="0">
                <a:solidFill>
                  <a:srgbClr val="222222"/>
                </a:solidFill>
                <a:latin typeface="Arial"/>
              </a:rPr>
              <a:t> ADF and P–P tests show the data become stationary after first differences</a:t>
            </a:r>
          </a:p>
          <a:p>
            <a:pPr algn="l">
              <a:lnSpc>
                <a:spcPct val="105000"/>
              </a:lnSpc>
              <a:spcAft>
                <a:spcPts val="1400"/>
              </a:spcAft>
            </a:pPr>
            <a:r>
              <a:rPr sz="2800" b="1" i="0">
                <a:solidFill>
                  <a:srgbClr val="7A1916"/>
                </a:solidFill>
                <a:latin typeface="Arial"/>
              </a:rPr>
              <a:t>Step 2 – Cointegration tests:</a:t>
            </a:r>
            <a:r>
              <a:rPr sz="2800" b="0" i="0">
                <a:solidFill>
                  <a:srgbClr val="222222"/>
                </a:solidFill>
                <a:latin typeface="Arial"/>
              </a:rPr>
              <a:t> Engle–Granger, Johansen and Pesaran tests show the variables move together in the long run</a:t>
            </a:r>
          </a:p>
          <a:p>
            <a:pPr algn="l">
              <a:lnSpc>
                <a:spcPct val="105000"/>
              </a:lnSpc>
              <a:spcAft>
                <a:spcPts val="1400"/>
              </a:spcAft>
            </a:pPr>
            <a:r>
              <a:rPr sz="2800" b="1" i="0">
                <a:solidFill>
                  <a:srgbClr val="7A1916"/>
                </a:solidFill>
                <a:latin typeface="Arial"/>
              </a:rPr>
              <a:t>Step 3 – Choosing the model:</a:t>
            </a:r>
            <a:r>
              <a:rPr sz="2800" b="0" i="0">
                <a:solidFill>
                  <a:srgbClr val="222222"/>
                </a:solidFill>
                <a:latin typeface="Arial"/>
              </a:rPr>
              <a:t> general-to-specific; drop terms that are not statistically significant</a:t>
            </a:r>
          </a:p>
          <a:p>
            <a:pPr algn="l">
              <a:lnSpc>
                <a:spcPct val="105000"/>
              </a:lnSpc>
              <a:spcAft>
                <a:spcPts val="1400"/>
              </a:spcAft>
            </a:pPr>
            <a:r>
              <a:rPr sz="2800" b="1" i="0">
                <a:solidFill>
                  <a:srgbClr val="7A1916"/>
                </a:solidFill>
                <a:latin typeface="Arial"/>
              </a:rPr>
              <a:t>Step 4 – Estimation:</a:t>
            </a:r>
            <a:r>
              <a:rPr sz="2800" b="0" i="0">
                <a:solidFill>
                  <a:srgbClr val="222222"/>
                </a:solidFill>
                <a:latin typeface="Arial"/>
              </a:rPr>
              <a:t> the ECM is estimated by ordinary least squares (OLS) in EViews 6.0</a:t>
            </a:r>
          </a:p>
          <a:p>
            <a:pPr algn="l">
              <a:lnSpc>
                <a:spcPct val="105000"/>
              </a:lnSpc>
              <a:spcAft>
                <a:spcPts val="0"/>
              </a:spcAft>
            </a:pPr>
            <a:r>
              <a:rPr sz="2800" b="1" i="0">
                <a:solidFill>
                  <a:srgbClr val="7A1916"/>
                </a:solidFill>
                <a:latin typeface="Arial"/>
              </a:rPr>
              <a:t>Step 5 – Diagnostic tests:</a:t>
            </a:r>
            <a:r>
              <a:rPr sz="2800" b="0" i="0">
                <a:solidFill>
                  <a:srgbClr val="222222"/>
                </a:solidFill>
                <a:latin typeface="Arial"/>
              </a:rPr>
              <a:t> checks for problems in the model; all passed</a:t>
            </a:r>
          </a:p>
        </p:txBody>
      </p:sp>
      <p:sp>
        <p:nvSpPr>
          <p:cNvPr id="8" name="Watch-out box"/>
          <p:cNvSpPr/>
          <p:nvPr/>
        </p:nvSpPr>
        <p:spPr>
          <a:xfrm>
            <a:off x="914400" y="8366760"/>
            <a:ext cx="16459200" cy="1188720"/>
          </a:xfrm>
          <a:prstGeom prst="roundRect">
            <a:avLst>
              <a:gd name="adj" fmla="val 4000"/>
            </a:avLst>
          </a:prstGeom>
          <a:solidFill>
            <a:srgbClr val="7A19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Watch-out"/>
          <p:cNvSpPr txBox="1"/>
          <p:nvPr/>
        </p:nvSpPr>
        <p:spPr>
          <a:xfrm>
            <a:off x="1280160" y="8366760"/>
            <a:ext cx="15727680" cy="1188720"/>
          </a:xfrm>
          <a:prstGeom prst="rect">
            <a:avLst/>
          </a:prstGeom>
          <a:noFill/>
        </p:spPr>
        <p:txBody>
          <a:bodyPr wrap="square" lIns="0" rIns="0" tIns="0" bIns="0" anchor="ctr">
            <a:noAutofit/>
          </a:bodyPr>
          <a:lstStyle/>
          <a:p>
            <a:pPr algn="l">
              <a:lnSpc>
                <a:spcPct val="105000"/>
              </a:lnSpc>
              <a:spcAft>
                <a:spcPts val="1000"/>
              </a:spcAft>
            </a:pPr>
            <a:r>
              <a:rPr sz="2600" b="1" i="0">
                <a:solidFill>
                  <a:srgbClr val="F2C14E"/>
                </a:solidFill>
                <a:latin typeface="Arial"/>
              </a:rPr>
              <a:t>Watch-out:</a:t>
            </a:r>
            <a:r>
              <a:rPr sz="2600" b="0" i="0">
                <a:solidFill>
                  <a:srgbClr val="FFFFFF"/>
                </a:solidFill>
                <a:latin typeface="Arial"/>
              </a:rPr>
              <a:t> the Johansen test finds 5–8 long-run relationships, but the ECM keeps only one ECT.</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91421" y="9983057"/>
            <a:ext cx="17981581" cy="369456"/>
          </a:xfrm>
          <a:prstGeom prst="rect">
            <a:avLst/>
          </a:prstGeom>
        </p:spPr>
        <p:txBody>
          <a:bodyPr anchor="t" rtlCol="false" tIns="0" lIns="0" bIns="0" rIns="0">
            <a:spAutoFit/>
          </a:bodyPr>
          <a:lstStyle/>
          <a:p>
            <a:pPr algn="ctr">
              <a:lnSpc>
                <a:spcPts val="1377"/>
              </a:lnSpc>
            </a:pPr>
            <a:r>
              <a:rPr lang="en-US" b="true" sz="1275">
                <a:solidFill>
                  <a:srgbClr val="3A3A3A"/>
                </a:solidFill>
                <a:latin typeface="Arial Bold"/>
                <a:ea typeface="Arial Bold"/>
                <a:cs typeface="Arial Bold"/>
                <a:sym typeface="Arial Bold"/>
              </a:rPr>
              <a:t>© 2026 University of Southeastern Philippines |</a:t>
            </a:r>
            <a:r>
              <a:rPr lang="en-US" sz="1275">
                <a:solidFill>
                  <a:srgbClr val="3A3A3A"/>
                </a:solidFill>
                <a:latin typeface="Arial"/>
                <a:ea typeface="Arial"/>
                <a:cs typeface="Arial"/>
                <a:sym typeface="Arial"/>
              </a:rPr>
              <a:t> All Rights Reserved. This presentation contains confidential and proprietary information. Photography, video, and audio recording of these materials are prohibited without prior authorization.</a:t>
            </a:r>
          </a:p>
        </p:txBody>
      </p:sp>
      <p:sp>
        <p:nvSpPr>
          <p:cNvPr id="5" name="Title"/>
          <p:cNvSpPr txBox="1"/>
          <p:nvPr/>
        </p:nvSpPr>
        <p:spPr>
          <a:xfrm>
            <a:off x="914400" y="1600200"/>
            <a:ext cx="16459200" cy="914400"/>
          </a:xfrm>
          <a:prstGeom prst="rect">
            <a:avLst/>
          </a:prstGeom>
          <a:noFill/>
        </p:spPr>
        <p:txBody>
          <a:bodyPr wrap="square" lIns="0" rIns="0" tIns="0" bIns="0" anchor="ctr">
            <a:noAutofit/>
          </a:bodyPr>
          <a:lstStyle/>
          <a:p>
            <a:pPr algn="l">
              <a:lnSpc>
                <a:spcPct val="105000"/>
              </a:lnSpc>
              <a:spcAft>
                <a:spcPts val="1000"/>
              </a:spcAft>
            </a:pPr>
            <a:r>
              <a:rPr sz="4800" b="1" i="0">
                <a:solidFill>
                  <a:srgbClr val="7A1916"/>
                </a:solidFill>
                <a:latin typeface="Arial"/>
              </a:rPr>
              <a:t>5. Key findings: the results</a:t>
            </a:r>
          </a:p>
        </p:txBody>
      </p:sp>
      <p:sp>
        <p:nvSpPr>
          <p:cNvPr id="6" name="Key message"/>
          <p:cNvSpPr txBox="1"/>
          <p:nvPr/>
        </p:nvSpPr>
        <p:spPr>
          <a:xfrm>
            <a:off x="914400" y="2606040"/>
            <a:ext cx="16459200" cy="822960"/>
          </a:xfrm>
          <a:prstGeom prst="rect">
            <a:avLst/>
          </a:prstGeom>
          <a:noFill/>
        </p:spPr>
        <p:txBody>
          <a:bodyPr wrap="square" lIns="0" rIns="0" tIns="0" bIns="0" anchor="t">
            <a:noAutofit/>
          </a:bodyPr>
          <a:lstStyle/>
          <a:p>
            <a:pPr algn="l">
              <a:lnSpc>
                <a:spcPct val="105000"/>
              </a:lnSpc>
              <a:spcAft>
                <a:spcPts val="1000"/>
              </a:spcAft>
            </a:pPr>
            <a:r>
              <a:rPr sz="2800" b="1" i="1">
                <a:solidFill>
                  <a:srgbClr val="222222"/>
                </a:solidFill>
                <a:latin typeface="Arial"/>
              </a:rPr>
              <a:t>Four push factors are statistically significant; the model explains 63% of changes.</a:t>
            </a:r>
          </a:p>
        </p:txBody>
      </p:sp>
      <p:graphicFrame>
        <p:nvGraphicFramePr>
          <p:cNvPr id="7" name="Results table"/>
          <p:cNvGraphicFramePr>
            <a:graphicFrameLocks noGrp="1"/>
          </p:cNvGraphicFramePr>
          <p:nvPr/>
        </p:nvGraphicFramePr>
        <p:xfrm>
          <a:off x="914400" y="3611880"/>
          <a:ext cx="16459200" cy="4846320"/>
        </p:xfrm>
        <a:graphic>
          <a:graphicData uri="http://schemas.openxmlformats.org/drawingml/2006/table">
            <a:tbl>
              <a:tblPr firstRow="0" bandRow="0">
                <a:tableStyleId>{5940675A-B579-460E-94D1-54222C63F5DA}</a:tableStyleId>
              </a:tblPr>
              <a:tblGrid>
                <a:gridCol w="5486400"/>
                <a:gridCol w="3291840"/>
                <a:gridCol w="3291840"/>
                <a:gridCol w="4389120"/>
              </a:tblGrid>
              <a:tr h="484632">
                <a:tc>
                  <a:txBody>
                    <a:bodyPr wrap="square"/>
                    <a:lstStyle/>
                    <a:p>
                      <a:r>
                        <a:rPr sz="2000" b="1">
                          <a:solidFill>
                            <a:srgbClr val="FFFFFF"/>
                          </a:solidFill>
                          <a:latin typeface="Arial"/>
                        </a:rPr>
                        <a:t>Explanatory variable</a:t>
                      </a:r>
                    </a:p>
                  </a:txBody>
                  <a:tcPr marL="109728" marR="109728" marT="45720" marB="45720" anchor="ctr">
                    <a:solidFill>
                      <a:srgbClr val="7A1916"/>
                    </a:solidFill>
                  </a:tcPr>
                </a:tc>
                <a:tc>
                  <a:txBody>
                    <a:bodyPr wrap="square"/>
                    <a:lstStyle/>
                    <a:p>
                      <a:r>
                        <a:rPr sz="2000" b="1">
                          <a:solidFill>
                            <a:srgbClr val="FFFFFF"/>
                          </a:solidFill>
                          <a:latin typeface="Arial"/>
                        </a:rPr>
                        <a:t>Coefficient</a:t>
                      </a:r>
                    </a:p>
                  </a:txBody>
                  <a:tcPr marL="109728" marR="109728" marT="45720" marB="45720" anchor="ctr">
                    <a:solidFill>
                      <a:srgbClr val="7A1916"/>
                    </a:solidFill>
                  </a:tcPr>
                </a:tc>
                <a:tc>
                  <a:txBody>
                    <a:bodyPr wrap="square"/>
                    <a:lstStyle/>
                    <a:p>
                      <a:r>
                        <a:rPr sz="2000" b="1">
                          <a:solidFill>
                            <a:srgbClr val="FFFFFF"/>
                          </a:solidFill>
                          <a:latin typeface="Arial"/>
                        </a:rPr>
                        <a:t>t-statistic</a:t>
                      </a:r>
                    </a:p>
                  </a:txBody>
                  <a:tcPr marL="109728" marR="109728" marT="45720" marB="45720" anchor="ctr">
                    <a:solidFill>
                      <a:srgbClr val="7A1916"/>
                    </a:solidFill>
                  </a:tcPr>
                </a:tc>
                <a:tc>
                  <a:txBody>
                    <a:bodyPr wrap="square"/>
                    <a:lstStyle/>
                    <a:p>
                      <a:r>
                        <a:rPr sz="2000" b="1">
                          <a:solidFill>
                            <a:srgbClr val="FFFFFF"/>
                          </a:solidFill>
                          <a:latin typeface="Arial"/>
                        </a:rPr>
                        <a:t>Result (5% level)</a:t>
                      </a:r>
                    </a:p>
                  </a:txBody>
                  <a:tcPr marL="109728" marR="109728" marT="45720" marB="45720" anchor="ctr">
                    <a:solidFill>
                      <a:srgbClr val="7A1916"/>
                    </a:solidFill>
                  </a:tcPr>
                </a:tc>
              </a:tr>
              <a:tr h="484632">
                <a:tc>
                  <a:txBody>
                    <a:bodyPr wrap="square"/>
                    <a:lstStyle/>
                    <a:p>
                      <a:r>
                        <a:rPr sz="2000" b="1">
                          <a:solidFill>
                            <a:srgbClr val="7A1916"/>
                          </a:solidFill>
                          <a:latin typeface="Arial"/>
                        </a:rPr>
                        <a:t>Unemployment</a:t>
                      </a:r>
                    </a:p>
                  </a:txBody>
                  <a:tcPr marL="109728" marR="109728" marT="45720" marB="45720" anchor="ctr">
                    <a:solidFill>
                      <a:srgbClr val="F6ECEB"/>
                    </a:solidFill>
                  </a:tcPr>
                </a:tc>
                <a:tc>
                  <a:txBody>
                    <a:bodyPr wrap="square"/>
                    <a:lstStyle/>
                    <a:p>
                      <a:r>
                        <a:rPr sz="2000" b="0">
                          <a:solidFill>
                            <a:srgbClr val="222222"/>
                          </a:solidFill>
                          <a:latin typeface="Arial"/>
                        </a:rPr>
                        <a:t>+0.236</a:t>
                      </a:r>
                    </a:p>
                  </a:txBody>
                  <a:tcPr marL="109728" marR="109728" marT="45720" marB="45720" anchor="ctr">
                    <a:solidFill>
                      <a:srgbClr val="F6ECEB"/>
                    </a:solidFill>
                  </a:tcPr>
                </a:tc>
                <a:tc>
                  <a:txBody>
                    <a:bodyPr wrap="square"/>
                    <a:lstStyle/>
                    <a:p>
                      <a:r>
                        <a:rPr sz="2000" b="0">
                          <a:solidFill>
                            <a:srgbClr val="222222"/>
                          </a:solidFill>
                          <a:latin typeface="Arial"/>
                        </a:rPr>
                        <a:t>4.629</a:t>
                      </a:r>
                    </a:p>
                  </a:txBody>
                  <a:tcPr marL="109728" marR="109728" marT="45720" marB="45720" anchor="ctr">
                    <a:solidFill>
                      <a:srgbClr val="F6ECEB"/>
                    </a:solidFill>
                  </a:tcPr>
                </a:tc>
                <a:tc>
                  <a:txBody>
                    <a:bodyPr wrap="square"/>
                    <a:lstStyle/>
                    <a:p>
                      <a:r>
                        <a:rPr sz="2000" b="1">
                          <a:solidFill>
                            <a:srgbClr val="7A1916"/>
                          </a:solidFill>
                          <a:latin typeface="Arial"/>
                        </a:rPr>
                        <a:t>Significant</a:t>
                      </a:r>
                    </a:p>
                  </a:txBody>
                  <a:tcPr marL="109728" marR="109728" marT="45720" marB="45720" anchor="ctr">
                    <a:solidFill>
                      <a:srgbClr val="F6ECEB"/>
                    </a:solidFill>
                  </a:tcPr>
                </a:tc>
              </a:tr>
              <a:tr h="484632">
                <a:tc>
                  <a:txBody>
                    <a:bodyPr wrap="square"/>
                    <a:lstStyle/>
                    <a:p>
                      <a:r>
                        <a:rPr sz="2000" b="1">
                          <a:solidFill>
                            <a:srgbClr val="7A1916"/>
                          </a:solidFill>
                          <a:latin typeface="Arial"/>
                        </a:rPr>
                        <a:t>Adult literacy</a:t>
                      </a:r>
                    </a:p>
                  </a:txBody>
                  <a:tcPr marL="109728" marR="109728" marT="45720" marB="45720" anchor="ctr">
                    <a:solidFill>
                      <a:srgbClr val="F6ECEB"/>
                    </a:solidFill>
                  </a:tcPr>
                </a:tc>
                <a:tc>
                  <a:txBody>
                    <a:bodyPr wrap="square"/>
                    <a:lstStyle/>
                    <a:p>
                      <a:r>
                        <a:rPr sz="2000" b="0">
                          <a:solidFill>
                            <a:srgbClr val="222222"/>
                          </a:solidFill>
                          <a:latin typeface="Arial"/>
                        </a:rPr>
                        <a:t>−0.659</a:t>
                      </a:r>
                    </a:p>
                  </a:txBody>
                  <a:tcPr marL="109728" marR="109728" marT="45720" marB="45720" anchor="ctr">
                    <a:solidFill>
                      <a:srgbClr val="F6ECEB"/>
                    </a:solidFill>
                  </a:tcPr>
                </a:tc>
                <a:tc>
                  <a:txBody>
                    <a:bodyPr wrap="square"/>
                    <a:lstStyle/>
                    <a:p>
                      <a:r>
                        <a:rPr sz="2000" b="0">
                          <a:solidFill>
                            <a:srgbClr val="222222"/>
                          </a:solidFill>
                          <a:latin typeface="Arial"/>
                        </a:rPr>
                        <a:t>−5.225</a:t>
                      </a:r>
                    </a:p>
                  </a:txBody>
                  <a:tcPr marL="109728" marR="109728" marT="45720" marB="45720" anchor="ctr">
                    <a:solidFill>
                      <a:srgbClr val="F6ECEB"/>
                    </a:solidFill>
                  </a:tcPr>
                </a:tc>
                <a:tc>
                  <a:txBody>
                    <a:bodyPr wrap="square"/>
                    <a:lstStyle/>
                    <a:p>
                      <a:r>
                        <a:rPr sz="2000" b="1">
                          <a:solidFill>
                            <a:srgbClr val="7A1916"/>
                          </a:solidFill>
                          <a:latin typeface="Arial"/>
                        </a:rPr>
                        <a:t>Significant</a:t>
                      </a:r>
                    </a:p>
                  </a:txBody>
                  <a:tcPr marL="109728" marR="109728" marT="45720" marB="45720" anchor="ctr">
                    <a:solidFill>
                      <a:srgbClr val="F6ECEB"/>
                    </a:solidFill>
                  </a:tcPr>
                </a:tc>
              </a:tr>
              <a:tr h="484632">
                <a:tc>
                  <a:txBody>
                    <a:bodyPr wrap="square"/>
                    <a:lstStyle/>
                    <a:p>
                      <a:r>
                        <a:rPr sz="2000" b="1">
                          <a:solidFill>
                            <a:srgbClr val="7A1916"/>
                          </a:solidFill>
                          <a:latin typeface="Arial"/>
                        </a:rPr>
                        <a:t>Political instability</a:t>
                      </a:r>
                    </a:p>
                  </a:txBody>
                  <a:tcPr marL="109728" marR="109728" marT="45720" marB="45720" anchor="ctr">
                    <a:solidFill>
                      <a:srgbClr val="F6ECEB"/>
                    </a:solidFill>
                  </a:tcPr>
                </a:tc>
                <a:tc>
                  <a:txBody>
                    <a:bodyPr wrap="square"/>
                    <a:lstStyle/>
                    <a:p>
                      <a:r>
                        <a:rPr sz="2000" b="0">
                          <a:solidFill>
                            <a:srgbClr val="222222"/>
                          </a:solidFill>
                          <a:latin typeface="Arial"/>
                        </a:rPr>
                        <a:t>−0.482</a:t>
                      </a:r>
                    </a:p>
                  </a:txBody>
                  <a:tcPr marL="109728" marR="109728" marT="45720" marB="45720" anchor="ctr">
                    <a:solidFill>
                      <a:srgbClr val="F6ECEB"/>
                    </a:solidFill>
                  </a:tcPr>
                </a:tc>
                <a:tc>
                  <a:txBody>
                    <a:bodyPr wrap="square"/>
                    <a:lstStyle/>
                    <a:p>
                      <a:r>
                        <a:rPr sz="2000" b="0">
                          <a:solidFill>
                            <a:srgbClr val="222222"/>
                          </a:solidFill>
                          <a:latin typeface="Arial"/>
                        </a:rPr>
                        <a:t>−3.444</a:t>
                      </a:r>
                    </a:p>
                  </a:txBody>
                  <a:tcPr marL="109728" marR="109728" marT="45720" marB="45720" anchor="ctr">
                    <a:solidFill>
                      <a:srgbClr val="F6ECEB"/>
                    </a:solidFill>
                  </a:tcPr>
                </a:tc>
                <a:tc>
                  <a:txBody>
                    <a:bodyPr wrap="square"/>
                    <a:lstStyle/>
                    <a:p>
                      <a:r>
                        <a:rPr sz="2000" b="1">
                          <a:solidFill>
                            <a:srgbClr val="7A1916"/>
                          </a:solidFill>
                          <a:latin typeface="Arial"/>
                        </a:rPr>
                        <a:t>Significant</a:t>
                      </a:r>
                    </a:p>
                  </a:txBody>
                  <a:tcPr marL="109728" marR="109728" marT="45720" marB="45720" anchor="ctr">
                    <a:solidFill>
                      <a:srgbClr val="F6ECEB"/>
                    </a:solidFill>
                  </a:tcPr>
                </a:tc>
              </a:tr>
              <a:tr h="484632">
                <a:tc>
                  <a:txBody>
                    <a:bodyPr wrap="square"/>
                    <a:lstStyle/>
                    <a:p>
                      <a:r>
                        <a:rPr sz="2000" b="1">
                          <a:solidFill>
                            <a:srgbClr val="7A1916"/>
                          </a:solidFill>
                          <a:latin typeface="Arial"/>
                        </a:rPr>
                        <a:t>Population density</a:t>
                      </a:r>
                    </a:p>
                  </a:txBody>
                  <a:tcPr marL="109728" marR="109728" marT="45720" marB="45720" anchor="ctr">
                    <a:solidFill>
                      <a:srgbClr val="F6ECEB"/>
                    </a:solidFill>
                  </a:tcPr>
                </a:tc>
                <a:tc>
                  <a:txBody>
                    <a:bodyPr wrap="square"/>
                    <a:lstStyle/>
                    <a:p>
                      <a:r>
                        <a:rPr sz="2000" b="0">
                          <a:solidFill>
                            <a:srgbClr val="222222"/>
                          </a:solidFill>
                          <a:latin typeface="Arial"/>
                        </a:rPr>
                        <a:t>−0.254</a:t>
                      </a:r>
                    </a:p>
                  </a:txBody>
                  <a:tcPr marL="109728" marR="109728" marT="45720" marB="45720" anchor="ctr">
                    <a:solidFill>
                      <a:srgbClr val="F6ECEB"/>
                    </a:solidFill>
                  </a:tcPr>
                </a:tc>
                <a:tc>
                  <a:txBody>
                    <a:bodyPr wrap="square"/>
                    <a:lstStyle/>
                    <a:p>
                      <a:r>
                        <a:rPr sz="2000" b="0">
                          <a:solidFill>
                            <a:srgbClr val="222222"/>
                          </a:solidFill>
                          <a:latin typeface="Arial"/>
                        </a:rPr>
                        <a:t>−2.756</a:t>
                      </a:r>
                    </a:p>
                  </a:txBody>
                  <a:tcPr marL="109728" marR="109728" marT="45720" marB="45720" anchor="ctr">
                    <a:solidFill>
                      <a:srgbClr val="F6ECEB"/>
                    </a:solidFill>
                  </a:tcPr>
                </a:tc>
                <a:tc>
                  <a:txBody>
                    <a:bodyPr wrap="square"/>
                    <a:lstStyle/>
                    <a:p>
                      <a:r>
                        <a:rPr sz="2000" b="1">
                          <a:solidFill>
                            <a:srgbClr val="7A1916"/>
                          </a:solidFill>
                          <a:latin typeface="Arial"/>
                        </a:rPr>
                        <a:t>Significant</a:t>
                      </a:r>
                    </a:p>
                  </a:txBody>
                  <a:tcPr marL="109728" marR="109728" marT="45720" marB="45720" anchor="ctr">
                    <a:solidFill>
                      <a:srgbClr val="F6ECEB"/>
                    </a:solidFill>
                  </a:tcPr>
                </a:tc>
              </a:tr>
              <a:tr h="484632">
                <a:tc>
                  <a:txBody>
                    <a:bodyPr wrap="square"/>
                    <a:lstStyle/>
                    <a:p>
                      <a:r>
                        <a:rPr sz="2000" b="1">
                          <a:solidFill>
                            <a:srgbClr val="222222"/>
                          </a:solidFill>
                          <a:latin typeface="Arial"/>
                        </a:rPr>
                        <a:t>Income inequality</a:t>
                      </a:r>
                    </a:p>
                  </a:txBody>
                  <a:tcPr marL="109728" marR="109728" marT="45720" marB="45720" anchor="ctr">
                    <a:solidFill>
                      <a:srgbClr val="FFFFFF"/>
                    </a:solidFill>
                  </a:tcPr>
                </a:tc>
                <a:tc>
                  <a:txBody>
                    <a:bodyPr wrap="square"/>
                    <a:lstStyle/>
                    <a:p>
                      <a:r>
                        <a:rPr sz="2000" b="0">
                          <a:solidFill>
                            <a:srgbClr val="222222"/>
                          </a:solidFill>
                          <a:latin typeface="Arial"/>
                        </a:rPr>
                        <a:t>−171.195</a:t>
                      </a:r>
                    </a:p>
                  </a:txBody>
                  <a:tcPr marL="109728" marR="109728" marT="45720" marB="45720" anchor="ctr">
                    <a:solidFill>
                      <a:srgbClr val="FFFFFF"/>
                    </a:solidFill>
                  </a:tcPr>
                </a:tc>
                <a:tc>
                  <a:txBody>
                    <a:bodyPr wrap="square"/>
                    <a:lstStyle/>
                    <a:p>
                      <a:r>
                        <a:rPr sz="2000" b="0">
                          <a:solidFill>
                            <a:srgbClr val="222222"/>
                          </a:solidFill>
                          <a:latin typeface="Arial"/>
                        </a:rPr>
                        <a:t>−1.594</a:t>
                      </a:r>
                    </a:p>
                  </a:txBody>
                  <a:tcPr marL="109728" marR="109728" marT="45720" marB="45720" anchor="ctr">
                    <a:solidFill>
                      <a:srgbClr val="FFFFFF"/>
                    </a:solidFill>
                  </a:tcPr>
                </a:tc>
                <a:tc>
                  <a:txBody>
                    <a:bodyPr wrap="square"/>
                    <a:lstStyle/>
                    <a:p>
                      <a:r>
                        <a:rPr sz="2000" b="0">
                          <a:solidFill>
                            <a:srgbClr val="222222"/>
                          </a:solidFill>
                          <a:latin typeface="Arial"/>
                        </a:rPr>
                        <a:t>Not significant</a:t>
                      </a:r>
                    </a:p>
                  </a:txBody>
                  <a:tcPr marL="109728" marR="109728" marT="45720" marB="45720" anchor="ctr">
                    <a:solidFill>
                      <a:srgbClr val="FFFFFF"/>
                    </a:solidFill>
                  </a:tcPr>
                </a:tc>
              </a:tr>
              <a:tr h="484632">
                <a:tc>
                  <a:txBody>
                    <a:bodyPr wrap="square"/>
                    <a:lstStyle/>
                    <a:p>
                      <a:r>
                        <a:rPr sz="2000" b="1">
                          <a:solidFill>
                            <a:srgbClr val="222222"/>
                          </a:solidFill>
                          <a:latin typeface="Arial"/>
                        </a:rPr>
                        <a:t>Income inequality²</a:t>
                      </a:r>
                    </a:p>
                  </a:txBody>
                  <a:tcPr marL="109728" marR="109728" marT="45720" marB="45720" anchor="ctr">
                    <a:solidFill>
                      <a:srgbClr val="F4F4F4"/>
                    </a:solidFill>
                  </a:tcPr>
                </a:tc>
                <a:tc>
                  <a:txBody>
                    <a:bodyPr wrap="square"/>
                    <a:lstStyle/>
                    <a:p>
                      <a:r>
                        <a:rPr sz="2000" b="0">
                          <a:solidFill>
                            <a:srgbClr val="222222"/>
                          </a:solidFill>
                          <a:latin typeface="Arial"/>
                        </a:rPr>
                        <a:t>+165.927</a:t>
                      </a:r>
                    </a:p>
                  </a:txBody>
                  <a:tcPr marL="109728" marR="109728" marT="45720" marB="45720" anchor="ctr">
                    <a:solidFill>
                      <a:srgbClr val="F4F4F4"/>
                    </a:solidFill>
                  </a:tcPr>
                </a:tc>
                <a:tc>
                  <a:txBody>
                    <a:bodyPr wrap="square"/>
                    <a:lstStyle/>
                    <a:p>
                      <a:r>
                        <a:rPr sz="2000" b="0">
                          <a:solidFill>
                            <a:srgbClr val="222222"/>
                          </a:solidFill>
                          <a:latin typeface="Arial"/>
                        </a:rPr>
                        <a:t>1.323</a:t>
                      </a:r>
                    </a:p>
                  </a:txBody>
                  <a:tcPr marL="109728" marR="109728" marT="45720" marB="45720" anchor="ctr">
                    <a:solidFill>
                      <a:srgbClr val="F4F4F4"/>
                    </a:solidFill>
                  </a:tcPr>
                </a:tc>
                <a:tc>
                  <a:txBody>
                    <a:bodyPr wrap="square"/>
                    <a:lstStyle/>
                    <a:p>
                      <a:r>
                        <a:rPr sz="2000" b="0">
                          <a:solidFill>
                            <a:srgbClr val="222222"/>
                          </a:solidFill>
                          <a:latin typeface="Arial"/>
                        </a:rPr>
                        <a:t>Not significant</a:t>
                      </a:r>
                    </a:p>
                  </a:txBody>
                  <a:tcPr marL="109728" marR="109728" marT="45720" marB="45720" anchor="ctr">
                    <a:solidFill>
                      <a:srgbClr val="F4F4F4"/>
                    </a:solidFill>
                  </a:tcPr>
                </a:tc>
              </a:tr>
              <a:tr h="484632">
                <a:tc>
                  <a:txBody>
                    <a:bodyPr wrap="square"/>
                    <a:lstStyle/>
                    <a:p>
                      <a:r>
                        <a:rPr sz="2000" b="1">
                          <a:solidFill>
                            <a:srgbClr val="222222"/>
                          </a:solidFill>
                          <a:latin typeface="Arial"/>
                        </a:rPr>
                        <a:t>Inflation</a:t>
                      </a:r>
                    </a:p>
                  </a:txBody>
                  <a:tcPr marL="109728" marR="109728" marT="45720" marB="45720" anchor="ctr">
                    <a:solidFill>
                      <a:srgbClr val="FFFFFF"/>
                    </a:solidFill>
                  </a:tcPr>
                </a:tc>
                <a:tc>
                  <a:txBody>
                    <a:bodyPr wrap="square"/>
                    <a:lstStyle/>
                    <a:p>
                      <a:r>
                        <a:rPr sz="2000" b="0">
                          <a:solidFill>
                            <a:srgbClr val="222222"/>
                          </a:solidFill>
                          <a:latin typeface="Arial"/>
                        </a:rPr>
                        <a:t>−0.036</a:t>
                      </a:r>
                    </a:p>
                  </a:txBody>
                  <a:tcPr marL="109728" marR="109728" marT="45720" marB="45720" anchor="ctr">
                    <a:solidFill>
                      <a:srgbClr val="FFFFFF"/>
                    </a:solidFill>
                  </a:tcPr>
                </a:tc>
                <a:tc>
                  <a:txBody>
                    <a:bodyPr wrap="square"/>
                    <a:lstStyle/>
                    <a:p>
                      <a:r>
                        <a:rPr sz="2000" b="0">
                          <a:solidFill>
                            <a:srgbClr val="222222"/>
                          </a:solidFill>
                          <a:latin typeface="Arial"/>
                        </a:rPr>
                        <a:t>−1.327</a:t>
                      </a:r>
                    </a:p>
                  </a:txBody>
                  <a:tcPr marL="109728" marR="109728" marT="45720" marB="45720" anchor="ctr">
                    <a:solidFill>
                      <a:srgbClr val="FFFFFF"/>
                    </a:solidFill>
                  </a:tcPr>
                </a:tc>
                <a:tc>
                  <a:txBody>
                    <a:bodyPr wrap="square"/>
                    <a:lstStyle/>
                    <a:p>
                      <a:r>
                        <a:rPr sz="2000" b="0">
                          <a:solidFill>
                            <a:srgbClr val="222222"/>
                          </a:solidFill>
                          <a:latin typeface="Arial"/>
                        </a:rPr>
                        <a:t>Not significant</a:t>
                      </a:r>
                    </a:p>
                  </a:txBody>
                  <a:tcPr marL="109728" marR="109728" marT="45720" marB="45720" anchor="ctr">
                    <a:solidFill>
                      <a:srgbClr val="FFFFFF"/>
                    </a:solidFill>
                  </a:tcPr>
                </a:tc>
              </a:tr>
              <a:tr h="484632">
                <a:tc>
                  <a:txBody>
                    <a:bodyPr wrap="square"/>
                    <a:lstStyle/>
                    <a:p>
                      <a:r>
                        <a:rPr sz="2000" b="1">
                          <a:solidFill>
                            <a:srgbClr val="222222"/>
                          </a:solidFill>
                          <a:latin typeface="Arial"/>
                        </a:rPr>
                        <a:t>Cost of migration</a:t>
                      </a:r>
                    </a:p>
                  </a:txBody>
                  <a:tcPr marL="109728" marR="109728" marT="45720" marB="45720" anchor="ctr">
                    <a:solidFill>
                      <a:srgbClr val="F4F4F4"/>
                    </a:solidFill>
                  </a:tcPr>
                </a:tc>
                <a:tc>
                  <a:txBody>
                    <a:bodyPr wrap="square"/>
                    <a:lstStyle/>
                    <a:p>
                      <a:r>
                        <a:rPr sz="2000" b="0">
                          <a:solidFill>
                            <a:srgbClr val="222222"/>
                          </a:solidFill>
                          <a:latin typeface="Arial"/>
                        </a:rPr>
                        <a:t>−0.002</a:t>
                      </a:r>
                    </a:p>
                  </a:txBody>
                  <a:tcPr marL="109728" marR="109728" marT="45720" marB="45720" anchor="ctr">
                    <a:solidFill>
                      <a:srgbClr val="F4F4F4"/>
                    </a:solidFill>
                  </a:tcPr>
                </a:tc>
                <a:tc>
                  <a:txBody>
                    <a:bodyPr wrap="square"/>
                    <a:lstStyle/>
                    <a:p>
                      <a:r>
                        <a:rPr sz="2000" b="0">
                          <a:solidFill>
                            <a:srgbClr val="222222"/>
                          </a:solidFill>
                          <a:latin typeface="Arial"/>
                        </a:rPr>
                        <a:t>−0.429</a:t>
                      </a:r>
                    </a:p>
                  </a:txBody>
                  <a:tcPr marL="109728" marR="109728" marT="45720" marB="45720" anchor="ctr">
                    <a:solidFill>
                      <a:srgbClr val="F4F4F4"/>
                    </a:solidFill>
                  </a:tcPr>
                </a:tc>
                <a:tc>
                  <a:txBody>
                    <a:bodyPr wrap="square"/>
                    <a:lstStyle/>
                    <a:p>
                      <a:r>
                        <a:rPr sz="2000" b="0">
                          <a:solidFill>
                            <a:srgbClr val="222222"/>
                          </a:solidFill>
                          <a:latin typeface="Arial"/>
                        </a:rPr>
                        <a:t>Not significant</a:t>
                      </a:r>
                    </a:p>
                  </a:txBody>
                  <a:tcPr marL="109728" marR="109728" marT="45720" marB="45720" anchor="ctr">
                    <a:solidFill>
                      <a:srgbClr val="F4F4F4"/>
                    </a:solidFill>
                  </a:tcPr>
                </a:tc>
              </a:tr>
              <a:tr h="484632">
                <a:tc>
                  <a:txBody>
                    <a:bodyPr wrap="square"/>
                    <a:lstStyle/>
                    <a:p>
                      <a:r>
                        <a:rPr sz="2000" b="1">
                          <a:solidFill>
                            <a:srgbClr val="222222"/>
                          </a:solidFill>
                          <a:latin typeface="Arial"/>
                        </a:rPr>
                        <a:t>Per capita income</a:t>
                      </a:r>
                    </a:p>
                  </a:txBody>
                  <a:tcPr marL="109728" marR="109728" marT="45720" marB="45720" anchor="ctr">
                    <a:solidFill>
                      <a:srgbClr val="FFFFFF"/>
                    </a:solidFill>
                  </a:tcPr>
                </a:tc>
                <a:tc>
                  <a:txBody>
                    <a:bodyPr wrap="square"/>
                    <a:lstStyle/>
                    <a:p>
                      <a:r>
                        <a:rPr sz="2000" b="0">
                          <a:solidFill>
                            <a:srgbClr val="222222"/>
                          </a:solidFill>
                          <a:latin typeface="Arial"/>
                        </a:rPr>
                        <a:t>−0.0002</a:t>
                      </a:r>
                    </a:p>
                  </a:txBody>
                  <a:tcPr marL="109728" marR="109728" marT="45720" marB="45720" anchor="ctr">
                    <a:solidFill>
                      <a:srgbClr val="FFFFFF"/>
                    </a:solidFill>
                  </a:tcPr>
                </a:tc>
                <a:tc>
                  <a:txBody>
                    <a:bodyPr wrap="square"/>
                    <a:lstStyle/>
                    <a:p>
                      <a:r>
                        <a:rPr sz="2000" b="0">
                          <a:solidFill>
                            <a:srgbClr val="222222"/>
                          </a:solidFill>
                          <a:latin typeface="Arial"/>
                        </a:rPr>
                        <a:t>−0.293</a:t>
                      </a:r>
                    </a:p>
                  </a:txBody>
                  <a:tcPr marL="109728" marR="109728" marT="45720" marB="45720" anchor="ctr">
                    <a:solidFill>
                      <a:srgbClr val="FFFFFF"/>
                    </a:solidFill>
                  </a:tcPr>
                </a:tc>
                <a:tc>
                  <a:txBody>
                    <a:bodyPr wrap="square"/>
                    <a:lstStyle/>
                    <a:p>
                      <a:r>
                        <a:rPr sz="2000" b="0">
                          <a:solidFill>
                            <a:srgbClr val="222222"/>
                          </a:solidFill>
                          <a:latin typeface="Arial"/>
                        </a:rPr>
                        <a:t>Not significant</a:t>
                      </a:r>
                    </a:p>
                  </a:txBody>
                  <a:tcPr marL="109728" marR="109728" marT="45720" marB="45720" anchor="ctr">
                    <a:solidFill>
                      <a:srgbClr val="FFFFFF"/>
                    </a:solidFill>
                  </a:tcPr>
                </a:tc>
              </a:tr>
            </a:tbl>
          </a:graphicData>
        </a:graphic>
      </p:graphicFrame>
      <p:sp>
        <p:nvSpPr>
          <p:cNvPr id="8" name="Model fit"/>
          <p:cNvSpPr txBox="1"/>
          <p:nvPr/>
        </p:nvSpPr>
        <p:spPr>
          <a:xfrm>
            <a:off x="914400" y="8641080"/>
            <a:ext cx="16459200" cy="914400"/>
          </a:xfrm>
          <a:prstGeom prst="rect">
            <a:avLst/>
          </a:prstGeom>
          <a:noFill/>
        </p:spPr>
        <p:txBody>
          <a:bodyPr wrap="square" lIns="0" rIns="0" tIns="0" bIns="0" anchor="t">
            <a:noAutofit/>
          </a:bodyPr>
          <a:lstStyle/>
          <a:p>
            <a:pPr algn="l">
              <a:lnSpc>
                <a:spcPct val="105000"/>
              </a:lnSpc>
              <a:spcAft>
                <a:spcPts val="1000"/>
              </a:spcAft>
            </a:pPr>
            <a:r>
              <a:rPr sz="2200" b="1" i="0">
                <a:solidFill>
                  <a:srgbClr val="7A1916"/>
                </a:solidFill>
                <a:latin typeface="Arial"/>
              </a:rPr>
              <a:t>Model fit:</a:t>
            </a:r>
            <a:r>
              <a:rPr sz="2200" b="0" i="0">
                <a:solidFill>
                  <a:srgbClr val="222222"/>
                </a:solidFill>
                <a:latin typeface="Arial"/>
              </a:rPr>
              <a:t> adjusted R² = 0.63  ·  ECT = −0.776 (78% of any gap closes within a year)  ·  F-statistic = 5.848 (p = 0.000)</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91421" y="9908915"/>
            <a:ext cx="17981581" cy="369456"/>
          </a:xfrm>
          <a:prstGeom prst="rect">
            <a:avLst/>
          </a:prstGeom>
        </p:spPr>
        <p:txBody>
          <a:bodyPr anchor="t" rtlCol="false" tIns="0" lIns="0" bIns="0" rIns="0">
            <a:spAutoFit/>
          </a:bodyPr>
          <a:lstStyle/>
          <a:p>
            <a:pPr algn="ctr">
              <a:lnSpc>
                <a:spcPts val="1377"/>
              </a:lnSpc>
            </a:pPr>
            <a:r>
              <a:rPr lang="en-US" b="true" sz="1275">
                <a:solidFill>
                  <a:srgbClr val="3A3A3A"/>
                </a:solidFill>
                <a:latin typeface="Arial Bold"/>
                <a:ea typeface="Arial Bold"/>
                <a:cs typeface="Arial Bold"/>
                <a:sym typeface="Arial Bold"/>
              </a:rPr>
              <a:t>© 2026 University of Southeastern Philippines |</a:t>
            </a:r>
            <a:r>
              <a:rPr lang="en-US" sz="1275">
                <a:solidFill>
                  <a:srgbClr val="3A3A3A"/>
                </a:solidFill>
                <a:latin typeface="Arial"/>
                <a:ea typeface="Arial"/>
                <a:cs typeface="Arial"/>
                <a:sym typeface="Arial"/>
              </a:rPr>
              <a:t> All Rights Reserved. This presentation contains confidential and proprietary information. Photography, video, and audio recording of these materials are prohibited without prior authorization.</a:t>
            </a:r>
          </a:p>
        </p:txBody>
      </p:sp>
      <p:sp>
        <p:nvSpPr>
          <p:cNvPr id="5" name="Title"/>
          <p:cNvSpPr txBox="1"/>
          <p:nvPr/>
        </p:nvSpPr>
        <p:spPr>
          <a:xfrm>
            <a:off x="914400" y="1600200"/>
            <a:ext cx="16459200" cy="914400"/>
          </a:xfrm>
          <a:prstGeom prst="rect">
            <a:avLst/>
          </a:prstGeom>
          <a:noFill/>
        </p:spPr>
        <p:txBody>
          <a:bodyPr wrap="square" lIns="0" rIns="0" tIns="0" bIns="0" anchor="ctr">
            <a:noAutofit/>
          </a:bodyPr>
          <a:lstStyle/>
          <a:p>
            <a:pPr algn="l">
              <a:lnSpc>
                <a:spcPct val="105000"/>
              </a:lnSpc>
              <a:spcAft>
                <a:spcPts val="1000"/>
              </a:spcAft>
            </a:pPr>
            <a:r>
              <a:rPr sz="4800" b="1" i="0">
                <a:solidFill>
                  <a:srgbClr val="7A1916"/>
                </a:solidFill>
                <a:latin typeface="Arial"/>
              </a:rPr>
              <a:t>5. Key findings: four significant push factors</a:t>
            </a:r>
          </a:p>
        </p:txBody>
      </p:sp>
      <p:sp>
        <p:nvSpPr>
          <p:cNvPr id="6" name="Key message"/>
          <p:cNvSpPr txBox="1"/>
          <p:nvPr/>
        </p:nvSpPr>
        <p:spPr>
          <a:xfrm>
            <a:off x="914400" y="2606040"/>
            <a:ext cx="16459200" cy="822960"/>
          </a:xfrm>
          <a:prstGeom prst="rect">
            <a:avLst/>
          </a:prstGeom>
          <a:noFill/>
        </p:spPr>
        <p:txBody>
          <a:bodyPr wrap="square" lIns="0" rIns="0" tIns="0" bIns="0" anchor="t">
            <a:noAutofit/>
          </a:bodyPr>
          <a:lstStyle/>
          <a:p>
            <a:pPr algn="l">
              <a:lnSpc>
                <a:spcPct val="105000"/>
              </a:lnSpc>
              <a:spcAft>
                <a:spcPts val="1000"/>
              </a:spcAft>
            </a:pPr>
            <a:r>
              <a:rPr sz="2800" b="1" i="1">
                <a:solidFill>
                  <a:srgbClr val="222222"/>
                </a:solidFill>
                <a:latin typeface="Arial"/>
              </a:rPr>
              <a:t>Unemployment raises emigration; three other push factors lower it.</a:t>
            </a:r>
          </a:p>
        </p:txBody>
      </p:sp>
      <p:sp>
        <p:nvSpPr>
          <p:cNvPr id="7" name="Factor 1 box"/>
          <p:cNvSpPr/>
          <p:nvPr/>
        </p:nvSpPr>
        <p:spPr>
          <a:xfrm>
            <a:off x="914400" y="3703320"/>
            <a:ext cx="8046720" cy="2743200"/>
          </a:xfrm>
          <a:prstGeom prst="roundRect">
            <a:avLst>
              <a:gd name="adj" fmla="val 4000"/>
            </a:avLst>
          </a:prstGeom>
          <a:solidFill>
            <a:srgbClr val="F6E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tor 1"/>
          <p:cNvSpPr txBox="1"/>
          <p:nvPr/>
        </p:nvSpPr>
        <p:spPr>
          <a:xfrm>
            <a:off x="1280160" y="3977639"/>
            <a:ext cx="7315200" cy="2286000"/>
          </a:xfrm>
          <a:prstGeom prst="rect">
            <a:avLst/>
          </a:prstGeom>
          <a:noFill/>
        </p:spPr>
        <p:txBody>
          <a:bodyPr wrap="square" lIns="0" rIns="0" tIns="0" bIns="0" anchor="t">
            <a:noAutofit/>
          </a:bodyPr>
          <a:lstStyle/>
          <a:p>
            <a:pPr algn="l">
              <a:lnSpc>
                <a:spcPct val="105000"/>
              </a:lnSpc>
              <a:spcAft>
                <a:spcPts val="1200"/>
              </a:spcAft>
            </a:pPr>
            <a:r>
              <a:rPr sz="3000" b="1" i="0">
                <a:solidFill>
                  <a:srgbClr val="7A1916"/>
                </a:solidFill>
                <a:latin typeface="Arial"/>
              </a:rPr>
              <a:t>Unemployment ↑ → emigration ↑</a:t>
            </a:r>
          </a:p>
          <a:p>
            <a:pPr algn="l">
              <a:lnSpc>
                <a:spcPct val="105000"/>
              </a:lnSpc>
              <a:spcAft>
                <a:spcPts val="1000"/>
              </a:spcAft>
            </a:pPr>
            <a:r>
              <a:rPr sz="2600" b="0" i="0">
                <a:solidFill>
                  <a:srgbClr val="222222"/>
                </a:solidFill>
                <a:latin typeface="Arial"/>
              </a:rPr>
              <a:t>Coefficient +0.236. Emigration is a “safety valve” when there are not enough jobs.</a:t>
            </a:r>
          </a:p>
        </p:txBody>
      </p:sp>
      <p:sp>
        <p:nvSpPr>
          <p:cNvPr id="9" name="Factor 2 box"/>
          <p:cNvSpPr/>
          <p:nvPr/>
        </p:nvSpPr>
        <p:spPr>
          <a:xfrm>
            <a:off x="9326880" y="3703320"/>
            <a:ext cx="8046720" cy="2743200"/>
          </a:xfrm>
          <a:prstGeom prst="roundRect">
            <a:avLst>
              <a:gd name="adj" fmla="val 4000"/>
            </a:avLst>
          </a:prstGeom>
          <a:solidFill>
            <a:srgbClr val="F6E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ctor 2"/>
          <p:cNvSpPr txBox="1"/>
          <p:nvPr/>
        </p:nvSpPr>
        <p:spPr>
          <a:xfrm>
            <a:off x="9692640" y="3977639"/>
            <a:ext cx="7315200" cy="2286000"/>
          </a:xfrm>
          <a:prstGeom prst="rect">
            <a:avLst/>
          </a:prstGeom>
          <a:noFill/>
        </p:spPr>
        <p:txBody>
          <a:bodyPr wrap="square" lIns="0" rIns="0" tIns="0" bIns="0" anchor="t">
            <a:noAutofit/>
          </a:bodyPr>
          <a:lstStyle/>
          <a:p>
            <a:pPr algn="l">
              <a:lnSpc>
                <a:spcPct val="105000"/>
              </a:lnSpc>
              <a:spcAft>
                <a:spcPts val="1200"/>
              </a:spcAft>
            </a:pPr>
            <a:r>
              <a:rPr sz="3000" b="1" i="0">
                <a:solidFill>
                  <a:srgbClr val="7A1916"/>
                </a:solidFill>
                <a:latin typeface="Arial"/>
              </a:rPr>
              <a:t>Adult literacy ↑ → emigration ↓</a:t>
            </a:r>
          </a:p>
          <a:p>
            <a:pPr algn="l">
              <a:lnSpc>
                <a:spcPct val="105000"/>
              </a:lnSpc>
              <a:spcAft>
                <a:spcPts val="1000"/>
              </a:spcAft>
            </a:pPr>
            <a:r>
              <a:rPr sz="2600" b="0" i="0">
                <a:solidFill>
                  <a:srgbClr val="222222"/>
                </a:solidFill>
                <a:latin typeface="Arial"/>
              </a:rPr>
              <a:t>Coefficient −0.659. The opposite of human capital theory. The authors say most migrants do low-skilled jobs.</a:t>
            </a:r>
          </a:p>
        </p:txBody>
      </p:sp>
      <p:sp>
        <p:nvSpPr>
          <p:cNvPr id="11" name="Factor 3 box"/>
          <p:cNvSpPr/>
          <p:nvPr/>
        </p:nvSpPr>
        <p:spPr>
          <a:xfrm>
            <a:off x="914400" y="6675120"/>
            <a:ext cx="8046720" cy="2743200"/>
          </a:xfrm>
          <a:prstGeom prst="roundRect">
            <a:avLst>
              <a:gd name="adj" fmla="val 4000"/>
            </a:avLst>
          </a:prstGeom>
          <a:solidFill>
            <a:srgbClr val="F6E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actor 3"/>
          <p:cNvSpPr txBox="1"/>
          <p:nvPr/>
        </p:nvSpPr>
        <p:spPr>
          <a:xfrm>
            <a:off x="1280160" y="6949440"/>
            <a:ext cx="7315200" cy="2286000"/>
          </a:xfrm>
          <a:prstGeom prst="rect">
            <a:avLst/>
          </a:prstGeom>
          <a:noFill/>
        </p:spPr>
        <p:txBody>
          <a:bodyPr wrap="square" lIns="0" rIns="0" tIns="0" bIns="0" anchor="t">
            <a:noAutofit/>
          </a:bodyPr>
          <a:lstStyle/>
          <a:p>
            <a:pPr algn="l">
              <a:lnSpc>
                <a:spcPct val="105000"/>
              </a:lnSpc>
              <a:spcAft>
                <a:spcPts val="1200"/>
              </a:spcAft>
            </a:pPr>
            <a:r>
              <a:rPr sz="3000" b="1" i="0">
                <a:solidFill>
                  <a:srgbClr val="7A1916"/>
                </a:solidFill>
                <a:latin typeface="Arial"/>
              </a:rPr>
              <a:t>Political instability ↑ → emigration ↓</a:t>
            </a:r>
          </a:p>
          <a:p>
            <a:pPr algn="l">
              <a:lnSpc>
                <a:spcPct val="105000"/>
              </a:lnSpc>
              <a:spcAft>
                <a:spcPts val="1000"/>
              </a:spcAft>
            </a:pPr>
            <a:r>
              <a:rPr sz="2600" b="0" i="0">
                <a:solidFill>
                  <a:srgbClr val="222222"/>
                </a:solidFill>
                <a:latin typeface="Arial"/>
              </a:rPr>
              <a:t>Coefficient −0.482. The migration share fell in unstable years (1983, 1986, 2001, 2005).</a:t>
            </a:r>
          </a:p>
        </p:txBody>
      </p:sp>
      <p:sp>
        <p:nvSpPr>
          <p:cNvPr id="13" name="Factor 4 box"/>
          <p:cNvSpPr/>
          <p:nvPr/>
        </p:nvSpPr>
        <p:spPr>
          <a:xfrm>
            <a:off x="9326880" y="6675120"/>
            <a:ext cx="8046720" cy="2743200"/>
          </a:xfrm>
          <a:prstGeom prst="roundRect">
            <a:avLst>
              <a:gd name="adj" fmla="val 4000"/>
            </a:avLst>
          </a:prstGeom>
          <a:solidFill>
            <a:srgbClr val="F6E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actor 4"/>
          <p:cNvSpPr txBox="1"/>
          <p:nvPr/>
        </p:nvSpPr>
        <p:spPr>
          <a:xfrm>
            <a:off x="9692640" y="6949440"/>
            <a:ext cx="7315200" cy="2286000"/>
          </a:xfrm>
          <a:prstGeom prst="rect">
            <a:avLst/>
          </a:prstGeom>
          <a:noFill/>
        </p:spPr>
        <p:txBody>
          <a:bodyPr wrap="square" lIns="0" rIns="0" tIns="0" bIns="0" anchor="t">
            <a:noAutofit/>
          </a:bodyPr>
          <a:lstStyle/>
          <a:p>
            <a:pPr algn="l">
              <a:lnSpc>
                <a:spcPct val="105000"/>
              </a:lnSpc>
              <a:spcAft>
                <a:spcPts val="1200"/>
              </a:spcAft>
            </a:pPr>
            <a:r>
              <a:rPr sz="3000" b="1" i="0">
                <a:solidFill>
                  <a:srgbClr val="7A1916"/>
                </a:solidFill>
                <a:latin typeface="Arial"/>
              </a:rPr>
              <a:t>Population density ↑ → emigration ↓</a:t>
            </a:r>
          </a:p>
          <a:p>
            <a:pPr algn="l">
              <a:lnSpc>
                <a:spcPct val="105000"/>
              </a:lnSpc>
              <a:spcAft>
                <a:spcPts val="1000"/>
              </a:spcAft>
            </a:pPr>
            <a:r>
              <a:rPr sz="2600" b="0" i="0">
                <a:solidFill>
                  <a:srgbClr val="222222"/>
                </a:solidFill>
                <a:latin typeface="Arial"/>
              </a:rPr>
              <a:t>Coefficient −0.254. The opposite of what was expected; the authors cannot fully explain it.</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91421" y="9983057"/>
            <a:ext cx="17981581" cy="369456"/>
          </a:xfrm>
          <a:prstGeom prst="rect">
            <a:avLst/>
          </a:prstGeom>
        </p:spPr>
        <p:txBody>
          <a:bodyPr anchor="t" rtlCol="false" tIns="0" lIns="0" bIns="0" rIns="0">
            <a:spAutoFit/>
          </a:bodyPr>
          <a:lstStyle/>
          <a:p>
            <a:pPr algn="ctr">
              <a:lnSpc>
                <a:spcPts val="1377"/>
              </a:lnSpc>
            </a:pPr>
            <a:r>
              <a:rPr lang="en-US" b="true" sz="1275">
                <a:solidFill>
                  <a:srgbClr val="3A3A3A"/>
                </a:solidFill>
                <a:latin typeface="Arial Bold"/>
                <a:ea typeface="Arial Bold"/>
                <a:cs typeface="Arial Bold"/>
                <a:sym typeface="Arial Bold"/>
              </a:rPr>
              <a:t>© 2026 University of Southeastern Philippines |</a:t>
            </a:r>
            <a:r>
              <a:rPr lang="en-US" sz="1275">
                <a:solidFill>
                  <a:srgbClr val="3A3A3A"/>
                </a:solidFill>
                <a:latin typeface="Arial"/>
                <a:ea typeface="Arial"/>
                <a:cs typeface="Arial"/>
                <a:sym typeface="Arial"/>
              </a:rPr>
              <a:t> All Rights Reserved. This presentation contains confidential and proprietary information. Photography, video, and audio recording of these materials are prohibited without prior authorization.</a:t>
            </a:r>
          </a:p>
        </p:txBody>
      </p:sp>
      <p:sp>
        <p:nvSpPr>
          <p:cNvPr id="5" name="Title"/>
          <p:cNvSpPr txBox="1"/>
          <p:nvPr/>
        </p:nvSpPr>
        <p:spPr>
          <a:xfrm>
            <a:off x="914400" y="1600200"/>
            <a:ext cx="16459200" cy="914400"/>
          </a:xfrm>
          <a:prstGeom prst="rect">
            <a:avLst/>
          </a:prstGeom>
          <a:noFill/>
        </p:spPr>
        <p:txBody>
          <a:bodyPr wrap="square" lIns="0" rIns="0" tIns="0" bIns="0" anchor="ctr">
            <a:noAutofit/>
          </a:bodyPr>
          <a:lstStyle/>
          <a:p>
            <a:pPr algn="l">
              <a:lnSpc>
                <a:spcPct val="105000"/>
              </a:lnSpc>
              <a:spcAft>
                <a:spcPts val="1000"/>
              </a:spcAft>
            </a:pPr>
            <a:r>
              <a:rPr sz="4800" b="1" i="0">
                <a:solidFill>
                  <a:srgbClr val="7A1916"/>
                </a:solidFill>
                <a:latin typeface="Arial"/>
              </a:rPr>
              <a:t>5. Key findings: other results and conclusions</a:t>
            </a:r>
          </a:p>
        </p:txBody>
      </p:sp>
      <p:sp>
        <p:nvSpPr>
          <p:cNvPr id="6" name="Key message"/>
          <p:cNvSpPr txBox="1"/>
          <p:nvPr/>
        </p:nvSpPr>
        <p:spPr>
          <a:xfrm>
            <a:off x="914400" y="2606040"/>
            <a:ext cx="16459200" cy="822960"/>
          </a:xfrm>
          <a:prstGeom prst="rect">
            <a:avLst/>
          </a:prstGeom>
          <a:noFill/>
        </p:spPr>
        <p:txBody>
          <a:bodyPr wrap="square" lIns="0" rIns="0" tIns="0" bIns="0" anchor="t">
            <a:noAutofit/>
          </a:bodyPr>
          <a:lstStyle/>
          <a:p>
            <a:pPr algn="l">
              <a:lnSpc>
                <a:spcPct val="105000"/>
              </a:lnSpc>
              <a:spcAft>
                <a:spcPts val="1000"/>
              </a:spcAft>
            </a:pPr>
            <a:r>
              <a:rPr sz="2800" b="1" i="1">
                <a:solidFill>
                  <a:srgbClr val="222222"/>
                </a:solidFill>
                <a:latin typeface="Arial"/>
              </a:rPr>
              <a:t>Income, inflation, migration cost and inequality do not significantly affect emigration.</a:t>
            </a:r>
          </a:p>
        </p:txBody>
      </p:sp>
      <p:sp>
        <p:nvSpPr>
          <p:cNvPr id="7" name="Not significant box"/>
          <p:cNvSpPr/>
          <p:nvPr/>
        </p:nvSpPr>
        <p:spPr>
          <a:xfrm>
            <a:off x="914400" y="3657600"/>
            <a:ext cx="7863840" cy="585216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ot significant text"/>
          <p:cNvSpPr txBox="1"/>
          <p:nvPr/>
        </p:nvSpPr>
        <p:spPr>
          <a:xfrm>
            <a:off x="1280160" y="3931920"/>
            <a:ext cx="7132320" cy="5394960"/>
          </a:xfrm>
          <a:prstGeom prst="rect">
            <a:avLst/>
          </a:prstGeom>
          <a:noFill/>
        </p:spPr>
        <p:txBody>
          <a:bodyPr wrap="square" lIns="0" rIns="0" tIns="0" bIns="0" anchor="t">
            <a:noAutofit/>
          </a:bodyPr>
          <a:lstStyle/>
          <a:p>
            <a:pPr algn="l">
              <a:lnSpc>
                <a:spcPct val="105000"/>
              </a:lnSpc>
              <a:spcAft>
                <a:spcPts val="1200"/>
              </a:spcAft>
            </a:pPr>
            <a:r>
              <a:rPr sz="2800" b="1" i="0">
                <a:solidFill>
                  <a:srgbClr val="7A1916"/>
                </a:solidFill>
                <a:latin typeface="Arial"/>
              </a:rPr>
              <a:t>Not statistically significant</a:t>
            </a:r>
          </a:p>
          <a:p>
            <a:pPr algn="l" marL="384048" indent="-384048">
              <a:lnSpc>
                <a:spcPct val="105000"/>
              </a:lnSpc>
              <a:spcAft>
                <a:spcPts val="1400"/>
              </a:spcAft>
              <a:buClr>
                <a:srgbClr val="7A1916"/>
              </a:buClr>
              <a:buFont typeface="Arial"/>
              <a:buChar char="•"/>
            </a:pPr>
            <a:r>
              <a:rPr sz="2600" b="1" i="0">
                <a:solidFill>
                  <a:srgbClr val="7A1916"/>
                </a:solidFill>
                <a:latin typeface="Arial"/>
              </a:rPr>
              <a:t>Cost of migration</a:t>
            </a:r>
            <a:r>
              <a:rPr sz="2600" b="0" i="0">
                <a:solidFill>
                  <a:srgbClr val="222222"/>
                </a:solidFill>
                <a:latin typeface="Arial"/>
              </a:rPr>
              <a:t> and </a:t>
            </a:r>
            <a:r>
              <a:rPr sz="2600" b="1" i="0">
                <a:solidFill>
                  <a:srgbClr val="7A1916"/>
                </a:solidFill>
                <a:latin typeface="Arial"/>
              </a:rPr>
              <a:t>per capita income</a:t>
            </a:r>
            <a:r>
              <a:rPr sz="2600" b="0" i="0">
                <a:solidFill>
                  <a:srgbClr val="222222"/>
                </a:solidFill>
                <a:latin typeface="Arial"/>
              </a:rPr>
              <a:t>: negative, as expected</a:t>
            </a:r>
          </a:p>
          <a:p>
            <a:pPr algn="l" marL="384048" indent="-384048">
              <a:lnSpc>
                <a:spcPct val="105000"/>
              </a:lnSpc>
              <a:spcAft>
                <a:spcPts val="1400"/>
              </a:spcAft>
              <a:buClr>
                <a:srgbClr val="7A1916"/>
              </a:buClr>
              <a:buFont typeface="Arial"/>
              <a:buChar char="•"/>
            </a:pPr>
            <a:r>
              <a:rPr sz="2600" b="1" i="0">
                <a:solidFill>
                  <a:srgbClr val="7A1916"/>
                </a:solidFill>
                <a:latin typeface="Arial"/>
              </a:rPr>
              <a:t>Inflation</a:t>
            </a:r>
            <a:r>
              <a:rPr sz="2600" b="0" i="0">
                <a:solidFill>
                  <a:srgbClr val="222222"/>
                </a:solidFill>
                <a:latin typeface="Arial"/>
              </a:rPr>
              <a:t>: negative, as expected</a:t>
            </a:r>
          </a:p>
          <a:p>
            <a:pPr algn="l" marL="384048" indent="-384048">
              <a:lnSpc>
                <a:spcPct val="105000"/>
              </a:lnSpc>
              <a:spcAft>
                <a:spcPts val="1400"/>
              </a:spcAft>
              <a:buClr>
                <a:srgbClr val="7A1916"/>
              </a:buClr>
              <a:buFont typeface="Arial"/>
              <a:buChar char="•"/>
            </a:pPr>
            <a:r>
              <a:rPr sz="2600" b="1" i="0">
                <a:solidFill>
                  <a:srgbClr val="7A1916"/>
                </a:solidFill>
                <a:latin typeface="Arial"/>
              </a:rPr>
              <a:t>Income inequality</a:t>
            </a:r>
            <a:r>
              <a:rPr sz="2600" b="0" i="0">
                <a:solidFill>
                  <a:srgbClr val="222222"/>
                </a:solidFill>
                <a:latin typeface="Arial"/>
              </a:rPr>
              <a:t> and </a:t>
            </a:r>
            <a:r>
              <a:rPr sz="2600" b="1" i="0">
                <a:solidFill>
                  <a:srgbClr val="7A1916"/>
                </a:solidFill>
                <a:latin typeface="Arial"/>
              </a:rPr>
              <a:t>income inequality²</a:t>
            </a:r>
            <a:r>
              <a:rPr sz="2600" b="0" i="0">
                <a:solidFill>
                  <a:srgbClr val="222222"/>
                </a:solidFill>
                <a:latin typeface="Arial"/>
              </a:rPr>
              <a:t>: the Roy effect does not hold for the Philippines</a:t>
            </a:r>
          </a:p>
        </p:txBody>
      </p:sp>
      <p:sp>
        <p:nvSpPr>
          <p:cNvPr id="9" name="Conclusions box"/>
          <p:cNvSpPr/>
          <p:nvPr/>
        </p:nvSpPr>
        <p:spPr>
          <a:xfrm>
            <a:off x="9509760" y="3657600"/>
            <a:ext cx="7863840" cy="585216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nclusions text"/>
          <p:cNvSpPr txBox="1"/>
          <p:nvPr/>
        </p:nvSpPr>
        <p:spPr>
          <a:xfrm>
            <a:off x="9875520" y="3931920"/>
            <a:ext cx="7132320" cy="5394960"/>
          </a:xfrm>
          <a:prstGeom prst="rect">
            <a:avLst/>
          </a:prstGeom>
          <a:noFill/>
        </p:spPr>
        <p:txBody>
          <a:bodyPr wrap="square" lIns="0" rIns="0" tIns="0" bIns="0" anchor="t">
            <a:noAutofit/>
          </a:bodyPr>
          <a:lstStyle/>
          <a:p>
            <a:pPr algn="l">
              <a:lnSpc>
                <a:spcPct val="105000"/>
              </a:lnSpc>
              <a:spcAft>
                <a:spcPts val="1200"/>
              </a:spcAft>
            </a:pPr>
            <a:r>
              <a:rPr sz="2800" b="1" i="0">
                <a:solidFill>
                  <a:srgbClr val="7A1916"/>
                </a:solidFill>
                <a:latin typeface="Arial"/>
              </a:rPr>
              <a:t>The authors’ conclusions</a:t>
            </a:r>
          </a:p>
          <a:p>
            <a:pPr algn="l" marL="384048" indent="-384048">
              <a:lnSpc>
                <a:spcPct val="105000"/>
              </a:lnSpc>
              <a:spcAft>
                <a:spcPts val="1400"/>
              </a:spcAft>
              <a:buClr>
                <a:srgbClr val="7A1916"/>
              </a:buClr>
              <a:buFont typeface="Arial"/>
              <a:buChar char="•"/>
            </a:pPr>
            <a:r>
              <a:rPr sz="2600" b="1" i="0">
                <a:solidFill>
                  <a:srgbClr val="7A1916"/>
                </a:solidFill>
                <a:latin typeface="Arial"/>
              </a:rPr>
              <a:t>Main push factors:</a:t>
            </a:r>
            <a:r>
              <a:rPr sz="2600" b="0" i="0">
                <a:solidFill>
                  <a:srgbClr val="222222"/>
                </a:solidFill>
                <a:latin typeface="Arial"/>
              </a:rPr>
              <a:t> unemployment, adult literacy, political instability, population density</a:t>
            </a:r>
          </a:p>
          <a:p>
            <a:pPr algn="l" marL="384048" indent="-384048">
              <a:lnSpc>
                <a:spcPct val="105000"/>
              </a:lnSpc>
              <a:spcAft>
                <a:spcPts val="1400"/>
              </a:spcAft>
              <a:buClr>
                <a:srgbClr val="7A1916"/>
              </a:buClr>
              <a:buFont typeface="Arial"/>
              <a:buChar char="•"/>
            </a:pPr>
            <a:r>
              <a:rPr sz="2600" b="1" i="0">
                <a:solidFill>
                  <a:srgbClr val="7A1916"/>
                </a:solidFill>
                <a:latin typeface="Arial"/>
              </a:rPr>
              <a:t>Collect and track</a:t>
            </a:r>
            <a:r>
              <a:rPr sz="2600" b="0" i="0">
                <a:solidFill>
                  <a:srgbClr val="222222"/>
                </a:solidFill>
                <a:latin typeface="Arial"/>
              </a:rPr>
              <a:t> migration data better</a:t>
            </a:r>
          </a:p>
          <a:p>
            <a:pPr algn="l" marL="384048" indent="-384048">
              <a:lnSpc>
                <a:spcPct val="105000"/>
              </a:lnSpc>
              <a:spcAft>
                <a:spcPts val="1400"/>
              </a:spcAft>
              <a:buClr>
                <a:srgbClr val="7A1916"/>
              </a:buClr>
              <a:buFont typeface="Arial"/>
              <a:buChar char="•"/>
            </a:pPr>
            <a:r>
              <a:rPr sz="2600" b="1" i="0">
                <a:solidFill>
                  <a:srgbClr val="7A1916"/>
                </a:solidFill>
                <a:latin typeface="Arial"/>
              </a:rPr>
              <a:t>Sign agreements</a:t>
            </a:r>
            <a:r>
              <a:rPr sz="2600" b="0" i="0">
                <a:solidFill>
                  <a:srgbClr val="222222"/>
                </a:solidFill>
                <a:latin typeface="Arial"/>
              </a:rPr>
              <a:t> with destination countries to protect overseas Filipino workers</a:t>
            </a:r>
          </a:p>
          <a:p>
            <a:pPr algn="l" marL="384048" indent="-384048">
              <a:lnSpc>
                <a:spcPct val="105000"/>
              </a:lnSpc>
              <a:spcAft>
                <a:spcPts val="1400"/>
              </a:spcAft>
              <a:buClr>
                <a:srgbClr val="7A1916"/>
              </a:buClr>
              <a:buFont typeface="Arial"/>
              <a:buChar char="•"/>
            </a:pPr>
            <a:r>
              <a:rPr sz="2600" b="1" i="0">
                <a:solidFill>
                  <a:srgbClr val="7A1916"/>
                </a:solidFill>
                <a:latin typeface="Arial"/>
              </a:rPr>
              <a:t>Build a home economy</a:t>
            </a:r>
            <a:r>
              <a:rPr sz="2600" b="0" i="0">
                <a:solidFill>
                  <a:srgbClr val="222222"/>
                </a:solidFill>
                <a:latin typeface="Arial"/>
              </a:rPr>
              <a:t> with enough jobs, so the country relies less on emigration</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91421" y="9908915"/>
            <a:ext cx="17981581" cy="369456"/>
          </a:xfrm>
          <a:prstGeom prst="rect">
            <a:avLst/>
          </a:prstGeom>
        </p:spPr>
        <p:txBody>
          <a:bodyPr anchor="t" rtlCol="false" tIns="0" lIns="0" bIns="0" rIns="0">
            <a:spAutoFit/>
          </a:bodyPr>
          <a:lstStyle/>
          <a:p>
            <a:pPr algn="ctr">
              <a:lnSpc>
                <a:spcPts val="1377"/>
              </a:lnSpc>
            </a:pPr>
            <a:r>
              <a:rPr lang="en-US" b="true" sz="1275">
                <a:solidFill>
                  <a:srgbClr val="3A3A3A"/>
                </a:solidFill>
                <a:latin typeface="Arial Bold"/>
                <a:ea typeface="Arial Bold"/>
                <a:cs typeface="Arial Bold"/>
                <a:sym typeface="Arial Bold"/>
              </a:rPr>
              <a:t>© 2026 University of Southeastern Philippines |</a:t>
            </a:r>
            <a:r>
              <a:rPr lang="en-US" sz="1275">
                <a:solidFill>
                  <a:srgbClr val="3A3A3A"/>
                </a:solidFill>
                <a:latin typeface="Arial"/>
                <a:ea typeface="Arial"/>
                <a:cs typeface="Arial"/>
                <a:sym typeface="Arial"/>
              </a:rPr>
              <a:t> All Rights Reserved. This presentation contains confidential and proprietary information. Photography, video, and audio recording of these materials are prohibited without prior authorization.</a:t>
            </a:r>
          </a:p>
        </p:txBody>
      </p:sp>
      <p:sp>
        <p:nvSpPr>
          <p:cNvPr id="5" name="Title"/>
          <p:cNvSpPr txBox="1"/>
          <p:nvPr/>
        </p:nvSpPr>
        <p:spPr>
          <a:xfrm>
            <a:off x="914400" y="1600200"/>
            <a:ext cx="16459200" cy="914400"/>
          </a:xfrm>
          <a:prstGeom prst="rect">
            <a:avLst/>
          </a:prstGeom>
          <a:noFill/>
        </p:spPr>
        <p:txBody>
          <a:bodyPr wrap="square" lIns="0" rIns="0" tIns="0" bIns="0" anchor="ctr">
            <a:noAutofit/>
          </a:bodyPr>
          <a:lstStyle/>
          <a:p>
            <a:pPr algn="l">
              <a:lnSpc>
                <a:spcPct val="105000"/>
              </a:lnSpc>
              <a:spcAft>
                <a:spcPts val="1000"/>
              </a:spcAft>
            </a:pPr>
            <a:r>
              <a:rPr sz="4800" b="1" i="0">
                <a:solidFill>
                  <a:srgbClr val="7A1916"/>
                </a:solidFill>
                <a:latin typeface="Arial"/>
              </a:rPr>
              <a:t>Critical assessment of the study</a:t>
            </a:r>
          </a:p>
        </p:txBody>
      </p:sp>
      <p:sp>
        <p:nvSpPr>
          <p:cNvPr id="6" name="Key message"/>
          <p:cNvSpPr txBox="1"/>
          <p:nvPr/>
        </p:nvSpPr>
        <p:spPr>
          <a:xfrm>
            <a:off x="914400" y="2606040"/>
            <a:ext cx="16459200" cy="822960"/>
          </a:xfrm>
          <a:prstGeom prst="rect">
            <a:avLst/>
          </a:prstGeom>
          <a:noFill/>
        </p:spPr>
        <p:txBody>
          <a:bodyPr wrap="square" lIns="0" rIns="0" tIns="0" bIns="0" anchor="t">
            <a:noAutofit/>
          </a:bodyPr>
          <a:lstStyle/>
          <a:p>
            <a:pPr algn="l">
              <a:lnSpc>
                <a:spcPct val="105000"/>
              </a:lnSpc>
              <a:spcAft>
                <a:spcPts val="1000"/>
              </a:spcAft>
            </a:pPr>
            <a:r>
              <a:rPr sz="2800" b="1" i="1">
                <a:solidFill>
                  <a:srgbClr val="222222"/>
                </a:solidFill>
                <a:latin typeface="Arial"/>
              </a:rPr>
              <a:t>Careful methods, but a small sample, weak proxies and missing pull factors.</a:t>
            </a:r>
          </a:p>
        </p:txBody>
      </p:sp>
      <p:sp>
        <p:nvSpPr>
          <p:cNvPr id="7" name="Strengths heading"/>
          <p:cNvSpPr txBox="1"/>
          <p:nvPr/>
        </p:nvSpPr>
        <p:spPr>
          <a:xfrm>
            <a:off x="914400" y="3657600"/>
            <a:ext cx="6949440" cy="548640"/>
          </a:xfrm>
          <a:prstGeom prst="rect">
            <a:avLst/>
          </a:prstGeom>
          <a:noFill/>
        </p:spPr>
        <p:txBody>
          <a:bodyPr wrap="square" lIns="0" rIns="0" tIns="0" bIns="0" anchor="t">
            <a:noAutofit/>
          </a:bodyPr>
          <a:lstStyle/>
          <a:p>
            <a:pPr algn="l">
              <a:lnSpc>
                <a:spcPct val="105000"/>
              </a:lnSpc>
              <a:spcAft>
                <a:spcPts val="1000"/>
              </a:spcAft>
            </a:pPr>
            <a:r>
              <a:rPr sz="3000" b="1" i="0">
                <a:solidFill>
                  <a:srgbClr val="7A1916"/>
                </a:solidFill>
                <a:latin typeface="Arial"/>
              </a:rPr>
              <a:t>Strengths</a:t>
            </a:r>
          </a:p>
        </p:txBody>
      </p:sp>
      <p:sp>
        <p:nvSpPr>
          <p:cNvPr id="8" name="Strengths text"/>
          <p:cNvSpPr txBox="1"/>
          <p:nvPr/>
        </p:nvSpPr>
        <p:spPr>
          <a:xfrm>
            <a:off x="914400" y="4343400"/>
            <a:ext cx="6949440" cy="5212080"/>
          </a:xfrm>
          <a:prstGeom prst="rect">
            <a:avLst/>
          </a:prstGeom>
          <a:noFill/>
        </p:spPr>
        <p:txBody>
          <a:bodyPr wrap="square" lIns="0" rIns="0" tIns="0" bIns="0" anchor="t">
            <a:noAutofit/>
          </a:bodyPr>
          <a:lstStyle/>
          <a:p>
            <a:pPr algn="l" marL="384048" indent="-384048">
              <a:lnSpc>
                <a:spcPct val="105000"/>
              </a:lnSpc>
              <a:spcAft>
                <a:spcPts val="1200"/>
              </a:spcAft>
              <a:buClr>
                <a:srgbClr val="7A1916"/>
              </a:buClr>
              <a:buFont typeface="Arial"/>
              <a:buChar char="•"/>
            </a:pPr>
            <a:r>
              <a:rPr sz="2400" b="1" i="0">
                <a:solidFill>
                  <a:srgbClr val="7A1916"/>
                </a:solidFill>
                <a:latin typeface="Arial"/>
              </a:rPr>
              <a:t>Important question</a:t>
            </a:r>
            <a:r>
              <a:rPr sz="2400" b="0" i="0">
                <a:solidFill>
                  <a:srgbClr val="222222"/>
                </a:solidFill>
                <a:latin typeface="Arial"/>
              </a:rPr>
              <a:t> for a country that sends many workers abroad</a:t>
            </a:r>
          </a:p>
          <a:p>
            <a:pPr algn="l" marL="384048" indent="-384048">
              <a:lnSpc>
                <a:spcPct val="105000"/>
              </a:lnSpc>
              <a:spcAft>
                <a:spcPts val="1200"/>
              </a:spcAft>
              <a:buClr>
                <a:srgbClr val="7A1916"/>
              </a:buClr>
              <a:buFont typeface="Arial"/>
              <a:buChar char="•"/>
            </a:pPr>
            <a:r>
              <a:rPr sz="2400" b="1" i="0">
                <a:solidFill>
                  <a:srgbClr val="7A1916"/>
                </a:solidFill>
                <a:latin typeface="Arial"/>
              </a:rPr>
              <a:t>Careful steps:</a:t>
            </a:r>
            <a:r>
              <a:rPr sz="2400" b="0" i="0">
                <a:solidFill>
                  <a:srgbClr val="222222"/>
                </a:solidFill>
                <a:latin typeface="Arial"/>
              </a:rPr>
              <a:t> unit root tests, cointegration tests, then the ECM</a:t>
            </a:r>
          </a:p>
          <a:p>
            <a:pPr algn="l" marL="384048" indent="-384048">
              <a:lnSpc>
                <a:spcPct val="105000"/>
              </a:lnSpc>
              <a:spcAft>
                <a:spcPts val="1200"/>
              </a:spcAft>
              <a:buClr>
                <a:srgbClr val="7A1916"/>
              </a:buClr>
              <a:buFont typeface="Arial"/>
              <a:buChar char="•"/>
            </a:pPr>
            <a:r>
              <a:rPr sz="2400" b="1" i="0">
                <a:solidFill>
                  <a:srgbClr val="7A1916"/>
                </a:solidFill>
                <a:latin typeface="Arial"/>
              </a:rPr>
              <a:t>All diagnostic tests</a:t>
            </a:r>
            <a:r>
              <a:rPr sz="2400" b="0" i="0">
                <a:solidFill>
                  <a:srgbClr val="222222"/>
                </a:solidFill>
                <a:latin typeface="Arial"/>
              </a:rPr>
              <a:t> reported and passed</a:t>
            </a:r>
          </a:p>
          <a:p>
            <a:pPr algn="l" marL="384048" indent="-384048">
              <a:lnSpc>
                <a:spcPct val="105000"/>
              </a:lnSpc>
              <a:spcAft>
                <a:spcPts val="1200"/>
              </a:spcAft>
              <a:buClr>
                <a:srgbClr val="7A1916"/>
              </a:buClr>
              <a:buFont typeface="Arial"/>
              <a:buChar char="•"/>
            </a:pPr>
            <a:r>
              <a:rPr sz="2400" b="1" i="0">
                <a:solidFill>
                  <a:srgbClr val="7A1916"/>
                </a:solidFill>
                <a:latin typeface="Arial"/>
              </a:rPr>
              <a:t>Clear policy background</a:t>
            </a:r>
            <a:r>
              <a:rPr sz="2400" b="0" i="0">
                <a:solidFill>
                  <a:srgbClr val="222222"/>
                </a:solidFill>
                <a:latin typeface="Arial"/>
              </a:rPr>
              <a:t> (RA 8042)</a:t>
            </a:r>
          </a:p>
        </p:txBody>
      </p:sp>
      <p:sp>
        <p:nvSpPr>
          <p:cNvPr id="9" name="Weaknesses heading"/>
          <p:cNvSpPr txBox="1"/>
          <p:nvPr/>
        </p:nvSpPr>
        <p:spPr>
          <a:xfrm>
            <a:off x="8412480" y="3657600"/>
            <a:ext cx="8961120" cy="548640"/>
          </a:xfrm>
          <a:prstGeom prst="rect">
            <a:avLst/>
          </a:prstGeom>
          <a:noFill/>
        </p:spPr>
        <p:txBody>
          <a:bodyPr wrap="square" lIns="0" rIns="0" tIns="0" bIns="0" anchor="t">
            <a:noAutofit/>
          </a:bodyPr>
          <a:lstStyle/>
          <a:p>
            <a:pPr algn="l">
              <a:lnSpc>
                <a:spcPct val="105000"/>
              </a:lnSpc>
              <a:spcAft>
                <a:spcPts val="1000"/>
              </a:spcAft>
            </a:pPr>
            <a:r>
              <a:rPr sz="3000" b="1" i="0">
                <a:solidFill>
                  <a:srgbClr val="7A1916"/>
                </a:solidFill>
                <a:latin typeface="Arial"/>
              </a:rPr>
              <a:t>Weaknesses</a:t>
            </a:r>
          </a:p>
        </p:txBody>
      </p:sp>
      <p:sp>
        <p:nvSpPr>
          <p:cNvPr id="10" name="Weaknesses text"/>
          <p:cNvSpPr txBox="1"/>
          <p:nvPr/>
        </p:nvSpPr>
        <p:spPr>
          <a:xfrm>
            <a:off x="8412480" y="4343400"/>
            <a:ext cx="8961120" cy="5212080"/>
          </a:xfrm>
          <a:prstGeom prst="rect">
            <a:avLst/>
          </a:prstGeom>
          <a:noFill/>
        </p:spPr>
        <p:txBody>
          <a:bodyPr wrap="square" lIns="0" rIns="0" tIns="0" bIns="0" anchor="t">
            <a:noAutofit/>
          </a:bodyPr>
          <a:lstStyle/>
          <a:p>
            <a:pPr algn="l" marL="384048" indent="-384048">
              <a:lnSpc>
                <a:spcPct val="105000"/>
              </a:lnSpc>
              <a:spcAft>
                <a:spcPts val="1200"/>
              </a:spcAft>
              <a:buClr>
                <a:srgbClr val="7A1916"/>
              </a:buClr>
              <a:buFont typeface="Arial"/>
              <a:buChar char="•"/>
            </a:pPr>
            <a:r>
              <a:rPr sz="2400" b="1" i="0">
                <a:solidFill>
                  <a:srgbClr val="7A1916"/>
                </a:solidFill>
                <a:latin typeface="Arial"/>
              </a:rPr>
              <a:t>Small sample:</a:t>
            </a:r>
            <a:r>
              <a:rPr sz="2400" b="0" i="0">
                <a:solidFill>
                  <a:srgbClr val="222222"/>
                </a:solidFill>
                <a:latin typeface="Arial"/>
              </a:rPr>
              <a:t> 31 yearly observations for 10 explanatory terms</a:t>
            </a:r>
          </a:p>
          <a:p>
            <a:pPr algn="l" marL="384048" indent="-384048">
              <a:lnSpc>
                <a:spcPct val="105000"/>
              </a:lnSpc>
              <a:spcAft>
                <a:spcPts val="1200"/>
              </a:spcAft>
              <a:buClr>
                <a:srgbClr val="7A1916"/>
              </a:buClr>
              <a:buFont typeface="Arial"/>
              <a:buChar char="•"/>
            </a:pPr>
            <a:r>
              <a:rPr sz="2400" b="1" i="0">
                <a:solidFill>
                  <a:srgbClr val="7A1916"/>
                </a:solidFill>
                <a:latin typeface="Arial"/>
              </a:rPr>
              <a:t>Weak proxies:</a:t>
            </a:r>
            <a:r>
              <a:rPr sz="2400" b="0" i="0">
                <a:solidFill>
                  <a:srgbClr val="222222"/>
                </a:solidFill>
                <a:latin typeface="Arial"/>
              </a:rPr>
              <a:t> airfare for cost of migration; adult literacy for education</a:t>
            </a:r>
          </a:p>
          <a:p>
            <a:pPr algn="l" marL="384048" indent="-384048">
              <a:lnSpc>
                <a:spcPct val="105000"/>
              </a:lnSpc>
              <a:spcAft>
                <a:spcPts val="1200"/>
              </a:spcAft>
              <a:buClr>
                <a:srgbClr val="7A1916"/>
              </a:buClr>
              <a:buFont typeface="Arial"/>
              <a:buChar char="•"/>
            </a:pPr>
            <a:r>
              <a:rPr sz="2400" b="1" i="0">
                <a:solidFill>
                  <a:srgbClr val="7A1916"/>
                </a:solidFill>
                <a:latin typeface="Arial"/>
              </a:rPr>
              <a:t>Push factors only:</a:t>
            </a:r>
            <a:r>
              <a:rPr sz="2400" b="0" i="0">
                <a:solidFill>
                  <a:srgbClr val="222222"/>
                </a:solidFill>
                <a:latin typeface="Arial"/>
              </a:rPr>
              <a:t> pull factors from destination countries are missing</a:t>
            </a:r>
          </a:p>
          <a:p>
            <a:pPr algn="l" marL="384048" indent="-384048">
              <a:lnSpc>
                <a:spcPct val="105000"/>
              </a:lnSpc>
              <a:spcAft>
                <a:spcPts val="1200"/>
              </a:spcAft>
              <a:buClr>
                <a:srgbClr val="7A1916"/>
              </a:buClr>
              <a:buFont typeface="Arial"/>
              <a:buChar char="•"/>
            </a:pPr>
            <a:r>
              <a:rPr sz="2400" b="1" i="0">
                <a:solidFill>
                  <a:srgbClr val="7A1916"/>
                </a:solidFill>
                <a:latin typeface="Arial"/>
              </a:rPr>
              <a:t>Conflicting explanation:</a:t>
            </a:r>
            <a:r>
              <a:rPr sz="2400" b="0" i="0">
                <a:solidFill>
                  <a:srgbClr val="222222"/>
                </a:solidFill>
                <a:latin typeface="Arial"/>
              </a:rPr>
              <a:t> “low-skilled migrants” clashes with data the paper cites on professionals leaving</a:t>
            </a:r>
          </a:p>
          <a:p>
            <a:pPr algn="l" marL="384048" indent="-384048">
              <a:lnSpc>
                <a:spcPct val="105000"/>
              </a:lnSpc>
              <a:spcAft>
                <a:spcPts val="1200"/>
              </a:spcAft>
              <a:buClr>
                <a:srgbClr val="7A1916"/>
              </a:buClr>
              <a:buFont typeface="Arial"/>
              <a:buChar char="•"/>
            </a:pPr>
            <a:r>
              <a:rPr sz="2400" b="1" i="0">
                <a:solidFill>
                  <a:srgbClr val="7A1916"/>
                </a:solidFill>
                <a:latin typeface="Arial"/>
              </a:rPr>
              <a:t>Unclear tests:</a:t>
            </a:r>
            <a:r>
              <a:rPr sz="2400" b="0" i="0">
                <a:solidFill>
                  <a:srgbClr val="222222"/>
                </a:solidFill>
                <a:latin typeface="Arial"/>
              </a:rPr>
              <a:t> per capita income is not stationary in the P–P test; no tests for structural breaks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91421" y="9983057"/>
            <a:ext cx="17981581" cy="369456"/>
          </a:xfrm>
          <a:prstGeom prst="rect">
            <a:avLst/>
          </a:prstGeom>
        </p:spPr>
        <p:txBody>
          <a:bodyPr anchor="t" rtlCol="false" tIns="0" lIns="0" bIns="0" rIns="0">
            <a:spAutoFit/>
          </a:bodyPr>
          <a:lstStyle/>
          <a:p>
            <a:pPr algn="ctr">
              <a:lnSpc>
                <a:spcPts val="1377"/>
              </a:lnSpc>
            </a:pPr>
            <a:r>
              <a:rPr lang="en-US" b="true" sz="1275">
                <a:solidFill>
                  <a:srgbClr val="3A3A3A"/>
                </a:solidFill>
                <a:latin typeface="Arial Bold"/>
                <a:ea typeface="Arial Bold"/>
                <a:cs typeface="Arial Bold"/>
                <a:sym typeface="Arial Bold"/>
              </a:rPr>
              <a:t>© 2026 University of Southeastern Philippines |</a:t>
            </a:r>
            <a:r>
              <a:rPr lang="en-US" sz="1275">
                <a:solidFill>
                  <a:srgbClr val="3A3A3A"/>
                </a:solidFill>
                <a:latin typeface="Arial"/>
                <a:ea typeface="Arial"/>
                <a:cs typeface="Arial"/>
                <a:sym typeface="Arial"/>
              </a:rPr>
              <a:t> All Rights Reserved. This presentation contains confidential and proprietary information. Photography, video, and audio recording of these materials are prohibited without prior authorization.</a:t>
            </a:r>
          </a:p>
        </p:txBody>
      </p:sp>
      <p:sp>
        <p:nvSpPr>
          <p:cNvPr id="5" name="Title"/>
          <p:cNvSpPr txBox="1"/>
          <p:nvPr/>
        </p:nvSpPr>
        <p:spPr>
          <a:xfrm>
            <a:off x="914400" y="1600200"/>
            <a:ext cx="16459200" cy="914400"/>
          </a:xfrm>
          <a:prstGeom prst="rect">
            <a:avLst/>
          </a:prstGeom>
          <a:noFill/>
        </p:spPr>
        <p:txBody>
          <a:bodyPr wrap="square" lIns="0" rIns="0" tIns="0" bIns="0" anchor="ctr">
            <a:noAutofit/>
          </a:bodyPr>
          <a:lstStyle/>
          <a:p>
            <a:pPr algn="l">
              <a:lnSpc>
                <a:spcPct val="105000"/>
              </a:lnSpc>
              <a:spcAft>
                <a:spcPts val="1000"/>
              </a:spcAft>
            </a:pPr>
            <a:r>
              <a:rPr sz="4800" b="1" i="0">
                <a:solidFill>
                  <a:srgbClr val="7A1916"/>
                </a:solidFill>
                <a:latin typeface="Arial"/>
              </a:rPr>
              <a:t>6. Limitations and areas for further research</a:t>
            </a:r>
          </a:p>
        </p:txBody>
      </p:sp>
      <p:sp>
        <p:nvSpPr>
          <p:cNvPr id="6" name="Key message"/>
          <p:cNvSpPr txBox="1"/>
          <p:nvPr/>
        </p:nvSpPr>
        <p:spPr>
          <a:xfrm>
            <a:off x="914400" y="2606040"/>
            <a:ext cx="16459200" cy="822960"/>
          </a:xfrm>
          <a:prstGeom prst="rect">
            <a:avLst/>
          </a:prstGeom>
          <a:noFill/>
        </p:spPr>
        <p:txBody>
          <a:bodyPr wrap="square" lIns="0" rIns="0" tIns="0" bIns="0" anchor="t">
            <a:noAutofit/>
          </a:bodyPr>
          <a:lstStyle/>
          <a:p>
            <a:pPr algn="l">
              <a:lnSpc>
                <a:spcPct val="105000"/>
              </a:lnSpc>
              <a:spcAft>
                <a:spcPts val="1000"/>
              </a:spcAft>
            </a:pPr>
            <a:r>
              <a:rPr sz="2800" b="1" i="1">
                <a:solidFill>
                  <a:srgbClr val="222222"/>
                </a:solidFill>
                <a:latin typeface="Arial"/>
              </a:rPr>
              <a:t>Better data and pull factors are the next steps.</a:t>
            </a:r>
          </a:p>
        </p:txBody>
      </p:sp>
      <p:sp>
        <p:nvSpPr>
          <p:cNvPr id="7" name="Limitations box"/>
          <p:cNvSpPr/>
          <p:nvPr/>
        </p:nvSpPr>
        <p:spPr>
          <a:xfrm>
            <a:off x="914400" y="3657600"/>
            <a:ext cx="7863840" cy="585216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Limitations text"/>
          <p:cNvSpPr txBox="1"/>
          <p:nvPr/>
        </p:nvSpPr>
        <p:spPr>
          <a:xfrm>
            <a:off x="1280160" y="3931920"/>
            <a:ext cx="7132320" cy="5394960"/>
          </a:xfrm>
          <a:prstGeom prst="rect">
            <a:avLst/>
          </a:prstGeom>
          <a:noFill/>
        </p:spPr>
        <p:txBody>
          <a:bodyPr wrap="square" lIns="0" rIns="0" tIns="0" bIns="0" anchor="t">
            <a:noAutofit/>
          </a:bodyPr>
          <a:lstStyle/>
          <a:p>
            <a:pPr algn="l">
              <a:lnSpc>
                <a:spcPct val="105000"/>
              </a:lnSpc>
              <a:spcAft>
                <a:spcPts val="1200"/>
              </a:spcAft>
            </a:pPr>
            <a:r>
              <a:rPr sz="2800" b="1" i="0">
                <a:solidFill>
                  <a:srgbClr val="7A1916"/>
                </a:solidFill>
                <a:latin typeface="Arial"/>
              </a:rPr>
              <a:t>Limitations the authors identify</a:t>
            </a:r>
          </a:p>
          <a:p>
            <a:pPr algn="l" marL="384048" indent="-384048">
              <a:lnSpc>
                <a:spcPct val="105000"/>
              </a:lnSpc>
              <a:spcAft>
                <a:spcPts val="1400"/>
              </a:spcAft>
              <a:buClr>
                <a:srgbClr val="7A1916"/>
              </a:buClr>
              <a:buFont typeface="Arial"/>
              <a:buChar char="•"/>
            </a:pPr>
            <a:r>
              <a:rPr sz="2600" b="0" i="0">
                <a:solidFill>
                  <a:srgbClr val="222222"/>
                </a:solidFill>
                <a:latin typeface="Arial"/>
              </a:rPr>
              <a:t>Migration data are </a:t>
            </a:r>
            <a:r>
              <a:rPr sz="2600" b="1" i="0">
                <a:solidFill>
                  <a:srgbClr val="7A1916"/>
                </a:solidFill>
                <a:latin typeface="Arial"/>
              </a:rPr>
              <a:t>hard to collect</a:t>
            </a:r>
            <a:r>
              <a:rPr sz="2600" b="0" i="0">
                <a:solidFill>
                  <a:srgbClr val="222222"/>
                </a:solidFill>
                <a:latin typeface="Arial"/>
              </a:rPr>
              <a:t> and compile</a:t>
            </a:r>
          </a:p>
          <a:p>
            <a:pPr algn="l" marL="384048" indent="-384048">
              <a:lnSpc>
                <a:spcPct val="105000"/>
              </a:lnSpc>
              <a:spcAft>
                <a:spcPts val="1400"/>
              </a:spcAft>
              <a:buClr>
                <a:srgbClr val="7A1916"/>
              </a:buClr>
              <a:buFont typeface="Arial"/>
              <a:buChar char="•"/>
            </a:pPr>
            <a:r>
              <a:rPr sz="2600" b="0" i="0">
                <a:solidFill>
                  <a:srgbClr val="222222"/>
                </a:solidFill>
                <a:latin typeface="Arial"/>
              </a:rPr>
              <a:t>Airfare shows only the </a:t>
            </a:r>
            <a:r>
              <a:rPr sz="2600" b="1" i="0">
                <a:solidFill>
                  <a:srgbClr val="7A1916"/>
                </a:solidFill>
                <a:latin typeface="Arial"/>
              </a:rPr>
              <a:t>minimum cost</a:t>
            </a:r>
            <a:r>
              <a:rPr sz="2600" b="0" i="0">
                <a:solidFill>
                  <a:srgbClr val="222222"/>
                </a:solidFill>
                <a:latin typeface="Arial"/>
              </a:rPr>
              <a:t> of migration</a:t>
            </a:r>
          </a:p>
          <a:p>
            <a:pPr algn="l" marL="384048" indent="-384048">
              <a:lnSpc>
                <a:spcPct val="105000"/>
              </a:lnSpc>
              <a:spcAft>
                <a:spcPts val="1400"/>
              </a:spcAft>
              <a:buClr>
                <a:srgbClr val="7A1916"/>
              </a:buClr>
              <a:buFont typeface="Arial"/>
              <a:buChar char="•"/>
            </a:pPr>
            <a:r>
              <a:rPr sz="2600" b="0" i="0">
                <a:solidFill>
                  <a:srgbClr val="222222"/>
                </a:solidFill>
                <a:latin typeface="Arial"/>
              </a:rPr>
              <a:t>The </a:t>
            </a:r>
            <a:r>
              <a:rPr sz="2600" b="1" i="0">
                <a:solidFill>
                  <a:srgbClr val="7A1916"/>
                </a:solidFill>
                <a:latin typeface="Arial"/>
              </a:rPr>
              <a:t>population density</a:t>
            </a:r>
            <a:r>
              <a:rPr sz="2600" b="0" i="0">
                <a:solidFill>
                  <a:srgbClr val="222222"/>
                </a:solidFill>
                <a:latin typeface="Arial"/>
              </a:rPr>
              <a:t> result is hard to explain</a:t>
            </a:r>
          </a:p>
          <a:p>
            <a:pPr algn="l" marL="384048" indent="-384048">
              <a:lnSpc>
                <a:spcPct val="105000"/>
              </a:lnSpc>
              <a:spcAft>
                <a:spcPts val="1400"/>
              </a:spcAft>
              <a:buClr>
                <a:srgbClr val="7A1916"/>
              </a:buClr>
              <a:buFont typeface="Arial"/>
              <a:buChar char="•"/>
            </a:pPr>
            <a:r>
              <a:rPr sz="2600" b="0" i="0">
                <a:solidFill>
                  <a:srgbClr val="222222"/>
                </a:solidFill>
                <a:latin typeface="Arial"/>
              </a:rPr>
              <a:t>The data </a:t>
            </a:r>
            <a:r>
              <a:rPr sz="2600" b="1" i="0">
                <a:solidFill>
                  <a:srgbClr val="7A1916"/>
                </a:solidFill>
                <a:latin typeface="Arial"/>
              </a:rPr>
              <a:t>cannot prove</a:t>
            </a:r>
            <a:r>
              <a:rPr sz="2600" b="0" i="0">
                <a:solidFill>
                  <a:srgbClr val="222222"/>
                </a:solidFill>
                <a:latin typeface="Arial"/>
              </a:rPr>
              <a:t> the political instability story</a:t>
            </a:r>
          </a:p>
        </p:txBody>
      </p:sp>
      <p:sp>
        <p:nvSpPr>
          <p:cNvPr id="9" name="Future research box"/>
          <p:cNvSpPr/>
          <p:nvPr/>
        </p:nvSpPr>
        <p:spPr>
          <a:xfrm>
            <a:off x="9509760" y="3657600"/>
            <a:ext cx="7863840" cy="585216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uture research text"/>
          <p:cNvSpPr txBox="1"/>
          <p:nvPr/>
        </p:nvSpPr>
        <p:spPr>
          <a:xfrm>
            <a:off x="9875520" y="3931920"/>
            <a:ext cx="7132320" cy="5394960"/>
          </a:xfrm>
          <a:prstGeom prst="rect">
            <a:avLst/>
          </a:prstGeom>
          <a:noFill/>
        </p:spPr>
        <p:txBody>
          <a:bodyPr wrap="square" lIns="0" rIns="0" tIns="0" bIns="0" anchor="t">
            <a:noAutofit/>
          </a:bodyPr>
          <a:lstStyle/>
          <a:p>
            <a:pPr algn="l">
              <a:lnSpc>
                <a:spcPct val="105000"/>
              </a:lnSpc>
              <a:spcAft>
                <a:spcPts val="1200"/>
              </a:spcAft>
            </a:pPr>
            <a:r>
              <a:rPr sz="2800" b="1" i="0">
                <a:solidFill>
                  <a:srgbClr val="7A1916"/>
                </a:solidFill>
                <a:latin typeface="Arial"/>
              </a:rPr>
              <a:t>Future research (my suggestions)</a:t>
            </a:r>
          </a:p>
          <a:p>
            <a:pPr algn="l">
              <a:lnSpc>
                <a:spcPct val="105000"/>
              </a:lnSpc>
              <a:spcAft>
                <a:spcPts val="1200"/>
              </a:spcAft>
            </a:pPr>
            <a:r>
              <a:rPr sz="2600" b="1" i="0">
                <a:solidFill>
                  <a:srgbClr val="7A1916"/>
                </a:solidFill>
                <a:latin typeface="Arial"/>
              </a:rPr>
              <a:t>1. Split the data:</a:t>
            </a:r>
            <a:r>
              <a:rPr sz="2600" b="0" i="0">
                <a:solidFill>
                  <a:srgbClr val="222222"/>
                </a:solidFill>
                <a:latin typeface="Arial"/>
              </a:rPr>
              <a:t> temporary vs. permanent migrants, and by skill level</a:t>
            </a:r>
          </a:p>
          <a:p>
            <a:pPr algn="l">
              <a:lnSpc>
                <a:spcPct val="105000"/>
              </a:lnSpc>
              <a:spcAft>
                <a:spcPts val="1200"/>
              </a:spcAft>
            </a:pPr>
            <a:r>
              <a:rPr sz="2600" b="1" i="0">
                <a:solidFill>
                  <a:srgbClr val="7A1916"/>
                </a:solidFill>
                <a:latin typeface="Arial"/>
              </a:rPr>
              <a:t>2. Add pull factors:</a:t>
            </a:r>
            <a:r>
              <a:rPr sz="2600" b="0" i="0">
                <a:solidFill>
                  <a:srgbClr val="222222"/>
                </a:solidFill>
                <a:latin typeface="Arial"/>
              </a:rPr>
              <a:t> wages and job demand in destination countries</a:t>
            </a:r>
          </a:p>
          <a:p>
            <a:pPr algn="l">
              <a:lnSpc>
                <a:spcPct val="105000"/>
              </a:lnSpc>
              <a:spcAft>
                <a:spcPts val="1200"/>
              </a:spcAft>
            </a:pPr>
            <a:r>
              <a:rPr sz="2600" b="1" i="0">
                <a:solidFill>
                  <a:srgbClr val="7A1916"/>
                </a:solidFill>
                <a:latin typeface="Arial"/>
              </a:rPr>
              <a:t>3. Update the data:</a:t>
            </a:r>
            <a:r>
              <a:rPr sz="2600" b="0" i="0">
                <a:solidFill>
                  <a:srgbClr val="222222"/>
                </a:solidFill>
                <a:latin typeface="Arial"/>
              </a:rPr>
              <a:t> go past 2005 and test structural breaks (1997, 2008, COVID-19)</a:t>
            </a:r>
          </a:p>
          <a:p>
            <a:pPr algn="l">
              <a:lnSpc>
                <a:spcPct val="105000"/>
              </a:lnSpc>
              <a:spcAft>
                <a:spcPts val="0"/>
              </a:spcAft>
            </a:pPr>
            <a:r>
              <a:rPr sz="2600" b="1" i="0">
                <a:solidFill>
                  <a:srgbClr val="7A1916"/>
                </a:solidFill>
                <a:latin typeface="Arial"/>
              </a:rPr>
              <a:t>4. Use household data:</a:t>
            </a:r>
            <a:r>
              <a:rPr sz="2600" b="0" i="0">
                <a:solidFill>
                  <a:srgbClr val="222222"/>
                </a:solidFill>
                <a:latin typeface="Arial"/>
              </a:rPr>
              <a:t> test human capital theory with survey data on migrants</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91421" y="9983057"/>
            <a:ext cx="17981581" cy="369456"/>
          </a:xfrm>
          <a:prstGeom prst="rect">
            <a:avLst/>
          </a:prstGeom>
        </p:spPr>
        <p:txBody>
          <a:bodyPr anchor="t" rtlCol="false" tIns="0" lIns="0" bIns="0" rIns="0">
            <a:spAutoFit/>
          </a:bodyPr>
          <a:lstStyle/>
          <a:p>
            <a:pPr algn="ctr">
              <a:lnSpc>
                <a:spcPts val="1377"/>
              </a:lnSpc>
            </a:pPr>
            <a:r>
              <a:rPr lang="en-US" b="true" sz="1275">
                <a:solidFill>
                  <a:srgbClr val="FFFFFF"/>
                </a:solidFill>
                <a:latin typeface="Arial Bold"/>
                <a:ea typeface="Arial Bold"/>
                <a:cs typeface="Arial Bold"/>
                <a:sym typeface="Arial Bold"/>
              </a:rPr>
              <a:t>© 2026 University of Southeastern Philippines |</a:t>
            </a:r>
            <a:r>
              <a:rPr lang="en-US" sz="1275">
                <a:solidFill>
                  <a:srgbClr val="FFFFFF"/>
                </a:solidFill>
                <a:latin typeface="Arial"/>
                <a:ea typeface="Arial"/>
                <a:cs typeface="Arial"/>
                <a:sym typeface="Arial"/>
              </a:rPr>
              <a:t> All Rights Reserved. This presentation contains confidential and proprietary information. Photography, video, and audio recording of these materials are prohibited without prior authorization.</a:t>
            </a:r>
          </a:p>
        </p:txBody>
      </p:sp>
      <p:sp>
        <p:nvSpPr>
          <p:cNvPr id="5" name="Kicker"/>
          <p:cNvSpPr txBox="1"/>
          <p:nvPr/>
        </p:nvSpPr>
        <p:spPr>
          <a:xfrm>
            <a:off x="1371600" y="1828800"/>
            <a:ext cx="15544800" cy="1097280"/>
          </a:xfrm>
          <a:prstGeom prst="rect">
            <a:avLst/>
          </a:prstGeom>
          <a:noFill/>
        </p:spPr>
        <p:txBody>
          <a:bodyPr wrap="square" lIns="0" rIns="0" tIns="0" bIns="0" anchor="t">
            <a:noAutofit/>
          </a:bodyPr>
          <a:lstStyle/>
          <a:p>
            <a:pPr algn="l">
              <a:lnSpc>
                <a:spcPct val="105000"/>
              </a:lnSpc>
              <a:spcAft>
                <a:spcPts val="1000"/>
              </a:spcAft>
            </a:pPr>
            <a:r>
              <a:rPr sz="3600" b="1" i="0">
                <a:solidFill>
                  <a:srgbClr val="F2C14E"/>
                </a:solidFill>
                <a:latin typeface="Arial"/>
              </a:rPr>
              <a:t>Takeaway</a:t>
            </a:r>
          </a:p>
        </p:txBody>
      </p:sp>
      <p:sp>
        <p:nvSpPr>
          <p:cNvPr id="6" name="Title"/>
          <p:cNvSpPr txBox="1"/>
          <p:nvPr/>
        </p:nvSpPr>
        <p:spPr>
          <a:xfrm>
            <a:off x="1371600" y="2926080"/>
            <a:ext cx="15544800" cy="2194560"/>
          </a:xfrm>
          <a:prstGeom prst="rect">
            <a:avLst/>
          </a:prstGeom>
          <a:noFill/>
        </p:spPr>
        <p:txBody>
          <a:bodyPr wrap="square" lIns="0" rIns="0" tIns="0" bIns="0" anchor="t">
            <a:noAutofit/>
          </a:bodyPr>
          <a:lstStyle/>
          <a:p>
            <a:pPr algn="l">
              <a:lnSpc>
                <a:spcPct val="105000"/>
              </a:lnSpc>
              <a:spcAft>
                <a:spcPts val="1000"/>
              </a:spcAft>
            </a:pPr>
            <a:r>
              <a:rPr sz="5600" b="1" i="0">
                <a:solidFill>
                  <a:srgbClr val="FFFFFF"/>
                </a:solidFill>
                <a:latin typeface="Arial"/>
              </a:rPr>
              <a:t>Push factors at home shape Filipino emigration.</a:t>
            </a:r>
          </a:p>
        </p:txBody>
      </p:sp>
      <p:sp>
        <p:nvSpPr>
          <p:cNvPr id="7" name="Takeaway text"/>
          <p:cNvSpPr txBox="1"/>
          <p:nvPr/>
        </p:nvSpPr>
        <p:spPr>
          <a:xfrm>
            <a:off x="1371600" y="5212080"/>
            <a:ext cx="15544800" cy="4206240"/>
          </a:xfrm>
          <a:prstGeom prst="rect">
            <a:avLst/>
          </a:prstGeom>
          <a:noFill/>
        </p:spPr>
        <p:txBody>
          <a:bodyPr wrap="square" lIns="0" rIns="0" tIns="0" bIns="0" anchor="t">
            <a:noAutofit/>
          </a:bodyPr>
          <a:lstStyle/>
          <a:p>
            <a:pPr algn="l" marL="384048" indent="-384048">
              <a:lnSpc>
                <a:spcPct val="105000"/>
              </a:lnSpc>
              <a:spcAft>
                <a:spcPts val="1800"/>
              </a:spcAft>
              <a:buClr>
                <a:srgbClr val="F2C14E"/>
              </a:buClr>
              <a:buFont typeface="Arial"/>
              <a:buChar char="•"/>
            </a:pPr>
            <a:r>
              <a:rPr sz="3000" b="1" i="0">
                <a:solidFill>
                  <a:srgbClr val="F2C14E"/>
                </a:solidFill>
                <a:latin typeface="Arial"/>
              </a:rPr>
              <a:t>Unemployment raises emigration;</a:t>
            </a:r>
            <a:r>
              <a:rPr sz="3000" b="0" i="0">
                <a:solidFill>
                  <a:srgbClr val="FFFFFF"/>
                </a:solidFill>
                <a:latin typeface="Arial"/>
              </a:rPr>
              <a:t> adult literacy, political instability and population density lower it</a:t>
            </a:r>
          </a:p>
          <a:p>
            <a:pPr algn="l" marL="384048" indent="-384048">
              <a:lnSpc>
                <a:spcPct val="105000"/>
              </a:lnSpc>
              <a:spcAft>
                <a:spcPts val="1800"/>
              </a:spcAft>
              <a:buClr>
                <a:srgbClr val="F2C14E"/>
              </a:buClr>
              <a:buFont typeface="Arial"/>
              <a:buChar char="•"/>
            </a:pPr>
            <a:r>
              <a:rPr sz="3000" b="1" i="0">
                <a:solidFill>
                  <a:srgbClr val="F2C14E"/>
                </a:solidFill>
                <a:latin typeface="Arial"/>
              </a:rPr>
              <a:t>Policy message:</a:t>
            </a:r>
            <a:r>
              <a:rPr sz="3000" b="0" i="0">
                <a:solidFill>
                  <a:srgbClr val="FFFFFF"/>
                </a:solidFill>
                <a:latin typeface="Arial"/>
              </a:rPr>
              <a:t> build a home economy with enough jobs</a:t>
            </a:r>
          </a:p>
          <a:p>
            <a:pPr algn="l" marL="384048" indent="-384048">
              <a:lnSpc>
                <a:spcPct val="105000"/>
              </a:lnSpc>
              <a:spcAft>
                <a:spcPts val="1800"/>
              </a:spcAft>
              <a:buClr>
                <a:srgbClr val="F2C14E"/>
              </a:buClr>
              <a:buFont typeface="Arial"/>
              <a:buChar char="•"/>
            </a:pPr>
            <a:r>
              <a:rPr sz="3000" b="1" i="0">
                <a:solidFill>
                  <a:srgbClr val="F2C14E"/>
                </a:solidFill>
                <a:latin typeface="Arial"/>
              </a:rPr>
              <a:t>Read with care:</a:t>
            </a:r>
            <a:r>
              <a:rPr sz="3000" b="0" i="0">
                <a:solidFill>
                  <a:srgbClr val="FFFFFF"/>
                </a:solidFill>
                <a:latin typeface="Arial"/>
              </a:rPr>
              <a:t> small sample, weak proxies and missing pull factors</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descr="A red background with a pattern  AI-generated content may be incorrect."/>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17" b="0"/>
              </a:stretch>
            </a:blipFill>
          </p:spPr>
        </p:sp>
      </p:grpSp>
      <p:sp>
        <p:nvSpPr>
          <p:cNvPr name="TextBox 4" id="4"/>
          <p:cNvSpPr txBox="true"/>
          <p:nvPr/>
        </p:nvSpPr>
        <p:spPr>
          <a:xfrm rot="0">
            <a:off x="2606021" y="9397517"/>
            <a:ext cx="13533149" cy="302781"/>
          </a:xfrm>
          <a:prstGeom prst="rect">
            <a:avLst/>
          </a:prstGeom>
        </p:spPr>
        <p:txBody>
          <a:bodyPr anchor="t" rtlCol="false" tIns="0" lIns="0" bIns="0" rIns="0">
            <a:spAutoFit/>
          </a:bodyPr>
          <a:lstStyle/>
          <a:p>
            <a:pPr algn="ctr">
              <a:lnSpc>
                <a:spcPts val="2410"/>
              </a:lnSpc>
            </a:pPr>
            <a:r>
              <a:rPr lang="en-US" sz="2790">
                <a:solidFill>
                  <a:srgbClr val="FFFFFF"/>
                </a:solidFill>
                <a:latin typeface="Arial"/>
                <a:ea typeface="Arial"/>
                <a:cs typeface="Arial"/>
                <a:sym typeface="Arial"/>
              </a:rPr>
              <a:t>We build dreams without limits! | www.usep.edu.ph</a:t>
            </a:r>
          </a:p>
        </p:txBody>
      </p:sp>
      <p:grpSp>
        <p:nvGrpSpPr>
          <p:cNvPr name="Group 5" id="5"/>
          <p:cNvGrpSpPr/>
          <p:nvPr/>
        </p:nvGrpSpPr>
        <p:grpSpPr>
          <a:xfrm rot="0">
            <a:off x="1780746" y="749113"/>
            <a:ext cx="14581470" cy="3400806"/>
            <a:chOff x="0" y="0"/>
            <a:chExt cx="19441960" cy="4534408"/>
          </a:xfrm>
        </p:grpSpPr>
        <p:sp>
          <p:nvSpPr>
            <p:cNvPr name="Freeform 6" id="6"/>
            <p:cNvSpPr/>
            <p:nvPr/>
          </p:nvSpPr>
          <p:spPr>
            <a:xfrm flipH="false" flipV="false" rot="0">
              <a:off x="0" y="0"/>
              <a:ext cx="19441922" cy="4534408"/>
            </a:xfrm>
            <a:custGeom>
              <a:avLst/>
              <a:gdLst/>
              <a:ahLst/>
              <a:cxnLst/>
              <a:rect r="r" b="b" t="t" l="l"/>
              <a:pathLst>
                <a:path h="4534408" w="19441922">
                  <a:moveTo>
                    <a:pt x="0" y="0"/>
                  </a:moveTo>
                  <a:lnTo>
                    <a:pt x="19441922" y="0"/>
                  </a:lnTo>
                  <a:lnTo>
                    <a:pt x="19441922" y="4534408"/>
                  </a:lnTo>
                  <a:lnTo>
                    <a:pt x="0" y="4534408"/>
                  </a:lnTo>
                  <a:lnTo>
                    <a:pt x="0" y="0"/>
                  </a:lnTo>
                  <a:close/>
                </a:path>
              </a:pathLst>
            </a:custGeom>
            <a:blipFill>
              <a:blip r:embed="rId4"/>
              <a:stretch>
                <a:fillRect l="0" t="0" r="-231" b="-141178"/>
              </a:stretch>
            </a:blipFill>
          </p:spPr>
        </p:sp>
      </p:grpSp>
      <p:sp>
        <p:nvSpPr>
          <p:cNvPr id="7" name="Title"/>
          <p:cNvSpPr txBox="1"/>
          <p:nvPr/>
        </p:nvSpPr>
        <p:spPr>
          <a:xfrm>
            <a:off x="1371600" y="5120640"/>
            <a:ext cx="15544800" cy="1463040"/>
          </a:xfrm>
          <a:prstGeom prst="rect">
            <a:avLst/>
          </a:prstGeom>
          <a:noFill/>
        </p:spPr>
        <p:txBody>
          <a:bodyPr wrap="square" lIns="0" rIns="0" tIns="0" bIns="0" anchor="ctr">
            <a:noAutofit/>
          </a:bodyPr>
          <a:lstStyle/>
          <a:p>
            <a:pPr algn="ctr">
              <a:lnSpc>
                <a:spcPct val="105000"/>
              </a:lnSpc>
              <a:spcAft>
                <a:spcPts val="1000"/>
              </a:spcAft>
            </a:pPr>
            <a:r>
              <a:rPr sz="6600" b="1" i="0">
                <a:solidFill>
                  <a:srgbClr val="FFFFFF"/>
                </a:solidFill>
                <a:latin typeface="Arial"/>
              </a:rPr>
              <a:t>Thank you</a:t>
            </a:r>
          </a:p>
        </p:txBody>
      </p:sp>
      <p:sp>
        <p:nvSpPr>
          <p:cNvPr id="8" name="Subtitle"/>
          <p:cNvSpPr txBox="1"/>
          <p:nvPr/>
        </p:nvSpPr>
        <p:spPr>
          <a:xfrm>
            <a:off x="1371600" y="6675120"/>
            <a:ext cx="15544800" cy="914400"/>
          </a:xfrm>
          <a:prstGeom prst="rect">
            <a:avLst/>
          </a:prstGeom>
          <a:noFill/>
        </p:spPr>
        <p:txBody>
          <a:bodyPr wrap="square" lIns="0" rIns="0" tIns="0" bIns="0" anchor="t">
            <a:noAutofit/>
          </a:bodyPr>
          <a:lstStyle/>
          <a:p>
            <a:pPr algn="ctr">
              <a:lnSpc>
                <a:spcPct val="105000"/>
              </a:lnSpc>
              <a:spcAft>
                <a:spcPts val="1000"/>
              </a:spcAft>
            </a:pPr>
            <a:r>
              <a:rPr sz="3200" b="0" i="0">
                <a:solidFill>
                  <a:srgbClr val="F2C14E"/>
                </a:solidFill>
                <a:latin typeface="Arial"/>
              </a:rPr>
              <a:t>Questions and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DAHSmY36HKY</dc:identifier>
  <dcterms:modified xsi:type="dcterms:W3CDTF">2011-08-01T06:04:30Z</dcterms:modified>
  <cp:revision>1</cp:revision>
  <dc:title>USeP PPT Template</dc:title>
</cp:coreProperties>
</file>