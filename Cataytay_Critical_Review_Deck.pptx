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06453ba-a68d-680c-a9fa-ce2878096c5c}">
          <p14:sldIdLst>
            <p14:sldId id="256"/>
            <p14:sldId id="257"/>
            <p14:sldId id="258"/>
          </p14:sldIdLst>
        </p14:section>
        <p14:section name="Review" id="{7b89df50-3270-6de3-b768-2ef098776817}">
          <p14:sldIdLst>
            <p14:sldId id="259"/>
            <p14:sldId id="260"/>
            <p14:sldId id="261"/>
            <p14:sldId id="262"/>
            <p14:sldId id="263"/>
            <p14:sldId id="264"/>
            <p14:sldId id="265"/>
            <p14:sldId id="266"/>
            <p14:sldId id="267"/>
          </p14:sldIdLst>
        </p14:section>
        <p14:section name="Conclusion" id="{c3da691d-49b0-9b81-4773-2035c71107f5}">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3C49"/>
                </a:solidFill>
                <a:latin typeface="+mn-lt"/>
              </a:defRPr>
            </a:pPr>
            <a:r>
              <a:rPr sz="1200" b="0" i="0" u="none" strike="noStrike">
                <a:solidFill>
                  <a:srgbClr val="0B3C49"/>
                </a:solidFill>
                <a:latin typeface="+mn-lt"/>
              </a:rPr>
              <a:t>t-statistic of each variable (beyond ±2 = significant)</a:t>
            </a:r>
          </a:p>
        </c:rich>
      </c:tx>
      <c:layout/>
      <c:overlay val="0"/>
    </c:title>
    <c:autoTitleDeleted val="0"/>
    <c:plotArea>
      <c:layout/>
      <c:barChart>
        <c:barDir val="bar"/>
        <c:grouping val="stacked"/>
        <c:varyColors val="0"/>
        <c:ser>
          <c:idx val="0"/>
          <c:order val="0"/>
          <c:tx>
            <c:strRef>
              <c:f>Sheet1!$B$1</c:f>
              <c:strCache>
                <c:ptCount val="1"/>
                <c:pt idx="0">
                  <c:v>Statistically significant (5%)</c:v>
                </c:pt>
              </c:strCache>
            </c:strRef>
          </c:tx>
          <c:spPr>
            <a:solidFill>
              <a:srgbClr val="C8553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Adult literacy</c:v>
                  </c:pt>
                  <c:pt idx="1">
                    <c:v>Error correction term</c:v>
                  </c:pt>
                  <c:pt idx="2">
                    <c:v>Political instability</c:v>
                  </c:pt>
                  <c:pt idx="3">
                    <c:v>Population density</c:v>
                  </c:pt>
                  <c:pt idx="4">
                    <c:v>Income inequality</c:v>
                  </c:pt>
                  <c:pt idx="5">
                    <c:v>Inflation</c:v>
                  </c:pt>
                  <c:pt idx="6">
                    <c:v>Cost of migration</c:v>
                  </c:pt>
                  <c:pt idx="7">
                    <c:v>Per capita income</c:v>
                  </c:pt>
                  <c:pt idx="8">
                    <c:v>Income inequality²</c:v>
                  </c:pt>
                  <c:pt idx="9">
                    <c:v>Unemployment</c:v>
                  </c:pt>
                </c:lvl>
              </c:multiLvlStrCache>
            </c:multiLvlStrRef>
          </c:cat>
          <c:val>
            <c:numRef>
              <c:f>Sheet1!$B$2:$B$11</c:f>
              <c:numCache>
                <c:formatCode>General</c:formatCode>
                <c:ptCount val="10"/>
                <c:pt idx="0">
                  <c:v>-5.225</c:v>
                </c:pt>
                <c:pt idx="1">
                  <c:v>-4.224</c:v>
                </c:pt>
                <c:pt idx="2">
                  <c:v>-3.444</c:v>
                </c:pt>
                <c:pt idx="3">
                  <c:v>-2.756</c:v>
                </c:pt>
                <c:pt idx="4">
                  <c:v>0</c:v>
                </c:pt>
                <c:pt idx="5">
                  <c:v>0</c:v>
                </c:pt>
                <c:pt idx="6">
                  <c:v>0</c:v>
                </c:pt>
                <c:pt idx="7">
                  <c:v>0</c:v>
                </c:pt>
                <c:pt idx="8">
                  <c:v>0</c:v>
                </c:pt>
                <c:pt idx="9">
                  <c:v>4.629</c:v>
                </c:pt>
              </c:numCache>
            </c:numRef>
          </c:val>
        </c:ser>
        <c:ser>
          <c:idx val="1"/>
          <c:order val="1"/>
          <c:tx>
            <c:strRef>
              <c:f>Sheet1!$C$1</c:f>
              <c:strCache>
                <c:ptCount val="1"/>
                <c:pt idx="0">
                  <c:v>Not statistically significant</c:v>
                </c:pt>
              </c:strCache>
            </c:strRef>
          </c:tx>
          <c:spPr>
            <a:solidFill>
              <a:srgbClr val="B8C4C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Adult literacy</c:v>
                  </c:pt>
                  <c:pt idx="1">
                    <c:v>Error correction term</c:v>
                  </c:pt>
                  <c:pt idx="2">
                    <c:v>Political instability</c:v>
                  </c:pt>
                  <c:pt idx="3">
                    <c:v>Population density</c:v>
                  </c:pt>
                  <c:pt idx="4">
                    <c:v>Income inequality</c:v>
                  </c:pt>
                  <c:pt idx="5">
                    <c:v>Inflation</c:v>
                  </c:pt>
                  <c:pt idx="6">
                    <c:v>Cost of migration</c:v>
                  </c:pt>
                  <c:pt idx="7">
                    <c:v>Per capita income</c:v>
                  </c:pt>
                  <c:pt idx="8">
                    <c:v>Income inequality²</c:v>
                  </c:pt>
                  <c:pt idx="9">
                    <c:v>Unemployment</c:v>
                  </c:pt>
                </c:lvl>
              </c:multiLvlStrCache>
            </c:multiLvlStrRef>
          </c:cat>
          <c:val>
            <c:numRef>
              <c:f>Sheet1!$C$2:$C$11</c:f>
              <c:numCache>
                <c:formatCode>General</c:formatCode>
                <c:ptCount val="10"/>
                <c:pt idx="0">
                  <c:v>0</c:v>
                </c:pt>
                <c:pt idx="1">
                  <c:v>0</c:v>
                </c:pt>
                <c:pt idx="2">
                  <c:v>0</c:v>
                </c:pt>
                <c:pt idx="3">
                  <c:v>0</c:v>
                </c:pt>
                <c:pt idx="4">
                  <c:v>-1.594</c:v>
                </c:pt>
                <c:pt idx="5">
                  <c:v>-1.327</c:v>
                </c:pt>
                <c:pt idx="6">
                  <c:v>-0.429</c:v>
                </c:pt>
                <c:pt idx="7">
                  <c:v>-0.293</c:v>
                </c:pt>
                <c:pt idx="8">
                  <c:v>1.323</c:v>
                </c:pt>
                <c:pt idx="9">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6"/>
          <c:min val="-6"/>
        </c:scaling>
        <c:delete val="0"/>
        <c:axPos val="b"/>
        <c:majorGridlines>
          <c:spPr>
            <a:ln w="6350" cap="flat">
              <a:solidFill>
                <a:srgbClr val="DDE3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B84"/>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rgbClr val="1B1F2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This is my critical review of a 2010 article by Agbola and Acupan. The article asks one question: what conditions in the Philippines push Filipinos to leave the country? I will cover six parts: the research problem, the theoretical framework, the data, the methodology, the key findings, and areas for further research. I will also give my own critical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numbers for context. In 2007, Filipinos abroad sent home 14.4 billion US dollars in remittances, which is money sent home by workers abroad. About 8.2 million Filipinos live or work in more than 193 countries. Because emigration is this large, it is important to know what causes it. The study uses 31 years of yearly data, from 1975 to 2005.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going further, here are the terms I will use throughout. Emigration means people leaving the Philippines. The migration share is the number of Filipino migrants divided by the population; it is what the study tries to explain. Push factors are conditions at home, like having no job. Pull factors are conditions abroad, like higher wages. A proxy is a stand-in measure. Stationary data move around a stable average, and a unit root test checks this. Cointegration means several data series move together in the long run. The error correction model, or ECM, shows short-run changes and how the data return to the long-run path; the error correction term, or ECT, measures the speed of that return. Statistically significant means the result is unlikely to be due to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the Philippines started sending workers abroad in the 1970s as a short-term fix for unemployment. It became a permanent part of the economy. The law is also unclear. Republic Act 8042 says the State does not promote overseas work, but the same law says deployment shall be encouraged. The gap: the causes of emigration from the Philippines are not well established, so policymakers lack evidence. My critical comment: the problem is clear and important, but the authors do not review earlier Philippine studies in detail, so the gap is stated more than it is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theory explains emigration, and the authors admit this. They combine four ideas. First, people migrate when they expect a better life. Second, human capital theory says migration is an investment, so more educated people should migrate more. Third, the Roy effect says income inequality decides which skill groups leave. Fourth, the gravity model says migration depends on income, population and the cost of migration. From these, they build one equation: the migration share depends on nine explanatory variables. My critical view: this is a mix of theories, not one model. Also, the study uses only push factors from the Philippines; pull factors from destination countries are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data are secondary data, meaning other agencies collected them. They are yearly national data from 1975 to 2005, so there are only 31 observations. The migration share comes from the Commission on Filipinos Overseas and the National Statistical Coordination Board. The other data come from the IMF, the Bangko Sentral ng Pilipinas and the NSCB. Two measures are proxies: airfare stands in for the cost of migration, and adult literacy stands in for education. The last column shows the sign the authors expected for each coefficient. My critical comment: the paper does not say where the income inequality data came from. The Philippines measures the Gini coefficient only every few years, so the yearly values were probably estimated, but this is not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methodology has five steps. Step one, unit root tests: the ADF and Phillips–Perron tests check if the data are stationary. Most data are not stationary at first, but they become stationary after first differences, meaning the change from one year to the next. Step two, cointegration tests: three tests show that the variables move together in the long run. Step three, choosing the model: start with a big model and drop terms that are not statistically significant. Step four, estimation: the error correction model is estimated using ordinary least squares, or OLS, in EViews. Step five, diagnostic tests: the model passes all checks. My concern: the Johansen test finds five to eight long-run relationships, but the ECM keeps only one error correction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t-statistic for each variable, taken from Table 3 of the article. A t-statistic beyond plus or minus two means the result is statistically significant. Red bars are statistically significant: unemployment raises emigration, while adult literacy, political instability and population density lower it. Grey bars are not statistically significant. On the right: the model explains 63 percent of changes in the migration share. The error correction term of minus 0.776 means about 78 percent of any gap from the long-run path closes within one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statistically significant push factors. One: when unemployment goes up, emigration goes up. Emigration works like a safety valve when there are not enough jobs. Two: when adult literacy goes up, emigration goes down. This is the opposite of what human capital theory predicts. The authors say it is because most Filipino migrants do low-skilled jobs abroad. Three: when political instability goes up, emigration goes down; the migration share fell in unstable years like 1986 and 2001. Four: when population density goes up, emigration goes down. This was not expected, and the authors cannot fully explain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variables were not statistically significant. Cost of migration, per capita income and inflation had the expected negative sign, but their effect could be due to chance. Income inequality was also not significant, so the Roy effect does not hold for the Philippines. The authors conclude that the main push factors are unemployment, adult literacy, political instability and population density. They recommend better migration data, agreements with destination countries to protect workers, and building a home economy with enough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own assessment. Strengths: the question is important, the steps are careful, the diagnostic tests are all reported, and the paper explains the policy background well. Weaknesses: first, 31 observations is a small sample for 10 explanatory terms, so the tests may miss real effects. Second, the proxies are weak. Airfare is only the minimum cost of migration, and adult literacy in the Philippines is already very high, so it changes little. Third, the study uses only push factors and ignores pull factors such as job demand in the Middle East. Fourth, the authors say literacy lowers emigration because migrants are low-skilled, but the paper itself cites a study showing that more professionals left than were added at home. Fifth, the P–P test shows per capita income is still not stationary after first differences, and there are no tests for structural breaks, meaning sudden changes such as the 1986 EDSA Revolution or the 1997 Asian financial crisis.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the limitations the authors themselves mention: migration data are hard to collect, airfare shows only the minimum cost of migration, the population density result is hard to explain, and the data cannot prove the political instability story. The authors call for more research on the population density result and for better migration data. On the right are my own suggestions. One, split the data into temporary and permanent migrants, and by skill level. Two, add pull factors from destination countries. Three, update the data past 2005 and test for structural breaks. Four, use household survey data to test human capital theory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push factors at home shape Filipino emigration. Unemployment raises emigration, while adult literacy, political instability and population density lower it. The study gives useful early evidence and a clear policy message: build a home economy with enough jobs. But because of the small sample, the weak proxies and the missing pull factors, we should treat its results as a starting point, not a final answer.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5544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ph idx="101" type="body" hasCustomPrompt="1"/>
          </p:nvPr>
        </p:nvSpPr>
        <p:spPr>
          <a:xfrm>
            <a:off x="548640" y="2971800"/>
            <a:ext cx="8046720" cy="91440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457200" y="4754880"/>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Agbola &amp; Acupan (2010), Economic Systems 34, 386–396</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554480"/>
          </a:xfrm>
          <a:prstGeom prst="rect">
            <a:avLst/>
          </a:prstGeom>
          <a:noFill/>
          <a:ln/>
        </p:spPr>
        <p:txBody>
          <a:bodyPr wrap="square" lIns="0" tIns="0" rIns="0" bIns="0" rtlCol="0" anchor="b"/>
          <a:lstStyle/>
          <a:p>
            <a:pPr algn="l" indent="0" marL="0">
              <a:buNone/>
            </a:pPr>
            <a:r>
              <a:rPr lang="en-US" sz="3200" b="1" dirty="0">
                <a:solidFill>
                  <a:schemeClr val="bg1"/>
                </a:solidFill>
              </a:rPr>
              <a:t>Critical Review: An Empirical Analysis of International Labour Migration in the Philippines</a:t>
            </a:r>
            <a:endParaRPr lang="en-US" sz="3200" dirty="0"/>
          </a:p>
        </p:txBody>
      </p:sp>
      <p:sp>
        <p:nvSpPr>
          <p:cNvPr id="3" name="Text 0"/>
          <p:cNvSpPr/>
          <p:nvPr>
            <p:ph idx="101" type="body" hasCustomPrompt="1"/>
          </p:nvPr>
        </p:nvSpPr>
        <p:spPr>
          <a:xfrm>
            <a:off x="548640" y="2971800"/>
            <a:ext cx="8046720" cy="914400"/>
          </a:xfrm>
          <a:prstGeom prst="rect">
            <a:avLst/>
          </a:prstGeom>
          <a:noFill/>
          <a:ln/>
        </p:spPr>
        <p:txBody>
          <a:bodyPr wrap="square" lIns="0" tIns="0" rIns="0" bIns="0" rtlCol="0" anchor="t"/>
          <a:lstStyle/>
          <a:p>
            <a:pPr indent="0" marL="0">
              <a:buNone/>
            </a:pPr>
            <a:r>
              <a:rPr lang="en-US" sz="1600" dirty="0">
                <a:solidFill>
                  <a:schemeClr val="accent5"/>
                </a:solidFill>
              </a:rPr>
              <a:t>Agbola, F. W. &amp; Acupan, A. B. (2010) · Economic Systems, 34, 386–396</a:t>
            </a:r>
            <a:endParaRPr lang="en-US" sz="1600" dirty="0"/>
          </a:p>
          <a:p>
            <a:pPr indent="0" marL="0">
              <a:buNone/>
            </a:pPr>
            <a:r>
              <a:rPr lang="en-US" sz="1600" dirty="0">
                <a:solidFill>
                  <a:schemeClr val="accent5"/>
                </a:solidFill>
              </a:rPr>
              <a:t>Prepared by: Cataytay</a:t>
            </a:r>
            <a:endParaRPr lang="en-US" sz="1600" dirty="0"/>
          </a:p>
        </p:txBody>
      </p:sp>
      <p:pic>
        <p:nvPicPr>
          <p:cNvPr id="4" name="Plane icon" descr="preencoded.png">    </p:cNvPr>
          <p:cNvPicPr>
            <a:picLocks noChangeAspect="1"/>
          </p:cNvPicPr>
          <p:nvPr/>
        </p:nvPicPr>
        <p:blipFill>
          <a:blip r:embed="rId1"/>
          <a:stretch>
            <a:fillRect/>
          </a:stretch>
        </p:blipFill>
        <p:spPr>
          <a:xfrm>
            <a:off x="548640" y="548640"/>
            <a:ext cx="502920" cy="502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The article at a glance</a:t>
            </a:r>
            <a:endParaRPr lang="en-US" sz="2800" dirty="0"/>
          </a:p>
        </p:txBody>
      </p:sp>
      <p:sp>
        <p:nvSpPr>
          <p:cNvPr id="3" name="Badge"/>
          <p:cNvSpPr/>
          <p:nvPr/>
        </p:nvSpPr>
        <p:spPr>
          <a:xfrm>
            <a:off x="457200" y="365760"/>
            <a:ext cx="548640" cy="548640"/>
          </a:xfrm>
          <a:prstGeom prst="ellipse">
            <a:avLst/>
          </a:prstGeom>
          <a:solidFill>
            <a:schemeClr val="accent1"/>
          </a:solidFill>
          <a:ln/>
        </p:spPr>
      </p:sp>
      <p:pic>
        <p:nvPicPr>
          <p:cNvPr id="4" name="Badge icon" descr="preencoded.png">    </p:cNvPr>
          <p:cNvPicPr>
            <a:picLocks noChangeAspect="1"/>
          </p:cNvPicPr>
          <p:nvPr/>
        </p:nvPicPr>
        <p:blipFill>
          <a:blip r:embed="rId1"/>
          <a:stretch>
            <a:fillRect/>
          </a:stretch>
        </p:blipFill>
        <p:spPr>
          <a:xfrm>
            <a:off x="594360" y="502920"/>
            <a:ext cx="274320" cy="274320"/>
          </a:xfrm>
          <a:prstGeom prst="rect">
            <a:avLst/>
          </a:prstGeom>
        </p:spPr>
      </p:pic>
      <p:sp>
        <p:nvSpPr>
          <p:cNvPr id="5" name="Stat 1"/>
          <p:cNvSpPr txBox="1"/>
          <p:nvPr/>
        </p:nvSpPr>
        <p:spPr>
          <a:xfrm>
            <a:off x="457200" y="1234440"/>
            <a:ext cx="2377440" cy="54864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US$14.4B</a:t>
            </a:r>
            <a:endParaRPr lang="en-US" sz="3400" dirty="0"/>
          </a:p>
        </p:txBody>
      </p:sp>
      <p:sp>
        <p:nvSpPr>
          <p:cNvPr id="6" name="Stat label 1"/>
          <p:cNvSpPr txBox="1"/>
          <p:nvPr/>
        </p:nvSpPr>
        <p:spPr>
          <a:xfrm>
            <a:off x="457200" y="1783080"/>
            <a:ext cx="2926080" cy="411480"/>
          </a:xfrm>
          <a:prstGeom prst="rect">
            <a:avLst/>
          </a:prstGeom>
          <a:noFill/>
          <a:ln/>
        </p:spPr>
        <p:txBody>
          <a:bodyPr wrap="square" lIns="0" tIns="0" rIns="0" bIns="0" rtlCol="0" anchor="t"/>
          <a:lstStyle/>
          <a:p>
            <a:pPr indent="0" marL="0">
              <a:buNone/>
            </a:pPr>
            <a:r>
              <a:rPr lang="en-US" sz="1400" dirty="0">
                <a:solidFill>
                  <a:schemeClr val="accent4"/>
                </a:solidFill>
              </a:rPr>
              <a:t>remittances (money sent home) in 2007</a:t>
            </a:r>
            <a:endParaRPr lang="en-US" sz="1400" dirty="0"/>
          </a:p>
        </p:txBody>
      </p:sp>
      <p:sp>
        <p:nvSpPr>
          <p:cNvPr id="7" name="Stat 2"/>
          <p:cNvSpPr txBox="1"/>
          <p:nvPr/>
        </p:nvSpPr>
        <p:spPr>
          <a:xfrm>
            <a:off x="457200" y="2350008"/>
            <a:ext cx="2377440" cy="54864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8.2M</a:t>
            </a:r>
            <a:endParaRPr lang="en-US" sz="3400" dirty="0"/>
          </a:p>
        </p:txBody>
      </p:sp>
      <p:sp>
        <p:nvSpPr>
          <p:cNvPr id="8" name="Stat label 2"/>
          <p:cNvSpPr txBox="1"/>
          <p:nvPr/>
        </p:nvSpPr>
        <p:spPr>
          <a:xfrm>
            <a:off x="457200" y="2898648"/>
            <a:ext cx="2926080" cy="411480"/>
          </a:xfrm>
          <a:prstGeom prst="rect">
            <a:avLst/>
          </a:prstGeom>
          <a:noFill/>
          <a:ln/>
        </p:spPr>
        <p:txBody>
          <a:bodyPr wrap="square" lIns="0" tIns="0" rIns="0" bIns="0" rtlCol="0" anchor="t"/>
          <a:lstStyle/>
          <a:p>
            <a:pPr indent="0" marL="0">
              <a:buNone/>
            </a:pPr>
            <a:r>
              <a:rPr lang="en-US" sz="1400" dirty="0">
                <a:solidFill>
                  <a:schemeClr val="accent4"/>
                </a:solidFill>
              </a:rPr>
              <a:t>Filipinos living or working in 193+ countries</a:t>
            </a:r>
            <a:endParaRPr lang="en-US" sz="1400" dirty="0"/>
          </a:p>
        </p:txBody>
      </p:sp>
      <p:sp>
        <p:nvSpPr>
          <p:cNvPr id="9" name="Stat 3"/>
          <p:cNvSpPr txBox="1"/>
          <p:nvPr/>
        </p:nvSpPr>
        <p:spPr>
          <a:xfrm>
            <a:off x="457200" y="3465576"/>
            <a:ext cx="2377440" cy="54864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31 years</a:t>
            </a:r>
            <a:endParaRPr lang="en-US" sz="3400" dirty="0"/>
          </a:p>
        </p:txBody>
      </p:sp>
      <p:sp>
        <p:nvSpPr>
          <p:cNvPr id="10" name="Stat label 3"/>
          <p:cNvSpPr txBox="1"/>
          <p:nvPr/>
        </p:nvSpPr>
        <p:spPr>
          <a:xfrm>
            <a:off x="457200" y="4014216"/>
            <a:ext cx="2926080" cy="411480"/>
          </a:xfrm>
          <a:prstGeom prst="rect">
            <a:avLst/>
          </a:prstGeom>
          <a:noFill/>
          <a:ln/>
        </p:spPr>
        <p:txBody>
          <a:bodyPr wrap="square" lIns="0" tIns="0" rIns="0" bIns="0" rtlCol="0" anchor="t"/>
          <a:lstStyle/>
          <a:p>
            <a:pPr indent="0" marL="0">
              <a:buNone/>
            </a:pPr>
            <a:r>
              <a:rPr lang="en-US" sz="1400" dirty="0">
                <a:solidFill>
                  <a:schemeClr val="accent4"/>
                </a:solidFill>
              </a:rPr>
              <a:t>of yearly national data, 1975–2005</a:t>
            </a:r>
            <a:endParaRPr lang="en-US" sz="1400" dirty="0"/>
          </a:p>
        </p:txBody>
      </p:sp>
      <p:sp>
        <p:nvSpPr>
          <p:cNvPr id="11" name="Summary card"/>
          <p:cNvSpPr/>
          <p:nvPr/>
        </p:nvSpPr>
        <p:spPr>
          <a:xfrm>
            <a:off x="3931920" y="1234440"/>
            <a:ext cx="4754880" cy="3200400"/>
          </a:xfrm>
          <a:prstGeom prst="roundRect">
            <a:avLst>
              <a:gd name="adj" fmla="val 2286"/>
            </a:avLst>
          </a:prstGeom>
          <a:solidFill>
            <a:schemeClr val="bg2"/>
          </a:solidFill>
          <a:ln/>
        </p:spPr>
      </p:sp>
      <p:sp>
        <p:nvSpPr>
          <p:cNvPr id="12" name="Text 9"/>
          <p:cNvSpPr txBox="1"/>
          <p:nvPr/>
        </p:nvSpPr>
        <p:spPr>
          <a:xfrm>
            <a:off x="4206240" y="1463040"/>
            <a:ext cx="4206240" cy="365760"/>
          </a:xfrm>
          <a:prstGeom prst="rect">
            <a:avLst/>
          </a:prstGeom>
          <a:noFill/>
          <a:ln/>
        </p:spPr>
        <p:txBody>
          <a:bodyPr wrap="square" lIns="0" tIns="0" rIns="0" bIns="0" rtlCol="0" anchor="t"/>
          <a:lstStyle/>
          <a:p>
            <a:pPr indent="0" marL="0">
              <a:buNone/>
            </a:pPr>
            <a:r>
              <a:rPr lang="en-US" sz="1800" b="1" dirty="0">
                <a:solidFill>
                  <a:schemeClr val="tx2"/>
                </a:solidFill>
              </a:rPr>
              <a:t>The study in two sentences</a:t>
            </a:r>
            <a:endParaRPr lang="en-US" sz="1800" dirty="0"/>
          </a:p>
        </p:txBody>
      </p:sp>
      <p:sp>
        <p:nvSpPr>
          <p:cNvPr id="13" name="Text 10"/>
          <p:cNvSpPr txBox="1"/>
          <p:nvPr/>
        </p:nvSpPr>
        <p:spPr>
          <a:xfrm>
            <a:off x="4206240" y="1874520"/>
            <a:ext cx="4206240" cy="1234440"/>
          </a:xfrm>
          <a:prstGeom prst="rect">
            <a:avLst/>
          </a:prstGeom>
          <a:noFill/>
          <a:ln/>
        </p:spPr>
        <p:txBody>
          <a:bodyPr wrap="square" lIns="0" tIns="0" rIns="0" bIns="0" rtlCol="0" anchor="t"/>
          <a:lstStyle/>
          <a:p>
            <a:pPr indent="0" marL="0">
              <a:buNone/>
            </a:pPr>
            <a:r>
              <a:rPr lang="en-US" sz="1500" dirty="0">
                <a:solidFill>
                  <a:schemeClr val="tx1"/>
                </a:solidFill>
              </a:rPr>
              <a:t>The study asks which conditions in the Philippines push Filipinos to leave the country. It answers this with yearly national data from 1975 to 2005 and an error correction model (ECM).</a:t>
            </a:r>
            <a:endParaRPr lang="en-US" sz="1500" dirty="0"/>
          </a:p>
        </p:txBody>
      </p:sp>
      <p:sp>
        <p:nvSpPr>
          <p:cNvPr id="14" name="Text 11"/>
          <p:cNvSpPr txBox="1"/>
          <p:nvPr/>
        </p:nvSpPr>
        <p:spPr>
          <a:xfrm>
            <a:off x="4206240" y="3200400"/>
            <a:ext cx="4206240" cy="100584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Journal: </a:t>
            </a:r>
            <a:pPr indent="0" marL="0">
              <a:spcAft>
                <a:spcPts val="200"/>
              </a:spcAft>
              <a:buNone/>
            </a:pPr>
            <a:r>
              <a:rPr lang="en-US" sz="1400" dirty="0">
                <a:solidFill>
                  <a:schemeClr val="tx1"/>
                </a:solidFill>
              </a:rPr>
              <a:t>Economic Systems (Elsevier)</a:t>
            </a:r>
            <a:endParaRPr lang="en-US" sz="1400" dirty="0"/>
          </a:p>
          <a:p>
            <a:pPr indent="0" marL="0">
              <a:spcAft>
                <a:spcPts val="200"/>
              </a:spcAft>
              <a:buNone/>
            </a:pPr>
            <a:r>
              <a:rPr lang="en-US" sz="1400" b="1" dirty="0">
                <a:solidFill>
                  <a:schemeClr val="tx1"/>
                </a:solidFill>
              </a:rPr>
              <a:t>Country: </a:t>
            </a:r>
            <a:pPr indent="0" marL="0">
              <a:spcAft>
                <a:spcPts val="200"/>
              </a:spcAft>
              <a:buNone/>
            </a:pPr>
            <a:r>
              <a:rPr lang="en-US" sz="1400" dirty="0">
                <a:solidFill>
                  <a:schemeClr val="tx1"/>
                </a:solidFill>
              </a:rPr>
              <a:t>Philippines</a:t>
            </a:r>
            <a:endParaRPr lang="en-US" sz="1400" dirty="0"/>
          </a:p>
          <a:p>
            <a:pPr indent="0" marL="0">
              <a:spcAft>
                <a:spcPts val="200"/>
              </a:spcAft>
              <a:buNone/>
            </a:pPr>
            <a:r>
              <a:rPr lang="en-US" sz="1400" b="1" dirty="0">
                <a:solidFill>
                  <a:schemeClr val="tx1"/>
                </a:solidFill>
              </a:rPr>
              <a:t>Type: </a:t>
            </a:r>
            <a:pPr indent="0" marL="0">
              <a:spcAft>
                <a:spcPts val="200"/>
              </a:spcAft>
              <a:buNone/>
            </a:pPr>
            <a:r>
              <a:rPr lang="en-US" sz="1400" dirty="0">
                <a:solidFill>
                  <a:schemeClr val="tx1"/>
                </a:solidFill>
              </a:rPr>
              <a:t>Quantitative, time-series study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Key terms used in this review</a:t>
            </a:r>
            <a:endParaRPr lang="en-US" sz="2800" dirty="0"/>
          </a:p>
        </p:txBody>
      </p:sp>
      <p:sp>
        <p:nvSpPr>
          <p:cNvPr id="3" name="Badge"/>
          <p:cNvSpPr/>
          <p:nvPr/>
        </p:nvSpPr>
        <p:spPr>
          <a:xfrm>
            <a:off x="457200" y="365760"/>
            <a:ext cx="548640" cy="548640"/>
          </a:xfrm>
          <a:prstGeom prst="ellipse">
            <a:avLst/>
          </a:prstGeom>
          <a:solidFill>
            <a:schemeClr val="accent1"/>
          </a:solidFill>
          <a:ln/>
        </p:spPr>
      </p:sp>
      <p:pic>
        <p:nvPicPr>
          <p:cNvPr id="4" name="Badge icon" descr="preencoded.png">    </p:cNvPr>
          <p:cNvPicPr>
            <a:picLocks noChangeAspect="1"/>
          </p:cNvPicPr>
          <p:nvPr/>
        </p:nvPicPr>
        <p:blipFill>
          <a:blip r:embed="rId1"/>
          <a:stretch>
            <a:fillRect/>
          </a:stretch>
        </p:blipFill>
        <p:spPr>
          <a:xfrm>
            <a:off x="594360" y="502920"/>
            <a:ext cx="274320" cy="274320"/>
          </a:xfrm>
          <a:prstGeom prst="rect">
            <a:avLst/>
          </a:prstGeom>
        </p:spPr>
      </p:pic>
      <p:sp>
        <p:nvSpPr>
          <p:cNvPr id="5" name="Term 1"/>
          <p:cNvSpPr/>
          <p:nvPr/>
        </p:nvSpPr>
        <p:spPr>
          <a:xfrm>
            <a:off x="457200" y="1143000"/>
            <a:ext cx="4023360" cy="777240"/>
          </a:xfrm>
          <a:prstGeom prst="roundRect">
            <a:avLst>
              <a:gd name="adj" fmla="val 9412"/>
            </a:avLst>
          </a:prstGeom>
          <a:solidFill>
            <a:schemeClr val="bg2"/>
          </a:solidFill>
          <a:ln/>
        </p:spPr>
      </p:sp>
      <p:sp>
        <p:nvSpPr>
          <p:cNvPr id="6" name="Text 3"/>
          <p:cNvSpPr txBox="1"/>
          <p:nvPr/>
        </p:nvSpPr>
        <p:spPr>
          <a:xfrm>
            <a:off x="640080" y="1207008"/>
            <a:ext cx="3657600" cy="274320"/>
          </a:xfrm>
          <a:prstGeom prst="rect">
            <a:avLst/>
          </a:prstGeom>
          <a:noFill/>
          <a:ln/>
        </p:spPr>
        <p:txBody>
          <a:bodyPr wrap="square" lIns="0" tIns="0" rIns="0" bIns="0" rtlCol="0" anchor="t"/>
          <a:lstStyle/>
          <a:p>
            <a:pPr indent="0" marL="0">
              <a:buNone/>
            </a:pPr>
            <a:r>
              <a:rPr lang="en-US" sz="1400" b="1" dirty="0">
                <a:solidFill>
                  <a:schemeClr val="tx2"/>
                </a:solidFill>
              </a:rPr>
              <a:t>Emigration</a:t>
            </a:r>
            <a:endParaRPr lang="en-US" sz="1400" dirty="0"/>
          </a:p>
        </p:txBody>
      </p:sp>
      <p:sp>
        <p:nvSpPr>
          <p:cNvPr id="7" name="Text 4"/>
          <p:cNvSpPr txBox="1"/>
          <p:nvPr/>
        </p:nvSpPr>
        <p:spPr>
          <a:xfrm>
            <a:off x="640080" y="1481328"/>
            <a:ext cx="3703320" cy="411480"/>
          </a:xfrm>
          <a:prstGeom prst="rect">
            <a:avLst/>
          </a:prstGeom>
          <a:noFill/>
          <a:ln/>
        </p:spPr>
        <p:txBody>
          <a:bodyPr wrap="square" lIns="0" tIns="0" rIns="0" bIns="0" rtlCol="0" anchor="t"/>
          <a:lstStyle/>
          <a:p>
            <a:pPr indent="0" marL="0">
              <a:buNone/>
            </a:pPr>
            <a:r>
              <a:rPr lang="en-US" sz="1200" dirty="0">
                <a:solidFill>
                  <a:schemeClr val="tx1"/>
                </a:solidFill>
              </a:rPr>
              <a:t>People leaving the Philippines to live or work abroad</a:t>
            </a:r>
            <a:endParaRPr lang="en-US" sz="1200" dirty="0"/>
          </a:p>
        </p:txBody>
      </p:sp>
      <p:sp>
        <p:nvSpPr>
          <p:cNvPr id="8" name="Term 2"/>
          <p:cNvSpPr/>
          <p:nvPr/>
        </p:nvSpPr>
        <p:spPr>
          <a:xfrm>
            <a:off x="4663440" y="1143000"/>
            <a:ext cx="4023360" cy="777240"/>
          </a:xfrm>
          <a:prstGeom prst="roundRect">
            <a:avLst>
              <a:gd name="adj" fmla="val 9412"/>
            </a:avLst>
          </a:prstGeom>
          <a:solidFill>
            <a:schemeClr val="accent6"/>
          </a:solidFill>
          <a:ln/>
        </p:spPr>
      </p:sp>
      <p:sp>
        <p:nvSpPr>
          <p:cNvPr id="9" name="Text 6"/>
          <p:cNvSpPr txBox="1"/>
          <p:nvPr/>
        </p:nvSpPr>
        <p:spPr>
          <a:xfrm>
            <a:off x="4846320" y="1207008"/>
            <a:ext cx="3657600" cy="274320"/>
          </a:xfrm>
          <a:prstGeom prst="rect">
            <a:avLst/>
          </a:prstGeom>
          <a:noFill/>
          <a:ln/>
        </p:spPr>
        <p:txBody>
          <a:bodyPr wrap="square" lIns="0" tIns="0" rIns="0" bIns="0" rtlCol="0" anchor="t"/>
          <a:lstStyle/>
          <a:p>
            <a:pPr indent="0" marL="0">
              <a:buNone/>
            </a:pPr>
            <a:r>
              <a:rPr lang="en-US" sz="1400" b="1" dirty="0">
                <a:solidFill>
                  <a:schemeClr val="tx2"/>
                </a:solidFill>
              </a:rPr>
              <a:t>Migration share</a:t>
            </a:r>
            <a:endParaRPr lang="en-US" sz="1400" dirty="0"/>
          </a:p>
        </p:txBody>
      </p:sp>
      <p:sp>
        <p:nvSpPr>
          <p:cNvPr id="10" name="Text 7"/>
          <p:cNvSpPr txBox="1"/>
          <p:nvPr/>
        </p:nvSpPr>
        <p:spPr>
          <a:xfrm>
            <a:off x="4846320" y="1481328"/>
            <a:ext cx="3703320" cy="411480"/>
          </a:xfrm>
          <a:prstGeom prst="rect">
            <a:avLst/>
          </a:prstGeom>
          <a:noFill/>
          <a:ln/>
        </p:spPr>
        <p:txBody>
          <a:bodyPr wrap="square" lIns="0" tIns="0" rIns="0" bIns="0" rtlCol="0" anchor="t"/>
          <a:lstStyle/>
          <a:p>
            <a:pPr indent="0" marL="0">
              <a:buNone/>
            </a:pPr>
            <a:r>
              <a:rPr lang="en-US" sz="1200" dirty="0">
                <a:solidFill>
                  <a:schemeClr val="tx1"/>
                </a:solidFill>
              </a:rPr>
              <a:t>Filipino migrants as a share of the population; what the study explains</a:t>
            </a:r>
            <a:endParaRPr lang="en-US" sz="1200" dirty="0"/>
          </a:p>
        </p:txBody>
      </p:sp>
      <p:sp>
        <p:nvSpPr>
          <p:cNvPr id="11" name="Term 3"/>
          <p:cNvSpPr/>
          <p:nvPr/>
        </p:nvSpPr>
        <p:spPr>
          <a:xfrm>
            <a:off x="457200" y="2029968"/>
            <a:ext cx="4023360" cy="777240"/>
          </a:xfrm>
          <a:prstGeom prst="roundRect">
            <a:avLst>
              <a:gd name="adj" fmla="val 9412"/>
            </a:avLst>
          </a:prstGeom>
          <a:solidFill>
            <a:schemeClr val="accent6"/>
          </a:solidFill>
          <a:ln/>
        </p:spPr>
      </p:sp>
      <p:sp>
        <p:nvSpPr>
          <p:cNvPr id="12" name="Text 9"/>
          <p:cNvSpPr txBox="1"/>
          <p:nvPr/>
        </p:nvSpPr>
        <p:spPr>
          <a:xfrm>
            <a:off x="640080" y="2093976"/>
            <a:ext cx="3657600" cy="274320"/>
          </a:xfrm>
          <a:prstGeom prst="rect">
            <a:avLst/>
          </a:prstGeom>
          <a:noFill/>
          <a:ln/>
        </p:spPr>
        <p:txBody>
          <a:bodyPr wrap="square" lIns="0" tIns="0" rIns="0" bIns="0" rtlCol="0" anchor="t"/>
          <a:lstStyle/>
          <a:p>
            <a:pPr indent="0" marL="0">
              <a:buNone/>
            </a:pPr>
            <a:r>
              <a:rPr lang="en-US" sz="1400" b="1" dirty="0">
                <a:solidFill>
                  <a:schemeClr val="tx2"/>
                </a:solidFill>
              </a:rPr>
              <a:t>Push / pull factor</a:t>
            </a:r>
            <a:endParaRPr lang="en-US" sz="1400" dirty="0"/>
          </a:p>
        </p:txBody>
      </p:sp>
      <p:sp>
        <p:nvSpPr>
          <p:cNvPr id="13" name="Text 10"/>
          <p:cNvSpPr txBox="1"/>
          <p:nvPr/>
        </p:nvSpPr>
        <p:spPr>
          <a:xfrm>
            <a:off x="640080" y="2368296"/>
            <a:ext cx="3703320" cy="411480"/>
          </a:xfrm>
          <a:prstGeom prst="rect">
            <a:avLst/>
          </a:prstGeom>
          <a:noFill/>
          <a:ln/>
        </p:spPr>
        <p:txBody>
          <a:bodyPr wrap="square" lIns="0" tIns="0" rIns="0" bIns="0" rtlCol="0" anchor="t"/>
          <a:lstStyle/>
          <a:p>
            <a:pPr indent="0" marL="0">
              <a:buNone/>
            </a:pPr>
            <a:r>
              <a:rPr lang="en-US" sz="1200" dirty="0">
                <a:solidFill>
                  <a:schemeClr val="tx1"/>
                </a:solidFill>
              </a:rPr>
              <a:t>A condition at home that pushes people out / abroad that pulls them in</a:t>
            </a:r>
            <a:endParaRPr lang="en-US" sz="1200" dirty="0"/>
          </a:p>
        </p:txBody>
      </p:sp>
      <p:sp>
        <p:nvSpPr>
          <p:cNvPr id="14" name="Term 4"/>
          <p:cNvSpPr/>
          <p:nvPr/>
        </p:nvSpPr>
        <p:spPr>
          <a:xfrm>
            <a:off x="4663440" y="2029968"/>
            <a:ext cx="4023360" cy="777240"/>
          </a:xfrm>
          <a:prstGeom prst="roundRect">
            <a:avLst>
              <a:gd name="adj" fmla="val 9412"/>
            </a:avLst>
          </a:prstGeom>
          <a:solidFill>
            <a:schemeClr val="bg2"/>
          </a:solidFill>
          <a:ln/>
        </p:spPr>
      </p:sp>
      <p:sp>
        <p:nvSpPr>
          <p:cNvPr id="15" name="Text 12"/>
          <p:cNvSpPr txBox="1"/>
          <p:nvPr/>
        </p:nvSpPr>
        <p:spPr>
          <a:xfrm>
            <a:off x="4846320" y="2093976"/>
            <a:ext cx="3657600" cy="274320"/>
          </a:xfrm>
          <a:prstGeom prst="rect">
            <a:avLst/>
          </a:prstGeom>
          <a:noFill/>
          <a:ln/>
        </p:spPr>
        <p:txBody>
          <a:bodyPr wrap="square" lIns="0" tIns="0" rIns="0" bIns="0" rtlCol="0" anchor="t"/>
          <a:lstStyle/>
          <a:p>
            <a:pPr indent="0" marL="0">
              <a:buNone/>
            </a:pPr>
            <a:r>
              <a:rPr lang="en-US" sz="1400" b="1" dirty="0">
                <a:solidFill>
                  <a:schemeClr val="tx2"/>
                </a:solidFill>
              </a:rPr>
              <a:t>Proxy</a:t>
            </a:r>
            <a:endParaRPr lang="en-US" sz="1400" dirty="0"/>
          </a:p>
        </p:txBody>
      </p:sp>
      <p:sp>
        <p:nvSpPr>
          <p:cNvPr id="16" name="Text 13"/>
          <p:cNvSpPr txBox="1"/>
          <p:nvPr/>
        </p:nvSpPr>
        <p:spPr>
          <a:xfrm>
            <a:off x="4846320" y="2368296"/>
            <a:ext cx="3703320" cy="411480"/>
          </a:xfrm>
          <a:prstGeom prst="rect">
            <a:avLst/>
          </a:prstGeom>
          <a:noFill/>
          <a:ln/>
        </p:spPr>
        <p:txBody>
          <a:bodyPr wrap="square" lIns="0" tIns="0" rIns="0" bIns="0" rtlCol="0" anchor="t"/>
          <a:lstStyle/>
          <a:p>
            <a:pPr indent="0" marL="0">
              <a:buNone/>
            </a:pPr>
            <a:r>
              <a:rPr lang="en-US" sz="1200" dirty="0">
                <a:solidFill>
                  <a:schemeClr val="tx1"/>
                </a:solidFill>
              </a:rPr>
              <a:t>A stand-in measure for something that cannot be measured directly</a:t>
            </a:r>
            <a:endParaRPr lang="en-US" sz="1200" dirty="0"/>
          </a:p>
        </p:txBody>
      </p:sp>
      <p:sp>
        <p:nvSpPr>
          <p:cNvPr id="17" name="Term 5"/>
          <p:cNvSpPr/>
          <p:nvPr/>
        </p:nvSpPr>
        <p:spPr>
          <a:xfrm>
            <a:off x="457200" y="2916936"/>
            <a:ext cx="4023360" cy="777240"/>
          </a:xfrm>
          <a:prstGeom prst="roundRect">
            <a:avLst>
              <a:gd name="adj" fmla="val 9412"/>
            </a:avLst>
          </a:prstGeom>
          <a:solidFill>
            <a:schemeClr val="bg2"/>
          </a:solidFill>
          <a:ln/>
        </p:spPr>
      </p:sp>
      <p:sp>
        <p:nvSpPr>
          <p:cNvPr id="18" name="Text 15"/>
          <p:cNvSpPr txBox="1"/>
          <p:nvPr/>
        </p:nvSpPr>
        <p:spPr>
          <a:xfrm>
            <a:off x="640080" y="2980944"/>
            <a:ext cx="3657600" cy="274320"/>
          </a:xfrm>
          <a:prstGeom prst="rect">
            <a:avLst/>
          </a:prstGeom>
          <a:noFill/>
          <a:ln/>
        </p:spPr>
        <p:txBody>
          <a:bodyPr wrap="square" lIns="0" tIns="0" rIns="0" bIns="0" rtlCol="0" anchor="t"/>
          <a:lstStyle/>
          <a:p>
            <a:pPr indent="0" marL="0">
              <a:buNone/>
            </a:pPr>
            <a:r>
              <a:rPr lang="en-US" sz="1400" b="1" dirty="0">
                <a:solidFill>
                  <a:schemeClr val="tx2"/>
                </a:solidFill>
              </a:rPr>
              <a:t>Stationary</a:t>
            </a:r>
            <a:endParaRPr lang="en-US" sz="1400" dirty="0"/>
          </a:p>
        </p:txBody>
      </p:sp>
      <p:sp>
        <p:nvSpPr>
          <p:cNvPr id="19" name="Text 16"/>
          <p:cNvSpPr txBox="1"/>
          <p:nvPr/>
        </p:nvSpPr>
        <p:spPr>
          <a:xfrm>
            <a:off x="640080" y="3255264"/>
            <a:ext cx="3703320" cy="411480"/>
          </a:xfrm>
          <a:prstGeom prst="rect">
            <a:avLst/>
          </a:prstGeom>
          <a:noFill/>
          <a:ln/>
        </p:spPr>
        <p:txBody>
          <a:bodyPr wrap="square" lIns="0" tIns="0" rIns="0" bIns="0" rtlCol="0" anchor="t"/>
          <a:lstStyle/>
          <a:p>
            <a:pPr indent="0" marL="0">
              <a:buNone/>
            </a:pPr>
            <a:r>
              <a:rPr lang="en-US" sz="1200" dirty="0">
                <a:solidFill>
                  <a:schemeClr val="tx1"/>
                </a:solidFill>
              </a:rPr>
              <a:t>Data that move around a stable average; checked with a unit root test</a:t>
            </a:r>
            <a:endParaRPr lang="en-US" sz="1200" dirty="0"/>
          </a:p>
        </p:txBody>
      </p:sp>
      <p:sp>
        <p:nvSpPr>
          <p:cNvPr id="20" name="Term 6"/>
          <p:cNvSpPr/>
          <p:nvPr/>
        </p:nvSpPr>
        <p:spPr>
          <a:xfrm>
            <a:off x="4663440" y="2916936"/>
            <a:ext cx="4023360" cy="777240"/>
          </a:xfrm>
          <a:prstGeom prst="roundRect">
            <a:avLst>
              <a:gd name="adj" fmla="val 9412"/>
            </a:avLst>
          </a:prstGeom>
          <a:solidFill>
            <a:schemeClr val="accent6"/>
          </a:solidFill>
          <a:ln/>
        </p:spPr>
      </p:sp>
      <p:sp>
        <p:nvSpPr>
          <p:cNvPr id="21" name="Text 18"/>
          <p:cNvSpPr txBox="1"/>
          <p:nvPr/>
        </p:nvSpPr>
        <p:spPr>
          <a:xfrm>
            <a:off x="4846320" y="2980944"/>
            <a:ext cx="3657600" cy="274320"/>
          </a:xfrm>
          <a:prstGeom prst="rect">
            <a:avLst/>
          </a:prstGeom>
          <a:noFill/>
          <a:ln/>
        </p:spPr>
        <p:txBody>
          <a:bodyPr wrap="square" lIns="0" tIns="0" rIns="0" bIns="0" rtlCol="0" anchor="t"/>
          <a:lstStyle/>
          <a:p>
            <a:pPr indent="0" marL="0">
              <a:buNone/>
            </a:pPr>
            <a:r>
              <a:rPr lang="en-US" sz="1400" b="1" dirty="0">
                <a:solidFill>
                  <a:schemeClr val="tx2"/>
                </a:solidFill>
              </a:rPr>
              <a:t>Cointegration</a:t>
            </a:r>
            <a:endParaRPr lang="en-US" sz="1400" dirty="0"/>
          </a:p>
        </p:txBody>
      </p:sp>
      <p:sp>
        <p:nvSpPr>
          <p:cNvPr id="22" name="Text 19"/>
          <p:cNvSpPr txBox="1"/>
          <p:nvPr/>
        </p:nvSpPr>
        <p:spPr>
          <a:xfrm>
            <a:off x="4846320" y="3255264"/>
            <a:ext cx="3703320" cy="411480"/>
          </a:xfrm>
          <a:prstGeom prst="rect">
            <a:avLst/>
          </a:prstGeom>
          <a:noFill/>
          <a:ln/>
        </p:spPr>
        <p:txBody>
          <a:bodyPr wrap="square" lIns="0" tIns="0" rIns="0" bIns="0" rtlCol="0" anchor="t"/>
          <a:lstStyle/>
          <a:p>
            <a:pPr indent="0" marL="0">
              <a:buNone/>
            </a:pPr>
            <a:r>
              <a:rPr lang="en-US" sz="1200" dirty="0">
                <a:solidFill>
                  <a:schemeClr val="tx1"/>
                </a:solidFill>
              </a:rPr>
              <a:t>Data series that drift over time but still move together in the long run</a:t>
            </a:r>
            <a:endParaRPr lang="en-US" sz="1200" dirty="0"/>
          </a:p>
        </p:txBody>
      </p:sp>
      <p:sp>
        <p:nvSpPr>
          <p:cNvPr id="23" name="Term 7"/>
          <p:cNvSpPr/>
          <p:nvPr/>
        </p:nvSpPr>
        <p:spPr>
          <a:xfrm>
            <a:off x="457200" y="3803904"/>
            <a:ext cx="4023360" cy="777240"/>
          </a:xfrm>
          <a:prstGeom prst="roundRect">
            <a:avLst>
              <a:gd name="adj" fmla="val 9412"/>
            </a:avLst>
          </a:prstGeom>
          <a:solidFill>
            <a:schemeClr val="accent6"/>
          </a:solidFill>
          <a:ln/>
        </p:spPr>
      </p:sp>
      <p:sp>
        <p:nvSpPr>
          <p:cNvPr id="24" name="Text 21"/>
          <p:cNvSpPr txBox="1"/>
          <p:nvPr/>
        </p:nvSpPr>
        <p:spPr>
          <a:xfrm>
            <a:off x="640080" y="3867912"/>
            <a:ext cx="3657600" cy="274320"/>
          </a:xfrm>
          <a:prstGeom prst="rect">
            <a:avLst/>
          </a:prstGeom>
          <a:noFill/>
          <a:ln/>
        </p:spPr>
        <p:txBody>
          <a:bodyPr wrap="square" lIns="0" tIns="0" rIns="0" bIns="0" rtlCol="0" anchor="t"/>
          <a:lstStyle/>
          <a:p>
            <a:pPr indent="0" marL="0">
              <a:buNone/>
            </a:pPr>
            <a:r>
              <a:rPr lang="en-US" sz="1400" b="1" dirty="0">
                <a:solidFill>
                  <a:schemeClr val="tx2"/>
                </a:solidFill>
              </a:rPr>
              <a:t>ECM and ECT</a:t>
            </a:r>
            <a:endParaRPr lang="en-US" sz="1400" dirty="0"/>
          </a:p>
        </p:txBody>
      </p:sp>
      <p:sp>
        <p:nvSpPr>
          <p:cNvPr id="25" name="Text 22"/>
          <p:cNvSpPr txBox="1"/>
          <p:nvPr/>
        </p:nvSpPr>
        <p:spPr>
          <a:xfrm>
            <a:off x="640080" y="4142232"/>
            <a:ext cx="3703320" cy="411480"/>
          </a:xfrm>
          <a:prstGeom prst="rect">
            <a:avLst/>
          </a:prstGeom>
          <a:noFill/>
          <a:ln/>
        </p:spPr>
        <p:txBody>
          <a:bodyPr wrap="square" lIns="0" tIns="0" rIns="0" bIns="0" rtlCol="0" anchor="t"/>
          <a:lstStyle/>
          <a:p>
            <a:pPr indent="0" marL="0">
              <a:buNone/>
            </a:pPr>
            <a:r>
              <a:rPr lang="en-US" sz="1200" dirty="0">
                <a:solidFill>
                  <a:schemeClr val="tx1"/>
                </a:solidFill>
              </a:rPr>
              <a:t>Error correction model; its error correction term shows how fast data return to the long-run path</a:t>
            </a:r>
            <a:endParaRPr lang="en-US" sz="1200" dirty="0"/>
          </a:p>
        </p:txBody>
      </p:sp>
      <p:sp>
        <p:nvSpPr>
          <p:cNvPr id="26" name="Term 8"/>
          <p:cNvSpPr/>
          <p:nvPr/>
        </p:nvSpPr>
        <p:spPr>
          <a:xfrm>
            <a:off x="4663440" y="3803904"/>
            <a:ext cx="4023360" cy="777240"/>
          </a:xfrm>
          <a:prstGeom prst="roundRect">
            <a:avLst>
              <a:gd name="adj" fmla="val 9412"/>
            </a:avLst>
          </a:prstGeom>
          <a:solidFill>
            <a:schemeClr val="bg2"/>
          </a:solidFill>
          <a:ln/>
        </p:spPr>
      </p:sp>
      <p:sp>
        <p:nvSpPr>
          <p:cNvPr id="27" name="Text 24"/>
          <p:cNvSpPr txBox="1"/>
          <p:nvPr/>
        </p:nvSpPr>
        <p:spPr>
          <a:xfrm>
            <a:off x="4846320" y="3867912"/>
            <a:ext cx="3657600" cy="274320"/>
          </a:xfrm>
          <a:prstGeom prst="rect">
            <a:avLst/>
          </a:prstGeom>
          <a:noFill/>
          <a:ln/>
        </p:spPr>
        <p:txBody>
          <a:bodyPr wrap="square" lIns="0" tIns="0" rIns="0" bIns="0" rtlCol="0" anchor="t"/>
          <a:lstStyle/>
          <a:p>
            <a:pPr indent="0" marL="0">
              <a:buNone/>
            </a:pPr>
            <a:r>
              <a:rPr lang="en-US" sz="1400" b="1" dirty="0">
                <a:solidFill>
                  <a:schemeClr val="tx2"/>
                </a:solidFill>
              </a:rPr>
              <a:t>Statistically significant</a:t>
            </a:r>
            <a:endParaRPr lang="en-US" sz="1400" dirty="0"/>
          </a:p>
        </p:txBody>
      </p:sp>
      <p:sp>
        <p:nvSpPr>
          <p:cNvPr id="28" name="Text 25"/>
          <p:cNvSpPr txBox="1"/>
          <p:nvPr/>
        </p:nvSpPr>
        <p:spPr>
          <a:xfrm>
            <a:off x="4846320" y="4142232"/>
            <a:ext cx="3703320" cy="411480"/>
          </a:xfrm>
          <a:prstGeom prst="rect">
            <a:avLst/>
          </a:prstGeom>
          <a:noFill/>
          <a:ln/>
        </p:spPr>
        <p:txBody>
          <a:bodyPr wrap="square" lIns="0" tIns="0" rIns="0" bIns="0" rtlCol="0" anchor="t"/>
          <a:lstStyle/>
          <a:p>
            <a:pPr indent="0" marL="0">
              <a:buNone/>
            </a:pPr>
            <a:r>
              <a:rPr lang="en-US" sz="1200" dirty="0">
                <a:solidFill>
                  <a:schemeClr val="tx1"/>
                </a:solidFill>
              </a:rPr>
              <a:t>Unlikely to be due to chance (here, at the 5% level)</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Research problem and gap</a:t>
            </a:r>
            <a:endParaRPr lang="en-US" sz="2800" dirty="0"/>
          </a:p>
        </p:txBody>
      </p:sp>
      <p:sp>
        <p:nvSpPr>
          <p:cNvPr id="3" name="Badge"/>
          <p:cNvSpPr/>
          <p:nvPr/>
        </p:nvSpPr>
        <p:spPr>
          <a:xfrm>
            <a:off x="457200" y="365760"/>
            <a:ext cx="548640" cy="548640"/>
          </a:xfrm>
          <a:prstGeom prst="ellipse">
            <a:avLst/>
          </a:prstGeom>
          <a:solidFill>
            <a:schemeClr val="accent1"/>
          </a:solidFill>
          <a:ln/>
        </p:spPr>
      </p:sp>
      <p:sp>
        <p:nvSpPr>
          <p:cNvPr id="4" name="Badge number"/>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2200" b="1" dirty="0">
                <a:solidFill>
                  <a:schemeClr val="tx2"/>
                </a:solidFill>
              </a:rPr>
              <a:t>1</a:t>
            </a:r>
            <a:endParaRPr lang="en-US" sz="2200" dirty="0"/>
          </a:p>
        </p:txBody>
      </p:sp>
      <p:sp>
        <p:nvSpPr>
          <p:cNvPr id="5" name="Problem card"/>
          <p:cNvSpPr/>
          <p:nvPr/>
        </p:nvSpPr>
        <p:spPr>
          <a:xfrm>
            <a:off x="457200" y="1188720"/>
            <a:ext cx="3977640" cy="2423160"/>
          </a:xfrm>
          <a:prstGeom prst="roundRect">
            <a:avLst>
              <a:gd name="adj" fmla="val 3019"/>
            </a:avLst>
          </a:prstGeom>
          <a:solidFill>
            <a:schemeClr val="bg2"/>
          </a:solidFill>
          <a:ln/>
        </p:spPr>
      </p:sp>
      <p:sp>
        <p:nvSpPr>
          <p:cNvPr id="6" name="Text 4"/>
          <p:cNvSpPr txBox="1"/>
          <p:nvPr/>
        </p:nvSpPr>
        <p:spPr>
          <a:xfrm>
            <a:off x="731520" y="1325880"/>
            <a:ext cx="3474720" cy="365760"/>
          </a:xfrm>
          <a:prstGeom prst="rect">
            <a:avLst/>
          </a:prstGeom>
          <a:noFill/>
          <a:ln/>
        </p:spPr>
        <p:txBody>
          <a:bodyPr wrap="square" lIns="0" tIns="0" rIns="0" bIns="0" rtlCol="0" anchor="t"/>
          <a:lstStyle/>
          <a:p>
            <a:pPr indent="0" marL="0">
              <a:buNone/>
            </a:pPr>
            <a:r>
              <a:rPr lang="en-US" sz="1800" b="1" dirty="0">
                <a:solidFill>
                  <a:schemeClr val="tx2"/>
                </a:solidFill>
              </a:rPr>
              <a:t>The problem</a:t>
            </a:r>
            <a:endParaRPr lang="en-US" sz="1800" dirty="0"/>
          </a:p>
        </p:txBody>
      </p:sp>
      <p:sp>
        <p:nvSpPr>
          <p:cNvPr id="7" name="Text 5"/>
          <p:cNvSpPr txBox="1"/>
          <p:nvPr/>
        </p:nvSpPr>
        <p:spPr>
          <a:xfrm>
            <a:off x="731520" y="1737360"/>
            <a:ext cx="3520440" cy="17830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In the 1970s, sending workers abroad began as a short-term fix</a:t>
            </a:r>
            <a:endParaRPr lang="en-US" sz="1400" dirty="0"/>
          </a:p>
          <a:p>
            <a:pPr marL="342900" indent="-342900">
              <a:spcAft>
                <a:spcPts val="400"/>
              </a:spcAft>
              <a:buSzPct val="100000"/>
              <a:buChar char="•"/>
            </a:pPr>
            <a:r>
              <a:rPr lang="en-US" sz="1400" dirty="0">
                <a:solidFill>
                  <a:schemeClr val="tx1"/>
                </a:solidFill>
              </a:rPr>
              <a:t>It became a permanent part of the economy</a:t>
            </a:r>
            <a:endParaRPr lang="en-US" sz="1400" dirty="0"/>
          </a:p>
          <a:p>
            <a:pPr marL="342900" indent="-342900">
              <a:spcAft>
                <a:spcPts val="400"/>
              </a:spcAft>
              <a:buSzPct val="100000"/>
              <a:buChar char="•"/>
            </a:pPr>
            <a:r>
              <a:rPr lang="en-US" sz="1400" dirty="0">
                <a:solidFill>
                  <a:schemeClr val="tx1"/>
                </a:solidFill>
              </a:rPr>
              <a:t>The law is unclear: RA 8042 says the State “does not promote” overseas work, but deployment “shall be encouraged”</a:t>
            </a:r>
            <a:endParaRPr lang="en-US" sz="1400" dirty="0"/>
          </a:p>
        </p:txBody>
      </p:sp>
      <p:sp>
        <p:nvSpPr>
          <p:cNvPr id="8" name="Gap card"/>
          <p:cNvSpPr/>
          <p:nvPr/>
        </p:nvSpPr>
        <p:spPr>
          <a:xfrm>
            <a:off x="4709160" y="1188720"/>
            <a:ext cx="3977640" cy="2423160"/>
          </a:xfrm>
          <a:prstGeom prst="roundRect">
            <a:avLst>
              <a:gd name="adj" fmla="val 3019"/>
            </a:avLst>
          </a:prstGeom>
          <a:solidFill>
            <a:schemeClr val="bg2"/>
          </a:solidFill>
          <a:ln/>
        </p:spPr>
      </p:sp>
      <p:sp>
        <p:nvSpPr>
          <p:cNvPr id="9" name="Text 7"/>
          <p:cNvSpPr txBox="1"/>
          <p:nvPr/>
        </p:nvSpPr>
        <p:spPr>
          <a:xfrm>
            <a:off x="4983480" y="1325880"/>
            <a:ext cx="3474720" cy="365760"/>
          </a:xfrm>
          <a:prstGeom prst="rect">
            <a:avLst/>
          </a:prstGeom>
          <a:noFill/>
          <a:ln/>
        </p:spPr>
        <p:txBody>
          <a:bodyPr wrap="square" lIns="0" tIns="0" rIns="0" bIns="0" rtlCol="0" anchor="t"/>
          <a:lstStyle/>
          <a:p>
            <a:pPr indent="0" marL="0">
              <a:buNone/>
            </a:pPr>
            <a:r>
              <a:rPr lang="en-US" sz="1800" b="1" dirty="0">
                <a:solidFill>
                  <a:schemeClr val="tx2"/>
                </a:solidFill>
              </a:rPr>
              <a:t>The gap</a:t>
            </a:r>
            <a:endParaRPr lang="en-US" sz="1800" dirty="0"/>
          </a:p>
        </p:txBody>
      </p:sp>
      <p:sp>
        <p:nvSpPr>
          <p:cNvPr id="10" name="Text 8"/>
          <p:cNvSpPr txBox="1"/>
          <p:nvPr/>
        </p:nvSpPr>
        <p:spPr>
          <a:xfrm>
            <a:off x="4983480" y="1737360"/>
            <a:ext cx="3520440" cy="17830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The causes of emigration from the Philippines are “not well established”</a:t>
            </a:r>
            <a:endParaRPr lang="en-US" sz="1400" dirty="0"/>
          </a:p>
          <a:p>
            <a:pPr marL="342900" indent="-342900">
              <a:spcAft>
                <a:spcPts val="400"/>
              </a:spcAft>
              <a:buSzPct val="100000"/>
              <a:buChar char="•"/>
            </a:pPr>
            <a:r>
              <a:rPr lang="en-US" sz="1400" dirty="0">
                <a:solidFill>
                  <a:schemeClr val="tx1"/>
                </a:solidFill>
              </a:rPr>
              <a:t>Policymakers need evidence on which push factors matter most</a:t>
            </a:r>
            <a:endParaRPr lang="en-US" sz="1400" dirty="0"/>
          </a:p>
        </p:txBody>
      </p:sp>
      <p:sp>
        <p:nvSpPr>
          <p:cNvPr id="11" name="Research question"/>
          <p:cNvSpPr/>
          <p:nvPr/>
        </p:nvSpPr>
        <p:spPr>
          <a:xfrm>
            <a:off x="457200" y="3749040"/>
            <a:ext cx="8229600" cy="822960"/>
          </a:xfrm>
          <a:prstGeom prst="roundRect">
            <a:avLst>
              <a:gd name="adj" fmla="val 8889"/>
            </a:avLst>
          </a:prstGeom>
          <a:solidFill>
            <a:schemeClr val="tx2"/>
          </a:solidFill>
          <a:ln/>
        </p:spPr>
      </p:sp>
      <p:sp>
        <p:nvSpPr>
          <p:cNvPr id="12" name="Text 10"/>
          <p:cNvSpPr txBox="1"/>
          <p:nvPr/>
        </p:nvSpPr>
        <p:spPr>
          <a:xfrm>
            <a:off x="731520" y="3749040"/>
            <a:ext cx="7680960" cy="822960"/>
          </a:xfrm>
          <a:prstGeom prst="rect">
            <a:avLst/>
          </a:prstGeom>
          <a:noFill/>
          <a:ln/>
        </p:spPr>
        <p:txBody>
          <a:bodyPr wrap="square" lIns="0" tIns="0" rIns="0" bIns="0" rtlCol="0" anchor="ctr"/>
          <a:lstStyle/>
          <a:p>
            <a:pPr indent="0" marL="0">
              <a:buNone/>
            </a:pPr>
            <a:r>
              <a:rPr lang="en-US" sz="1500" b="1" dirty="0">
                <a:solidFill>
                  <a:schemeClr val="accent1"/>
                </a:solidFill>
              </a:rPr>
              <a:t>Research question: </a:t>
            </a:r>
            <a:pPr indent="0" marL="0">
              <a:buNone/>
            </a:pPr>
            <a:r>
              <a:rPr lang="en-US" sz="1500" dirty="0">
                <a:solidFill>
                  <a:schemeClr val="bg1"/>
                </a:solidFill>
              </a:rPr>
              <a:t>How do economic, demographic and political factors affect emigration from the Philippines?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Theoretical framework</a:t>
            </a:r>
            <a:endParaRPr lang="en-US" sz="2800" dirty="0"/>
          </a:p>
        </p:txBody>
      </p:sp>
      <p:sp>
        <p:nvSpPr>
          <p:cNvPr id="3" name="Badge"/>
          <p:cNvSpPr/>
          <p:nvPr/>
        </p:nvSpPr>
        <p:spPr>
          <a:xfrm>
            <a:off x="457200" y="365760"/>
            <a:ext cx="548640" cy="548640"/>
          </a:xfrm>
          <a:prstGeom prst="ellipse">
            <a:avLst/>
          </a:prstGeom>
          <a:solidFill>
            <a:schemeClr val="accent1"/>
          </a:solidFill>
          <a:ln/>
        </p:spPr>
      </p:sp>
      <p:sp>
        <p:nvSpPr>
          <p:cNvPr id="4" name="Badge number"/>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2200" b="1" dirty="0">
                <a:solidFill>
                  <a:schemeClr val="tx2"/>
                </a:solidFill>
              </a:rPr>
              <a:t>2</a:t>
            </a:r>
            <a:endParaRPr lang="en-US" sz="2200" dirty="0"/>
          </a:p>
        </p:txBody>
      </p:sp>
      <p:sp>
        <p:nvSpPr>
          <p:cNvPr id="5" name="Theory dot 1"/>
          <p:cNvSpPr/>
          <p:nvPr/>
        </p:nvSpPr>
        <p:spPr>
          <a:xfrm>
            <a:off x="457200" y="1280160"/>
            <a:ext cx="457200" cy="457200"/>
          </a:xfrm>
          <a:prstGeom prst="ellipse">
            <a:avLst/>
          </a:prstGeom>
          <a:solidFill>
            <a:schemeClr val="tx2"/>
          </a:solidFill>
          <a:ln/>
        </p:spPr>
      </p:sp>
      <p:sp>
        <p:nvSpPr>
          <p:cNvPr id="6" name="Text 4"/>
          <p:cNvSpPr txBox="1"/>
          <p:nvPr/>
        </p:nvSpPr>
        <p:spPr>
          <a:xfrm>
            <a:off x="457200" y="1280160"/>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7" name="Text 5"/>
          <p:cNvSpPr txBox="1"/>
          <p:nvPr/>
        </p:nvSpPr>
        <p:spPr>
          <a:xfrm>
            <a:off x="1097280" y="1188720"/>
            <a:ext cx="3749040" cy="301752"/>
          </a:xfrm>
          <a:prstGeom prst="rect">
            <a:avLst/>
          </a:prstGeom>
          <a:noFill/>
          <a:ln/>
        </p:spPr>
        <p:txBody>
          <a:bodyPr wrap="square" lIns="0" tIns="0" rIns="0" bIns="0" rtlCol="0" anchor="t"/>
          <a:lstStyle/>
          <a:p>
            <a:pPr indent="0" marL="0">
              <a:buNone/>
            </a:pPr>
            <a:r>
              <a:rPr lang="en-US" sz="1500" b="1" dirty="0">
                <a:solidFill>
                  <a:schemeClr val="tx2"/>
                </a:solidFill>
              </a:rPr>
              <a:t>Ravenstein (1885); Todaro (1969)</a:t>
            </a:r>
            <a:endParaRPr lang="en-US" sz="1500" dirty="0"/>
          </a:p>
        </p:txBody>
      </p:sp>
      <p:sp>
        <p:nvSpPr>
          <p:cNvPr id="8" name="Text 6"/>
          <p:cNvSpPr txBox="1"/>
          <p:nvPr/>
        </p:nvSpPr>
        <p:spPr>
          <a:xfrm>
            <a:off x="1097280" y="1490472"/>
            <a:ext cx="3749040" cy="457200"/>
          </a:xfrm>
          <a:prstGeom prst="rect">
            <a:avLst/>
          </a:prstGeom>
          <a:noFill/>
          <a:ln/>
        </p:spPr>
        <p:txBody>
          <a:bodyPr wrap="square" lIns="0" tIns="0" rIns="0" bIns="0" rtlCol="0" anchor="t"/>
          <a:lstStyle/>
          <a:p>
            <a:pPr indent="0" marL="0">
              <a:buNone/>
            </a:pPr>
            <a:r>
              <a:rPr lang="en-US" sz="1400" dirty="0">
                <a:solidFill>
                  <a:schemeClr val="tx1"/>
                </a:solidFill>
              </a:rPr>
              <a:t>People migrate when they expect a better life abroad</a:t>
            </a:r>
            <a:endParaRPr lang="en-US" sz="1400" dirty="0"/>
          </a:p>
        </p:txBody>
      </p:sp>
      <p:sp>
        <p:nvSpPr>
          <p:cNvPr id="9" name="Theory dot 2"/>
          <p:cNvSpPr/>
          <p:nvPr/>
        </p:nvSpPr>
        <p:spPr>
          <a:xfrm>
            <a:off x="457200" y="2130552"/>
            <a:ext cx="457200" cy="457200"/>
          </a:xfrm>
          <a:prstGeom prst="ellipse">
            <a:avLst/>
          </a:prstGeom>
          <a:solidFill>
            <a:schemeClr val="tx2"/>
          </a:solidFill>
          <a:ln/>
        </p:spPr>
      </p:sp>
      <p:sp>
        <p:nvSpPr>
          <p:cNvPr id="10" name="Text 8"/>
          <p:cNvSpPr txBox="1"/>
          <p:nvPr/>
        </p:nvSpPr>
        <p:spPr>
          <a:xfrm>
            <a:off x="457200" y="2130552"/>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11" name="Text 9"/>
          <p:cNvSpPr txBox="1"/>
          <p:nvPr/>
        </p:nvSpPr>
        <p:spPr>
          <a:xfrm>
            <a:off x="1097280" y="2039112"/>
            <a:ext cx="3749040" cy="301752"/>
          </a:xfrm>
          <a:prstGeom prst="rect">
            <a:avLst/>
          </a:prstGeom>
          <a:noFill/>
          <a:ln/>
        </p:spPr>
        <p:txBody>
          <a:bodyPr wrap="square" lIns="0" tIns="0" rIns="0" bIns="0" rtlCol="0" anchor="t"/>
          <a:lstStyle/>
          <a:p>
            <a:pPr indent="0" marL="0">
              <a:buNone/>
            </a:pPr>
            <a:r>
              <a:rPr lang="en-US" sz="1500" b="1" dirty="0">
                <a:solidFill>
                  <a:schemeClr val="tx2"/>
                </a:solidFill>
              </a:rPr>
              <a:t>Human capital theory (Hicks 1939)</a:t>
            </a:r>
            <a:endParaRPr lang="en-US" sz="1500" dirty="0"/>
          </a:p>
        </p:txBody>
      </p:sp>
      <p:sp>
        <p:nvSpPr>
          <p:cNvPr id="12" name="Text 10"/>
          <p:cNvSpPr txBox="1"/>
          <p:nvPr/>
        </p:nvSpPr>
        <p:spPr>
          <a:xfrm>
            <a:off x="1097280" y="2340864"/>
            <a:ext cx="3749040" cy="457200"/>
          </a:xfrm>
          <a:prstGeom prst="rect">
            <a:avLst/>
          </a:prstGeom>
          <a:noFill/>
          <a:ln/>
        </p:spPr>
        <p:txBody>
          <a:bodyPr wrap="square" lIns="0" tIns="0" rIns="0" bIns="0" rtlCol="0" anchor="t"/>
          <a:lstStyle/>
          <a:p>
            <a:pPr indent="0" marL="0">
              <a:buNone/>
            </a:pPr>
            <a:r>
              <a:rPr lang="en-US" sz="1400" dirty="0">
                <a:solidFill>
                  <a:schemeClr val="tx1"/>
                </a:solidFill>
              </a:rPr>
              <a:t>Migration is an investment; more educated people migrate more</a:t>
            </a:r>
            <a:endParaRPr lang="en-US" sz="1400" dirty="0"/>
          </a:p>
        </p:txBody>
      </p:sp>
      <p:sp>
        <p:nvSpPr>
          <p:cNvPr id="13" name="Theory dot 3"/>
          <p:cNvSpPr/>
          <p:nvPr/>
        </p:nvSpPr>
        <p:spPr>
          <a:xfrm>
            <a:off x="457200" y="2980944"/>
            <a:ext cx="457200" cy="457200"/>
          </a:xfrm>
          <a:prstGeom prst="ellipse">
            <a:avLst/>
          </a:prstGeom>
          <a:solidFill>
            <a:schemeClr val="tx2"/>
          </a:solidFill>
          <a:ln/>
        </p:spPr>
      </p:sp>
      <p:sp>
        <p:nvSpPr>
          <p:cNvPr id="14" name="Text 12"/>
          <p:cNvSpPr txBox="1"/>
          <p:nvPr/>
        </p:nvSpPr>
        <p:spPr>
          <a:xfrm>
            <a:off x="457200" y="2980944"/>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15" name="Text 13"/>
          <p:cNvSpPr txBox="1"/>
          <p:nvPr/>
        </p:nvSpPr>
        <p:spPr>
          <a:xfrm>
            <a:off x="1097280" y="2889504"/>
            <a:ext cx="3749040" cy="301752"/>
          </a:xfrm>
          <a:prstGeom prst="rect">
            <a:avLst/>
          </a:prstGeom>
          <a:noFill/>
          <a:ln/>
        </p:spPr>
        <p:txBody>
          <a:bodyPr wrap="square" lIns="0" tIns="0" rIns="0" bIns="0" rtlCol="0" anchor="t"/>
          <a:lstStyle/>
          <a:p>
            <a:pPr indent="0" marL="0">
              <a:buNone/>
            </a:pPr>
            <a:r>
              <a:rPr lang="en-US" sz="1500" b="1" dirty="0">
                <a:solidFill>
                  <a:schemeClr val="tx2"/>
                </a:solidFill>
              </a:rPr>
              <a:t>Roy effect (Borjas 1987)</a:t>
            </a:r>
            <a:endParaRPr lang="en-US" sz="1500" dirty="0"/>
          </a:p>
        </p:txBody>
      </p:sp>
      <p:sp>
        <p:nvSpPr>
          <p:cNvPr id="16" name="Text 14"/>
          <p:cNvSpPr txBox="1"/>
          <p:nvPr/>
        </p:nvSpPr>
        <p:spPr>
          <a:xfrm>
            <a:off x="1097280" y="3191256"/>
            <a:ext cx="3749040" cy="457200"/>
          </a:xfrm>
          <a:prstGeom prst="rect">
            <a:avLst/>
          </a:prstGeom>
          <a:noFill/>
          <a:ln/>
        </p:spPr>
        <p:txBody>
          <a:bodyPr wrap="square" lIns="0" tIns="0" rIns="0" bIns="0" rtlCol="0" anchor="t"/>
          <a:lstStyle/>
          <a:p>
            <a:pPr indent="0" marL="0">
              <a:buNone/>
            </a:pPr>
            <a:r>
              <a:rPr lang="en-US" sz="1400" dirty="0">
                <a:solidFill>
                  <a:schemeClr val="tx1"/>
                </a:solidFill>
              </a:rPr>
              <a:t>Income inequality decides which skill groups leave</a:t>
            </a:r>
            <a:endParaRPr lang="en-US" sz="1400" dirty="0"/>
          </a:p>
        </p:txBody>
      </p:sp>
      <p:sp>
        <p:nvSpPr>
          <p:cNvPr id="17" name="Theory dot 4"/>
          <p:cNvSpPr/>
          <p:nvPr/>
        </p:nvSpPr>
        <p:spPr>
          <a:xfrm>
            <a:off x="457200" y="3831336"/>
            <a:ext cx="457200" cy="457200"/>
          </a:xfrm>
          <a:prstGeom prst="ellipse">
            <a:avLst/>
          </a:prstGeom>
          <a:solidFill>
            <a:schemeClr val="tx2"/>
          </a:solidFill>
          <a:ln/>
        </p:spPr>
      </p:sp>
      <p:sp>
        <p:nvSpPr>
          <p:cNvPr id="18" name="Text 16"/>
          <p:cNvSpPr txBox="1"/>
          <p:nvPr/>
        </p:nvSpPr>
        <p:spPr>
          <a:xfrm>
            <a:off x="457200" y="3831336"/>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4</a:t>
            </a:r>
            <a:endParaRPr lang="en-US" sz="1600" dirty="0"/>
          </a:p>
        </p:txBody>
      </p:sp>
      <p:sp>
        <p:nvSpPr>
          <p:cNvPr id="19" name="Text 17"/>
          <p:cNvSpPr txBox="1"/>
          <p:nvPr/>
        </p:nvSpPr>
        <p:spPr>
          <a:xfrm>
            <a:off x="1097280" y="3739896"/>
            <a:ext cx="3749040" cy="301752"/>
          </a:xfrm>
          <a:prstGeom prst="rect">
            <a:avLst/>
          </a:prstGeom>
          <a:noFill/>
          <a:ln/>
        </p:spPr>
        <p:txBody>
          <a:bodyPr wrap="square" lIns="0" tIns="0" rIns="0" bIns="0" rtlCol="0" anchor="t"/>
          <a:lstStyle/>
          <a:p>
            <a:pPr indent="0" marL="0">
              <a:buNone/>
            </a:pPr>
            <a:r>
              <a:rPr lang="en-US" sz="1500" b="1" dirty="0">
                <a:solidFill>
                  <a:schemeClr val="tx2"/>
                </a:solidFill>
              </a:rPr>
              <a:t>Gravity model (Greenwood 1975)</a:t>
            </a:r>
            <a:endParaRPr lang="en-US" sz="1500" dirty="0"/>
          </a:p>
        </p:txBody>
      </p:sp>
      <p:sp>
        <p:nvSpPr>
          <p:cNvPr id="20" name="Text 18"/>
          <p:cNvSpPr txBox="1"/>
          <p:nvPr/>
        </p:nvSpPr>
        <p:spPr>
          <a:xfrm>
            <a:off x="1097280" y="4041648"/>
            <a:ext cx="3749040" cy="457200"/>
          </a:xfrm>
          <a:prstGeom prst="rect">
            <a:avLst/>
          </a:prstGeom>
          <a:noFill/>
          <a:ln/>
        </p:spPr>
        <p:txBody>
          <a:bodyPr wrap="square" lIns="0" tIns="0" rIns="0" bIns="0" rtlCol="0" anchor="t"/>
          <a:lstStyle/>
          <a:p>
            <a:pPr indent="0" marL="0">
              <a:buNone/>
            </a:pPr>
            <a:r>
              <a:rPr lang="en-US" sz="1400" dirty="0">
                <a:solidFill>
                  <a:schemeClr val="tx1"/>
                </a:solidFill>
              </a:rPr>
              <a:t>Migration depends on income, population and the cost of migration</a:t>
            </a:r>
            <a:endParaRPr lang="en-US" sz="1400" dirty="0"/>
          </a:p>
        </p:txBody>
      </p:sp>
      <p:sp>
        <p:nvSpPr>
          <p:cNvPr id="21" name="Equation card"/>
          <p:cNvSpPr/>
          <p:nvPr/>
        </p:nvSpPr>
        <p:spPr>
          <a:xfrm>
            <a:off x="5120640" y="1188720"/>
            <a:ext cx="3566160" cy="1600200"/>
          </a:xfrm>
          <a:prstGeom prst="roundRect">
            <a:avLst>
              <a:gd name="adj" fmla="val 4571"/>
            </a:avLst>
          </a:prstGeom>
          <a:solidFill>
            <a:schemeClr val="bg2"/>
          </a:solidFill>
          <a:ln/>
        </p:spPr>
      </p:sp>
      <p:sp>
        <p:nvSpPr>
          <p:cNvPr id="22" name="Text 20"/>
          <p:cNvSpPr txBox="1"/>
          <p:nvPr/>
        </p:nvSpPr>
        <p:spPr>
          <a:xfrm>
            <a:off x="5349240" y="1298448"/>
            <a:ext cx="3108960" cy="320040"/>
          </a:xfrm>
          <a:prstGeom prst="rect">
            <a:avLst/>
          </a:prstGeom>
          <a:noFill/>
          <a:ln/>
        </p:spPr>
        <p:txBody>
          <a:bodyPr wrap="square" lIns="0" tIns="0" rIns="0" bIns="0" rtlCol="0" anchor="t"/>
          <a:lstStyle/>
          <a:p>
            <a:pPr indent="0" marL="0">
              <a:buNone/>
            </a:pPr>
            <a:r>
              <a:rPr lang="en-US" sz="1500" b="1" dirty="0">
                <a:solidFill>
                  <a:schemeClr val="tx2"/>
                </a:solidFill>
              </a:rPr>
              <a:t>The model in words</a:t>
            </a:r>
            <a:endParaRPr lang="en-US" sz="1500" dirty="0"/>
          </a:p>
        </p:txBody>
      </p:sp>
      <p:sp>
        <p:nvSpPr>
          <p:cNvPr id="23" name="Text 21"/>
          <p:cNvSpPr txBox="1"/>
          <p:nvPr/>
        </p:nvSpPr>
        <p:spPr>
          <a:xfrm>
            <a:off x="5349240" y="1645920"/>
            <a:ext cx="3154680" cy="1097280"/>
          </a:xfrm>
          <a:prstGeom prst="rect">
            <a:avLst/>
          </a:prstGeom>
          <a:noFill/>
          <a:ln/>
        </p:spPr>
        <p:txBody>
          <a:bodyPr wrap="square" lIns="0" tIns="0" rIns="0" bIns="0" rtlCol="0" anchor="t"/>
          <a:lstStyle/>
          <a:p>
            <a:pPr indent="0" marL="0">
              <a:buNone/>
            </a:pPr>
            <a:r>
              <a:rPr lang="en-US" sz="1300" i="1" dirty="0">
                <a:solidFill>
                  <a:schemeClr val="tx1"/>
                </a:solidFill>
              </a:rPr>
              <a:t>Migration share = f(cost of migration, adult literacy, income inequality, income inequality², political instability, inflation, population density, unemployment, per capita income)</a:t>
            </a:r>
            <a:endParaRPr lang="en-US" sz="1300" dirty="0"/>
          </a:p>
        </p:txBody>
      </p:sp>
      <p:sp>
        <p:nvSpPr>
          <p:cNvPr id="24" name="Critique card"/>
          <p:cNvSpPr/>
          <p:nvPr/>
        </p:nvSpPr>
        <p:spPr>
          <a:xfrm>
            <a:off x="5120640" y="2971800"/>
            <a:ext cx="3566160" cy="1600200"/>
          </a:xfrm>
          <a:prstGeom prst="roundRect">
            <a:avLst>
              <a:gd name="adj" fmla="val 4571"/>
            </a:avLst>
          </a:prstGeom>
          <a:solidFill>
            <a:schemeClr val="tx2"/>
          </a:solidFill>
          <a:ln/>
        </p:spPr>
      </p:sp>
      <p:sp>
        <p:nvSpPr>
          <p:cNvPr id="25" name="Text 23"/>
          <p:cNvSpPr txBox="1"/>
          <p:nvPr/>
        </p:nvSpPr>
        <p:spPr>
          <a:xfrm>
            <a:off x="5349240" y="3081528"/>
            <a:ext cx="3108960" cy="320040"/>
          </a:xfrm>
          <a:prstGeom prst="rect">
            <a:avLst/>
          </a:prstGeom>
          <a:noFill/>
          <a:ln/>
        </p:spPr>
        <p:txBody>
          <a:bodyPr wrap="square" lIns="0" tIns="0" rIns="0" bIns="0" rtlCol="0" anchor="t"/>
          <a:lstStyle/>
          <a:p>
            <a:pPr indent="0" marL="0">
              <a:buNone/>
            </a:pPr>
            <a:r>
              <a:rPr lang="en-US" sz="1500" b="1" dirty="0">
                <a:solidFill>
                  <a:schemeClr val="accent1"/>
                </a:solidFill>
              </a:rPr>
              <a:t>Critical view</a:t>
            </a:r>
            <a:endParaRPr lang="en-US" sz="1500" dirty="0"/>
          </a:p>
        </p:txBody>
      </p:sp>
      <p:sp>
        <p:nvSpPr>
          <p:cNvPr id="26" name="Text 24"/>
          <p:cNvSpPr txBox="1"/>
          <p:nvPr/>
        </p:nvSpPr>
        <p:spPr>
          <a:xfrm>
            <a:off x="5349240" y="3429000"/>
            <a:ext cx="3154680" cy="1097280"/>
          </a:xfrm>
          <a:prstGeom prst="rect">
            <a:avLst/>
          </a:prstGeom>
          <a:noFill/>
          <a:ln/>
        </p:spPr>
        <p:txBody>
          <a:bodyPr wrap="square" lIns="0" tIns="0" rIns="0" bIns="0" rtlCol="0" anchor="t"/>
          <a:lstStyle/>
          <a:p>
            <a:pPr indent="0" marL="0">
              <a:buNone/>
            </a:pPr>
            <a:r>
              <a:rPr lang="en-US" sz="1400" dirty="0">
                <a:solidFill>
                  <a:schemeClr val="bg1"/>
                </a:solidFill>
              </a:rPr>
              <a:t>A mix of theories, not one model. Only push factors are used; pull factors from destination countries are left out.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Data: yearly national data, 1975–2005</a:t>
            </a:r>
            <a:endParaRPr lang="en-US" sz="2800" dirty="0"/>
          </a:p>
        </p:txBody>
      </p:sp>
      <p:sp>
        <p:nvSpPr>
          <p:cNvPr id="3" name="Badge"/>
          <p:cNvSpPr/>
          <p:nvPr/>
        </p:nvSpPr>
        <p:spPr>
          <a:xfrm>
            <a:off x="457200" y="365760"/>
            <a:ext cx="548640" cy="548640"/>
          </a:xfrm>
          <a:prstGeom prst="ellipse">
            <a:avLst/>
          </a:prstGeom>
          <a:solidFill>
            <a:schemeClr val="accent1"/>
          </a:solidFill>
          <a:ln/>
        </p:spPr>
      </p:sp>
      <p:sp>
        <p:nvSpPr>
          <p:cNvPr id="4" name="Badge number"/>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2200" b="1" dirty="0">
                <a:solidFill>
                  <a:schemeClr val="tx2"/>
                </a:solidFill>
              </a:rPr>
              <a:t>3</a:t>
            </a:r>
            <a:endParaRPr lang="en-US" sz="2200" dirty="0"/>
          </a:p>
        </p:txBody>
      </p:sp>
      <p:graphicFrame>
        <p:nvGraphicFramePr>
          <p:cNvPr id="7" name="Data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011680"/>
                <a:gridCol w="3474720"/>
                <a:gridCol w="1783080"/>
                <a:gridCol w="960120"/>
              </a:tblGrid>
              <a:tr h="329184">
                <a:tc>
                  <a:txBody>
                    <a:bodyPr/>
                    <a:lstStyle/>
                    <a:p>
                      <a:pPr indent="0" marL="0">
                        <a:buNone/>
                      </a:pPr>
                      <a:r>
                        <a:rPr lang="en-US" sz="1200" b="1" dirty="0">
                          <a:solidFill>
                            <a:schemeClr val="bg1"/>
                          </a:solidFill>
                        </a:rPr>
                        <a:t>Variable</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Measure / proxy</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Source</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Exp. sign</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tx2"/>
                    </a:solidFill>
                  </a:tcPr>
                </a:tc>
              </a:tr>
              <a:tr h="329184">
                <a:tc>
                  <a:txBody>
                    <a:bodyPr/>
                    <a:lstStyle/>
                    <a:p>
                      <a:pPr algn="l" indent="0" marL="0">
                        <a:buNone/>
                      </a:pPr>
                      <a:r>
                        <a:rPr lang="en-US" sz="1200" b="1" dirty="0">
                          <a:solidFill>
                            <a:schemeClr val="tx1"/>
                          </a:solidFill>
                        </a:rPr>
                        <a:t>Migration share</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Migrants (temporary + permanent) ÷ population</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CFO; NSCB</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tx1"/>
                          </a:solidFill>
                        </a:rPr>
                        <a:t>Explained</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algn="l" indent="0" marL="0">
                        <a:buNone/>
                      </a:pPr>
                      <a:r>
                        <a:rPr lang="en-US" sz="1200" b="1" dirty="0">
                          <a:solidFill>
                            <a:schemeClr val="tx1"/>
                          </a:solidFill>
                        </a:rPr>
                        <a:t>Cost of migration</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rPr>
                        <a:t>Average one-way airfare, Manila → top 24 destinations</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rPr>
                        <a:t>Authors’ estimate</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tx1"/>
                          </a:solidFill>
                        </a:rPr>
                        <a: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algn="l" indent="0" marL="0">
                        <a:buNone/>
                      </a:pPr>
                      <a:r>
                        <a:rPr lang="en-US" sz="1200" b="1" dirty="0">
                          <a:solidFill>
                            <a:schemeClr val="tx1"/>
                          </a:solidFill>
                        </a:rPr>
                        <a:t>Adult literacy</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Adult literacy rate (proxy for education)</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BSP; NSCB</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tx1"/>
                          </a:solidFill>
                        </a:rPr>
                        <a: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algn="l" indent="0" marL="0">
                        <a:buNone/>
                      </a:pPr>
                      <a:r>
                        <a:rPr lang="en-US" sz="1200" b="1" dirty="0">
                          <a:solidFill>
                            <a:schemeClr val="tx1"/>
                          </a:solidFill>
                        </a:rPr>
                        <a:t>Income inequality, inequality²</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rPr>
                        <a:t>Gini coefficient and its square (Roy effect)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accent2"/>
                          </a:solidFill>
                        </a:rPr>
                        <a:t>Not stated</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tx1"/>
                          </a:solidFill>
                        </a:rPr>
                        <a: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algn="l" indent="0" marL="0">
                        <a:buNone/>
                      </a:pPr>
                      <a:r>
                        <a:rPr lang="en-US" sz="1200" b="1" dirty="0">
                          <a:solidFill>
                            <a:schemeClr val="tx1"/>
                          </a:solidFill>
                        </a:rPr>
                        <a:t>Political instability</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Number of leadership changes, coups and uprisings</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Gastil (1987) approach</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tx1"/>
                          </a:solidFill>
                        </a:rPr>
                        <a: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algn="l" indent="0" marL="0">
                        <a:buNone/>
                      </a:pPr>
                      <a:r>
                        <a:rPr lang="en-US" sz="1200" b="1" dirty="0">
                          <a:solidFill>
                            <a:schemeClr val="tx1"/>
                          </a:solidFill>
                        </a:rPr>
                        <a:t>Inflation</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rPr>
                        <a:t>Inflation rate (consumer prices)</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rPr>
                        <a:t>IMF; BSP; NSCB</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tx1"/>
                          </a:solidFill>
                        </a:rPr>
                        <a: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algn="l" indent="0" marL="0">
                        <a:buNone/>
                      </a:pPr>
                      <a:r>
                        <a:rPr lang="en-US" sz="1200" b="1" dirty="0">
                          <a:solidFill>
                            <a:schemeClr val="tx1"/>
                          </a:solidFill>
                        </a:rPr>
                        <a:t>Population density</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People per km²</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NSCB</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tx1"/>
                          </a:solidFill>
                        </a:rPr>
                        <a: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algn="l" indent="0" marL="0">
                        <a:buNone/>
                      </a:pPr>
                      <a:r>
                        <a:rPr lang="en-US" sz="1200" b="1" dirty="0">
                          <a:solidFill>
                            <a:schemeClr val="tx1"/>
                          </a:solidFill>
                        </a:rPr>
                        <a:t>Unemployment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rPr>
                        <a:t>Unemployment rate</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rPr>
                        <a:t>IMF; BSP; NSCB</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tx1"/>
                          </a:solidFill>
                        </a:rPr>
                        <a: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algn="l" indent="0" marL="0">
                        <a:buNone/>
                      </a:pPr>
                      <a:r>
                        <a:rPr lang="en-US" sz="1200" b="1" dirty="0">
                          <a:solidFill>
                            <a:schemeClr val="tx1"/>
                          </a:solidFill>
                        </a:rPr>
                        <a:t>Per capita income</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Real GDP per person</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IMF; BSP; NSCB</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tx1"/>
                          </a:solidFill>
                        </a:rPr>
                        <a: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Methodology: five steps</a:t>
            </a:r>
            <a:endParaRPr lang="en-US" sz="2800" dirty="0"/>
          </a:p>
        </p:txBody>
      </p:sp>
      <p:sp>
        <p:nvSpPr>
          <p:cNvPr id="3" name="Badge"/>
          <p:cNvSpPr/>
          <p:nvPr/>
        </p:nvSpPr>
        <p:spPr>
          <a:xfrm>
            <a:off x="457200" y="365760"/>
            <a:ext cx="548640" cy="548640"/>
          </a:xfrm>
          <a:prstGeom prst="ellipse">
            <a:avLst/>
          </a:prstGeom>
          <a:solidFill>
            <a:schemeClr val="accent1"/>
          </a:solidFill>
          <a:ln/>
        </p:spPr>
      </p:sp>
      <p:sp>
        <p:nvSpPr>
          <p:cNvPr id="4" name="Badge number"/>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2200" b="1" dirty="0">
                <a:solidFill>
                  <a:schemeClr val="tx2"/>
                </a:solidFill>
              </a:rPr>
              <a:t>4</a:t>
            </a:r>
            <a:endParaRPr lang="en-US" sz="2200" dirty="0"/>
          </a:p>
        </p:txBody>
      </p:sp>
      <p:sp>
        <p:nvSpPr>
          <p:cNvPr id="5" name="Step 1"/>
          <p:cNvSpPr/>
          <p:nvPr/>
        </p:nvSpPr>
        <p:spPr>
          <a:xfrm>
            <a:off x="457200" y="1188720"/>
            <a:ext cx="1499616" cy="2423160"/>
          </a:xfrm>
          <a:prstGeom prst="roundRect">
            <a:avLst>
              <a:gd name="adj" fmla="val 4878"/>
            </a:avLst>
          </a:prstGeom>
          <a:solidFill>
            <a:schemeClr val="bg2"/>
          </a:solidFill>
          <a:ln/>
        </p:spPr>
      </p:sp>
      <p:sp>
        <p:nvSpPr>
          <p:cNvPr id="6" name="Text 4"/>
          <p:cNvSpPr txBox="1"/>
          <p:nvPr/>
        </p:nvSpPr>
        <p:spPr>
          <a:xfrm>
            <a:off x="640080" y="1325880"/>
            <a:ext cx="548640" cy="50292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1</a:t>
            </a:r>
            <a:endParaRPr lang="en-US" sz="2800" dirty="0"/>
          </a:p>
        </p:txBody>
      </p:sp>
      <p:sp>
        <p:nvSpPr>
          <p:cNvPr id="7" name="Text 5"/>
          <p:cNvSpPr txBox="1"/>
          <p:nvPr/>
        </p:nvSpPr>
        <p:spPr>
          <a:xfrm>
            <a:off x="640080" y="1874520"/>
            <a:ext cx="1179576" cy="502920"/>
          </a:xfrm>
          <a:prstGeom prst="rect">
            <a:avLst/>
          </a:prstGeom>
          <a:noFill/>
          <a:ln/>
        </p:spPr>
        <p:txBody>
          <a:bodyPr wrap="square" lIns="0" tIns="0" rIns="0" bIns="0" rtlCol="0" anchor="t"/>
          <a:lstStyle/>
          <a:p>
            <a:pPr indent="0" marL="0">
              <a:buNone/>
            </a:pPr>
            <a:r>
              <a:rPr lang="en-US" sz="1500" b="1" dirty="0">
                <a:solidFill>
                  <a:schemeClr val="tx2"/>
                </a:solidFill>
              </a:rPr>
              <a:t>Unit root tests</a:t>
            </a:r>
            <a:endParaRPr lang="en-US" sz="1500" dirty="0"/>
          </a:p>
        </p:txBody>
      </p:sp>
      <p:sp>
        <p:nvSpPr>
          <p:cNvPr id="8" name="Text 6"/>
          <p:cNvSpPr txBox="1"/>
          <p:nvPr/>
        </p:nvSpPr>
        <p:spPr>
          <a:xfrm>
            <a:off x="640080" y="2377440"/>
            <a:ext cx="1179576" cy="1188720"/>
          </a:xfrm>
          <a:prstGeom prst="rect">
            <a:avLst/>
          </a:prstGeom>
          <a:noFill/>
          <a:ln/>
        </p:spPr>
        <p:txBody>
          <a:bodyPr wrap="square" lIns="0" tIns="0" rIns="0" bIns="0" rtlCol="0" anchor="t"/>
          <a:lstStyle/>
          <a:p>
            <a:pPr indent="0" marL="0">
              <a:buNone/>
            </a:pPr>
            <a:r>
              <a:rPr lang="en-US" sz="1300" dirty="0">
                <a:solidFill>
                  <a:schemeClr val="tx1"/>
                </a:solidFill>
              </a:rPr>
              <a:t>ADF and P–P tests: data become stationary after first differences</a:t>
            </a:r>
            <a:endParaRPr lang="en-US" sz="1300" dirty="0"/>
          </a:p>
        </p:txBody>
      </p:sp>
      <p:sp>
        <p:nvSpPr>
          <p:cNvPr id="9" name="Step 2"/>
          <p:cNvSpPr/>
          <p:nvPr/>
        </p:nvSpPr>
        <p:spPr>
          <a:xfrm>
            <a:off x="2139696" y="1188720"/>
            <a:ext cx="1499616" cy="2423160"/>
          </a:xfrm>
          <a:prstGeom prst="roundRect">
            <a:avLst>
              <a:gd name="adj" fmla="val 4878"/>
            </a:avLst>
          </a:prstGeom>
          <a:solidFill>
            <a:schemeClr val="bg2"/>
          </a:solidFill>
          <a:ln/>
        </p:spPr>
      </p:sp>
      <p:sp>
        <p:nvSpPr>
          <p:cNvPr id="10" name="Text 8"/>
          <p:cNvSpPr txBox="1"/>
          <p:nvPr/>
        </p:nvSpPr>
        <p:spPr>
          <a:xfrm>
            <a:off x="2322576" y="1325880"/>
            <a:ext cx="548640" cy="50292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2</a:t>
            </a:r>
            <a:endParaRPr lang="en-US" sz="2800" dirty="0"/>
          </a:p>
        </p:txBody>
      </p:sp>
      <p:sp>
        <p:nvSpPr>
          <p:cNvPr id="11" name="Text 9"/>
          <p:cNvSpPr txBox="1"/>
          <p:nvPr/>
        </p:nvSpPr>
        <p:spPr>
          <a:xfrm>
            <a:off x="2322576" y="1874520"/>
            <a:ext cx="1179576" cy="502920"/>
          </a:xfrm>
          <a:prstGeom prst="rect">
            <a:avLst/>
          </a:prstGeom>
          <a:noFill/>
          <a:ln/>
        </p:spPr>
        <p:txBody>
          <a:bodyPr wrap="square" lIns="0" tIns="0" rIns="0" bIns="0" rtlCol="0" anchor="t"/>
          <a:lstStyle/>
          <a:p>
            <a:pPr indent="0" marL="0">
              <a:buNone/>
            </a:pPr>
            <a:r>
              <a:rPr lang="en-US" sz="1500" b="1" dirty="0">
                <a:solidFill>
                  <a:schemeClr val="tx2"/>
                </a:solidFill>
              </a:rPr>
              <a:t>Cointegration tests</a:t>
            </a:r>
            <a:endParaRPr lang="en-US" sz="1500" dirty="0"/>
          </a:p>
        </p:txBody>
      </p:sp>
      <p:sp>
        <p:nvSpPr>
          <p:cNvPr id="12" name="Text 10"/>
          <p:cNvSpPr txBox="1"/>
          <p:nvPr/>
        </p:nvSpPr>
        <p:spPr>
          <a:xfrm>
            <a:off x="2322576" y="2377440"/>
            <a:ext cx="1179576" cy="1188720"/>
          </a:xfrm>
          <a:prstGeom prst="rect">
            <a:avLst/>
          </a:prstGeom>
          <a:noFill/>
          <a:ln/>
        </p:spPr>
        <p:txBody>
          <a:bodyPr wrap="square" lIns="0" tIns="0" rIns="0" bIns="0" rtlCol="0" anchor="t"/>
          <a:lstStyle/>
          <a:p>
            <a:pPr indent="0" marL="0">
              <a:buNone/>
            </a:pPr>
            <a:r>
              <a:rPr lang="en-US" sz="1300" dirty="0">
                <a:solidFill>
                  <a:schemeClr val="tx1"/>
                </a:solidFill>
              </a:rPr>
              <a:t>Engle–Granger, Johansen and Pesaran: variables move together in the long run</a:t>
            </a:r>
            <a:endParaRPr lang="en-US" sz="1300" dirty="0"/>
          </a:p>
        </p:txBody>
      </p:sp>
      <p:sp>
        <p:nvSpPr>
          <p:cNvPr id="13" name="Step 3"/>
          <p:cNvSpPr/>
          <p:nvPr/>
        </p:nvSpPr>
        <p:spPr>
          <a:xfrm>
            <a:off x="3822192" y="1188720"/>
            <a:ext cx="1499616" cy="2423160"/>
          </a:xfrm>
          <a:prstGeom prst="roundRect">
            <a:avLst>
              <a:gd name="adj" fmla="val 4878"/>
            </a:avLst>
          </a:prstGeom>
          <a:solidFill>
            <a:schemeClr val="bg2"/>
          </a:solidFill>
          <a:ln/>
        </p:spPr>
      </p:sp>
      <p:sp>
        <p:nvSpPr>
          <p:cNvPr id="14" name="Text 12"/>
          <p:cNvSpPr txBox="1"/>
          <p:nvPr/>
        </p:nvSpPr>
        <p:spPr>
          <a:xfrm>
            <a:off x="4005072" y="1325880"/>
            <a:ext cx="548640" cy="50292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3</a:t>
            </a:r>
            <a:endParaRPr lang="en-US" sz="2800" dirty="0"/>
          </a:p>
        </p:txBody>
      </p:sp>
      <p:sp>
        <p:nvSpPr>
          <p:cNvPr id="15" name="Text 13"/>
          <p:cNvSpPr txBox="1"/>
          <p:nvPr/>
        </p:nvSpPr>
        <p:spPr>
          <a:xfrm>
            <a:off x="4005072" y="1874520"/>
            <a:ext cx="1179576" cy="502920"/>
          </a:xfrm>
          <a:prstGeom prst="rect">
            <a:avLst/>
          </a:prstGeom>
          <a:noFill/>
          <a:ln/>
        </p:spPr>
        <p:txBody>
          <a:bodyPr wrap="square" lIns="0" tIns="0" rIns="0" bIns="0" rtlCol="0" anchor="t"/>
          <a:lstStyle/>
          <a:p>
            <a:pPr indent="0" marL="0">
              <a:buNone/>
            </a:pPr>
            <a:r>
              <a:rPr lang="en-US" sz="1500" b="1" dirty="0">
                <a:solidFill>
                  <a:schemeClr val="tx2"/>
                </a:solidFill>
              </a:rPr>
              <a:t>Choosing the model</a:t>
            </a:r>
            <a:endParaRPr lang="en-US" sz="1500" dirty="0"/>
          </a:p>
        </p:txBody>
      </p:sp>
      <p:sp>
        <p:nvSpPr>
          <p:cNvPr id="16" name="Text 14"/>
          <p:cNvSpPr txBox="1"/>
          <p:nvPr/>
        </p:nvSpPr>
        <p:spPr>
          <a:xfrm>
            <a:off x="4005072" y="2377440"/>
            <a:ext cx="1179576" cy="1188720"/>
          </a:xfrm>
          <a:prstGeom prst="rect">
            <a:avLst/>
          </a:prstGeom>
          <a:noFill/>
          <a:ln/>
        </p:spPr>
        <p:txBody>
          <a:bodyPr wrap="square" lIns="0" tIns="0" rIns="0" bIns="0" rtlCol="0" anchor="t"/>
          <a:lstStyle/>
          <a:p>
            <a:pPr indent="0" marL="0">
              <a:buNone/>
            </a:pPr>
            <a:r>
              <a:rPr lang="en-US" sz="1300" dirty="0">
                <a:solidFill>
                  <a:schemeClr val="tx1"/>
                </a:solidFill>
              </a:rPr>
              <a:t>General-to-specific: drop terms that are not statistically significant</a:t>
            </a:r>
            <a:endParaRPr lang="en-US" sz="1300" dirty="0"/>
          </a:p>
        </p:txBody>
      </p:sp>
      <p:sp>
        <p:nvSpPr>
          <p:cNvPr id="17" name="Step 4"/>
          <p:cNvSpPr/>
          <p:nvPr/>
        </p:nvSpPr>
        <p:spPr>
          <a:xfrm>
            <a:off x="5504688" y="1188720"/>
            <a:ext cx="1499616" cy="2423160"/>
          </a:xfrm>
          <a:prstGeom prst="roundRect">
            <a:avLst>
              <a:gd name="adj" fmla="val 4878"/>
            </a:avLst>
          </a:prstGeom>
          <a:solidFill>
            <a:schemeClr val="tx2"/>
          </a:solidFill>
          <a:ln/>
        </p:spPr>
      </p:sp>
      <p:sp>
        <p:nvSpPr>
          <p:cNvPr id="18" name="Text 16"/>
          <p:cNvSpPr txBox="1"/>
          <p:nvPr/>
        </p:nvSpPr>
        <p:spPr>
          <a:xfrm>
            <a:off x="5687568" y="1325880"/>
            <a:ext cx="548640" cy="50292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4</a:t>
            </a:r>
            <a:endParaRPr lang="en-US" sz="2800" dirty="0"/>
          </a:p>
        </p:txBody>
      </p:sp>
      <p:sp>
        <p:nvSpPr>
          <p:cNvPr id="19" name="Text 17"/>
          <p:cNvSpPr txBox="1"/>
          <p:nvPr/>
        </p:nvSpPr>
        <p:spPr>
          <a:xfrm>
            <a:off x="5687568" y="1874520"/>
            <a:ext cx="1179576" cy="502920"/>
          </a:xfrm>
          <a:prstGeom prst="rect">
            <a:avLst/>
          </a:prstGeom>
          <a:noFill/>
          <a:ln/>
        </p:spPr>
        <p:txBody>
          <a:bodyPr wrap="square" lIns="0" tIns="0" rIns="0" bIns="0" rtlCol="0" anchor="t"/>
          <a:lstStyle/>
          <a:p>
            <a:pPr indent="0" marL="0">
              <a:buNone/>
            </a:pPr>
            <a:r>
              <a:rPr lang="en-US" sz="1500" b="1" dirty="0">
                <a:solidFill>
                  <a:schemeClr val="bg1"/>
                </a:solidFill>
              </a:rPr>
              <a:t>Estimation</a:t>
            </a:r>
            <a:endParaRPr lang="en-US" sz="1500" dirty="0"/>
          </a:p>
        </p:txBody>
      </p:sp>
      <p:sp>
        <p:nvSpPr>
          <p:cNvPr id="20" name="Text 18"/>
          <p:cNvSpPr txBox="1"/>
          <p:nvPr/>
        </p:nvSpPr>
        <p:spPr>
          <a:xfrm>
            <a:off x="5687568" y="2377440"/>
            <a:ext cx="1179576" cy="1188720"/>
          </a:xfrm>
          <a:prstGeom prst="rect">
            <a:avLst/>
          </a:prstGeom>
          <a:noFill/>
          <a:ln/>
        </p:spPr>
        <p:txBody>
          <a:bodyPr wrap="square" lIns="0" tIns="0" rIns="0" bIns="0" rtlCol="0" anchor="t"/>
          <a:lstStyle/>
          <a:p>
            <a:pPr indent="0" marL="0">
              <a:buNone/>
            </a:pPr>
            <a:r>
              <a:rPr lang="en-US" sz="1300" dirty="0">
                <a:solidFill>
                  <a:schemeClr val="bg1"/>
                </a:solidFill>
              </a:rPr>
              <a:t>ECM estimated by OLS in EViews 6.0</a:t>
            </a:r>
            <a:endParaRPr lang="en-US" sz="1300" dirty="0"/>
          </a:p>
        </p:txBody>
      </p:sp>
      <p:sp>
        <p:nvSpPr>
          <p:cNvPr id="21" name="Step 5"/>
          <p:cNvSpPr/>
          <p:nvPr/>
        </p:nvSpPr>
        <p:spPr>
          <a:xfrm>
            <a:off x="7187184" y="1188720"/>
            <a:ext cx="1499616" cy="2423160"/>
          </a:xfrm>
          <a:prstGeom prst="roundRect">
            <a:avLst>
              <a:gd name="adj" fmla="val 4878"/>
            </a:avLst>
          </a:prstGeom>
          <a:solidFill>
            <a:schemeClr val="bg2"/>
          </a:solidFill>
          <a:ln/>
        </p:spPr>
      </p:sp>
      <p:sp>
        <p:nvSpPr>
          <p:cNvPr id="22" name="Text 20"/>
          <p:cNvSpPr txBox="1"/>
          <p:nvPr/>
        </p:nvSpPr>
        <p:spPr>
          <a:xfrm>
            <a:off x="7370064" y="1325880"/>
            <a:ext cx="548640" cy="50292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5</a:t>
            </a:r>
            <a:endParaRPr lang="en-US" sz="2800" dirty="0"/>
          </a:p>
        </p:txBody>
      </p:sp>
      <p:sp>
        <p:nvSpPr>
          <p:cNvPr id="23" name="Text 21"/>
          <p:cNvSpPr txBox="1"/>
          <p:nvPr/>
        </p:nvSpPr>
        <p:spPr>
          <a:xfrm>
            <a:off x="7370064" y="1874520"/>
            <a:ext cx="1179576" cy="502920"/>
          </a:xfrm>
          <a:prstGeom prst="rect">
            <a:avLst/>
          </a:prstGeom>
          <a:noFill/>
          <a:ln/>
        </p:spPr>
        <p:txBody>
          <a:bodyPr wrap="square" lIns="0" tIns="0" rIns="0" bIns="0" rtlCol="0" anchor="t"/>
          <a:lstStyle/>
          <a:p>
            <a:pPr indent="0" marL="0">
              <a:buNone/>
            </a:pPr>
            <a:r>
              <a:rPr lang="en-US" sz="1500" b="1" dirty="0">
                <a:solidFill>
                  <a:schemeClr val="tx2"/>
                </a:solidFill>
              </a:rPr>
              <a:t>Diagnostic tests</a:t>
            </a:r>
            <a:endParaRPr lang="en-US" sz="1500" dirty="0"/>
          </a:p>
        </p:txBody>
      </p:sp>
      <p:sp>
        <p:nvSpPr>
          <p:cNvPr id="24" name="Text 22"/>
          <p:cNvSpPr txBox="1"/>
          <p:nvPr/>
        </p:nvSpPr>
        <p:spPr>
          <a:xfrm>
            <a:off x="7370064" y="2377440"/>
            <a:ext cx="1179576" cy="1188720"/>
          </a:xfrm>
          <a:prstGeom prst="rect">
            <a:avLst/>
          </a:prstGeom>
          <a:noFill/>
          <a:ln/>
        </p:spPr>
        <p:txBody>
          <a:bodyPr wrap="square" lIns="0" tIns="0" rIns="0" bIns="0" rtlCol="0" anchor="t"/>
          <a:lstStyle/>
          <a:p>
            <a:pPr indent="0" marL="0">
              <a:buNone/>
            </a:pPr>
            <a:r>
              <a:rPr lang="en-US" sz="1300" dirty="0">
                <a:solidFill>
                  <a:schemeClr val="tx1"/>
                </a:solidFill>
              </a:rPr>
              <a:t>Checks for problems in the model: all passed</a:t>
            </a:r>
            <a:endParaRPr lang="en-US" sz="1300" dirty="0"/>
          </a:p>
        </p:txBody>
      </p:sp>
      <p:sp>
        <p:nvSpPr>
          <p:cNvPr id="25" name="Text 23"/>
          <p:cNvSpPr txBox="1"/>
          <p:nvPr/>
        </p:nvSpPr>
        <p:spPr>
          <a:xfrm>
            <a:off x="457200" y="3794760"/>
            <a:ext cx="8229600" cy="777240"/>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Approach: </a:t>
            </a:r>
            <a:pPr indent="0" marL="0">
              <a:spcAft>
                <a:spcPts val="400"/>
              </a:spcAft>
              <a:buNone/>
            </a:pPr>
            <a:r>
              <a:rPr lang="en-US" sz="1400" dirty="0">
                <a:solidFill>
                  <a:schemeClr val="tx1"/>
                </a:solidFill>
              </a:rPr>
              <a:t>quantitative time-series analysis of one country, using national data.</a:t>
            </a:r>
            <a:endParaRPr lang="en-US" sz="1400" dirty="0"/>
          </a:p>
          <a:p>
            <a:pPr indent="0" marL="0">
              <a:spcAft>
                <a:spcPts val="400"/>
              </a:spcAft>
              <a:buNone/>
            </a:pPr>
            <a:r>
              <a:rPr lang="en-US" sz="1400" b="1" dirty="0">
                <a:solidFill>
                  <a:schemeClr val="accent2"/>
                </a:solidFill>
              </a:rPr>
              <a:t>Watch-out: </a:t>
            </a:r>
            <a:pPr indent="0" marL="0">
              <a:spcAft>
                <a:spcPts val="400"/>
              </a:spcAft>
              <a:buNone/>
            </a:pPr>
            <a:r>
              <a:rPr lang="en-US" sz="1400" dirty="0">
                <a:solidFill>
                  <a:schemeClr val="tx1"/>
                </a:solidFill>
              </a:rPr>
              <a:t>the Johansen test finds 5–8 long-run relationships, but the ECM keeps only one ECT.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Key findings: what drives emigration</a:t>
            </a:r>
            <a:endParaRPr lang="en-US" sz="2800" dirty="0"/>
          </a:p>
        </p:txBody>
      </p:sp>
      <p:sp>
        <p:nvSpPr>
          <p:cNvPr id="3" name="Badge"/>
          <p:cNvSpPr/>
          <p:nvPr/>
        </p:nvSpPr>
        <p:spPr>
          <a:xfrm>
            <a:off x="457200" y="365760"/>
            <a:ext cx="548640" cy="548640"/>
          </a:xfrm>
          <a:prstGeom prst="ellipse">
            <a:avLst/>
          </a:prstGeom>
          <a:solidFill>
            <a:schemeClr val="accent1"/>
          </a:solidFill>
          <a:ln/>
        </p:spPr>
      </p:sp>
      <p:sp>
        <p:nvSpPr>
          <p:cNvPr id="4" name="Badge number"/>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2200" b="1" dirty="0">
                <a:solidFill>
                  <a:schemeClr val="tx2"/>
                </a:solidFill>
              </a:rPr>
              <a:t>5</a:t>
            </a:r>
            <a:endParaRPr lang="en-US" sz="2200" dirty="0"/>
          </a:p>
        </p:txBody>
      </p:sp>
      <p:graphicFrame>
        <p:nvGraphicFramePr>
          <p:cNvPr id="5" name="t-statistic chart" descr=""/>
          <p:cNvGraphicFramePr/>
          <p:nvPr/>
        </p:nvGraphicFramePr>
        <p:xfrm>
          <a:off x="457200" y="109728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6" name="KPI 1"/>
          <p:cNvSpPr/>
          <p:nvPr/>
        </p:nvSpPr>
        <p:spPr>
          <a:xfrm>
            <a:off x="5852160" y="1188720"/>
            <a:ext cx="2834640" cy="1024128"/>
          </a:xfrm>
          <a:prstGeom prst="roundRect">
            <a:avLst>
              <a:gd name="adj" fmla="val 7143"/>
            </a:avLst>
          </a:prstGeom>
          <a:solidFill>
            <a:schemeClr val="bg2"/>
          </a:solidFill>
          <a:ln/>
        </p:spPr>
      </p:sp>
      <p:sp>
        <p:nvSpPr>
          <p:cNvPr id="7" name="Text 4"/>
          <p:cNvSpPr txBox="1"/>
          <p:nvPr/>
        </p:nvSpPr>
        <p:spPr>
          <a:xfrm>
            <a:off x="6035040" y="1261872"/>
            <a:ext cx="2560320" cy="41148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0.63</a:t>
            </a:r>
            <a:endParaRPr lang="en-US" sz="2400" dirty="0"/>
          </a:p>
        </p:txBody>
      </p:sp>
      <p:sp>
        <p:nvSpPr>
          <p:cNvPr id="8" name="Text 5"/>
          <p:cNvSpPr txBox="1"/>
          <p:nvPr/>
        </p:nvSpPr>
        <p:spPr>
          <a:xfrm>
            <a:off x="6035040" y="1673352"/>
            <a:ext cx="2560320" cy="502920"/>
          </a:xfrm>
          <a:prstGeom prst="rect">
            <a:avLst/>
          </a:prstGeom>
          <a:noFill/>
          <a:ln/>
        </p:spPr>
        <p:txBody>
          <a:bodyPr wrap="square" lIns="0" tIns="0" rIns="0" bIns="0" rtlCol="0" anchor="t"/>
          <a:lstStyle/>
          <a:p>
            <a:pPr indent="0" marL="0">
              <a:buNone/>
            </a:pPr>
            <a:r>
              <a:rPr lang="en-US" sz="1200" dirty="0">
                <a:solidFill>
                  <a:schemeClr val="tx1"/>
                </a:solidFill>
              </a:rPr>
              <a:t>Adjusted R²: the model explains 63% of changes in the migration share</a:t>
            </a:r>
            <a:endParaRPr lang="en-US" sz="1200" dirty="0"/>
          </a:p>
        </p:txBody>
      </p:sp>
      <p:sp>
        <p:nvSpPr>
          <p:cNvPr id="9" name="KPI 2"/>
          <p:cNvSpPr/>
          <p:nvPr/>
        </p:nvSpPr>
        <p:spPr>
          <a:xfrm>
            <a:off x="5852160" y="2350008"/>
            <a:ext cx="2834640" cy="1024128"/>
          </a:xfrm>
          <a:prstGeom prst="roundRect">
            <a:avLst>
              <a:gd name="adj" fmla="val 7143"/>
            </a:avLst>
          </a:prstGeom>
          <a:solidFill>
            <a:schemeClr val="bg2"/>
          </a:solidFill>
          <a:ln/>
        </p:spPr>
      </p:sp>
      <p:sp>
        <p:nvSpPr>
          <p:cNvPr id="10" name="Text 7"/>
          <p:cNvSpPr txBox="1"/>
          <p:nvPr/>
        </p:nvSpPr>
        <p:spPr>
          <a:xfrm>
            <a:off x="6035040" y="2423160"/>
            <a:ext cx="2560320" cy="41148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−0.776</a:t>
            </a:r>
            <a:endParaRPr lang="en-US" sz="2400" dirty="0"/>
          </a:p>
        </p:txBody>
      </p:sp>
      <p:sp>
        <p:nvSpPr>
          <p:cNvPr id="11" name="Text 8"/>
          <p:cNvSpPr txBox="1"/>
          <p:nvPr/>
        </p:nvSpPr>
        <p:spPr>
          <a:xfrm>
            <a:off x="6035040" y="2834640"/>
            <a:ext cx="2560320" cy="502920"/>
          </a:xfrm>
          <a:prstGeom prst="rect">
            <a:avLst/>
          </a:prstGeom>
          <a:noFill/>
          <a:ln/>
        </p:spPr>
        <p:txBody>
          <a:bodyPr wrap="square" lIns="0" tIns="0" rIns="0" bIns="0" rtlCol="0" anchor="t"/>
          <a:lstStyle/>
          <a:p>
            <a:pPr indent="0" marL="0">
              <a:buNone/>
            </a:pPr>
            <a:r>
              <a:rPr lang="en-US" sz="1200" dirty="0">
                <a:solidFill>
                  <a:schemeClr val="tx1"/>
                </a:solidFill>
              </a:rPr>
              <a:t>ECT: about 78% of any gap from the long-run path closes within a year</a:t>
            </a:r>
            <a:endParaRPr lang="en-US" sz="1200" dirty="0"/>
          </a:p>
        </p:txBody>
      </p:sp>
      <p:sp>
        <p:nvSpPr>
          <p:cNvPr id="12" name="KPI 3"/>
          <p:cNvSpPr/>
          <p:nvPr/>
        </p:nvSpPr>
        <p:spPr>
          <a:xfrm>
            <a:off x="5852160" y="3511296"/>
            <a:ext cx="2834640" cy="1024128"/>
          </a:xfrm>
          <a:prstGeom prst="roundRect">
            <a:avLst>
              <a:gd name="adj" fmla="val 7143"/>
            </a:avLst>
          </a:prstGeom>
          <a:solidFill>
            <a:schemeClr val="bg2"/>
          </a:solidFill>
          <a:ln/>
        </p:spPr>
      </p:sp>
      <p:sp>
        <p:nvSpPr>
          <p:cNvPr id="13" name="Text 10"/>
          <p:cNvSpPr txBox="1"/>
          <p:nvPr/>
        </p:nvSpPr>
        <p:spPr>
          <a:xfrm>
            <a:off x="6035040" y="3584448"/>
            <a:ext cx="2560320" cy="41148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5.848</a:t>
            </a:r>
            <a:endParaRPr lang="en-US" sz="2400" dirty="0"/>
          </a:p>
        </p:txBody>
      </p:sp>
      <p:sp>
        <p:nvSpPr>
          <p:cNvPr id="14" name="Text 11"/>
          <p:cNvSpPr txBox="1"/>
          <p:nvPr/>
        </p:nvSpPr>
        <p:spPr>
          <a:xfrm>
            <a:off x="6035040" y="3995928"/>
            <a:ext cx="2560320" cy="502920"/>
          </a:xfrm>
          <a:prstGeom prst="rect">
            <a:avLst/>
          </a:prstGeom>
          <a:noFill/>
          <a:ln/>
        </p:spPr>
        <p:txBody>
          <a:bodyPr wrap="square" lIns="0" tIns="0" rIns="0" bIns="0" rtlCol="0" anchor="t"/>
          <a:lstStyle/>
          <a:p>
            <a:pPr indent="0" marL="0">
              <a:buNone/>
            </a:pPr>
            <a:r>
              <a:rPr lang="en-US" sz="1200" dirty="0">
                <a:solidFill>
                  <a:schemeClr val="tx1"/>
                </a:solidFill>
              </a:rPr>
              <a:t>F-statistic (p = 0.000): the variables matter when taken together</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Key findings: four significant push factors</a:t>
            </a:r>
            <a:endParaRPr lang="en-US" sz="2800" dirty="0"/>
          </a:p>
        </p:txBody>
      </p:sp>
      <p:sp>
        <p:nvSpPr>
          <p:cNvPr id="3" name="Badge"/>
          <p:cNvSpPr/>
          <p:nvPr/>
        </p:nvSpPr>
        <p:spPr>
          <a:xfrm>
            <a:off x="457200" y="365760"/>
            <a:ext cx="548640" cy="548640"/>
          </a:xfrm>
          <a:prstGeom prst="ellipse">
            <a:avLst/>
          </a:prstGeom>
          <a:solidFill>
            <a:schemeClr val="accent1"/>
          </a:solidFill>
          <a:ln/>
        </p:spPr>
      </p:sp>
      <p:sp>
        <p:nvSpPr>
          <p:cNvPr id="4" name="Badge number"/>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2200" b="1" dirty="0">
                <a:solidFill>
                  <a:schemeClr val="tx2"/>
                </a:solidFill>
              </a:rPr>
              <a:t>5</a:t>
            </a:r>
            <a:endParaRPr lang="en-US" sz="2200" dirty="0"/>
          </a:p>
        </p:txBody>
      </p:sp>
      <p:sp>
        <p:nvSpPr>
          <p:cNvPr id="5" name="Driver 1"/>
          <p:cNvSpPr/>
          <p:nvPr/>
        </p:nvSpPr>
        <p:spPr>
          <a:xfrm>
            <a:off x="457200" y="1188720"/>
            <a:ext cx="4023360" cy="1554480"/>
          </a:xfrm>
          <a:prstGeom prst="roundRect">
            <a:avLst>
              <a:gd name="adj" fmla="val 4706"/>
            </a:avLst>
          </a:prstGeom>
          <a:solidFill>
            <a:schemeClr val="bg2"/>
          </a:solidFill>
          <a:ln/>
        </p:spPr>
      </p:sp>
      <p:sp>
        <p:nvSpPr>
          <p:cNvPr id="6" name="Driver 1 circle"/>
          <p:cNvSpPr/>
          <p:nvPr/>
        </p:nvSpPr>
        <p:spPr>
          <a:xfrm>
            <a:off x="685800" y="1417320"/>
            <a:ext cx="594360" cy="594360"/>
          </a:xfrm>
          <a:prstGeom prst="ellipse">
            <a:avLst/>
          </a:prstGeom>
          <a:solidFill>
            <a:schemeClr val="accent2"/>
          </a:solidFill>
          <a:ln/>
        </p:spPr>
      </p:sp>
      <p:pic>
        <p:nvPicPr>
          <p:cNvPr id="7" name="Driver 1 icon" descr="preencoded.png">    </p:cNvPr>
          <p:cNvPicPr>
            <a:picLocks noChangeAspect="1"/>
          </p:cNvPicPr>
          <p:nvPr/>
        </p:nvPicPr>
        <p:blipFill>
          <a:blip r:embed="rId1"/>
          <a:stretch>
            <a:fillRect/>
          </a:stretch>
        </p:blipFill>
        <p:spPr>
          <a:xfrm>
            <a:off x="834390" y="1565910"/>
            <a:ext cx="297180" cy="297180"/>
          </a:xfrm>
          <a:prstGeom prst="rect">
            <a:avLst/>
          </a:prstGeom>
        </p:spPr>
      </p:pic>
      <p:sp>
        <p:nvSpPr>
          <p:cNvPr id="8" name="Text 5"/>
          <p:cNvSpPr txBox="1"/>
          <p:nvPr/>
        </p:nvSpPr>
        <p:spPr>
          <a:xfrm>
            <a:off x="1463040" y="1371600"/>
            <a:ext cx="2834640" cy="457200"/>
          </a:xfrm>
          <a:prstGeom prst="rect">
            <a:avLst/>
          </a:prstGeom>
          <a:noFill/>
          <a:ln/>
        </p:spPr>
        <p:txBody>
          <a:bodyPr wrap="square" lIns="0" tIns="0" rIns="0" bIns="0" rtlCol="0" anchor="ctr"/>
          <a:lstStyle/>
          <a:p>
            <a:pPr indent="0" marL="0">
              <a:buNone/>
            </a:pPr>
            <a:r>
              <a:rPr lang="en-US" sz="1500" b="1" dirty="0">
                <a:solidFill>
                  <a:schemeClr val="tx2"/>
                </a:solidFill>
              </a:rPr>
              <a:t>Unemployment ↑ → emigration ↑</a:t>
            </a:r>
            <a:endParaRPr lang="en-US" sz="1500" dirty="0"/>
          </a:p>
        </p:txBody>
      </p:sp>
      <p:sp>
        <p:nvSpPr>
          <p:cNvPr id="9" name="Text 6"/>
          <p:cNvSpPr txBox="1"/>
          <p:nvPr/>
        </p:nvSpPr>
        <p:spPr>
          <a:xfrm>
            <a:off x="1463040" y="1847088"/>
            <a:ext cx="2834640" cy="822960"/>
          </a:xfrm>
          <a:prstGeom prst="rect">
            <a:avLst/>
          </a:prstGeom>
          <a:noFill/>
          <a:ln/>
        </p:spPr>
        <p:txBody>
          <a:bodyPr wrap="square" lIns="0" tIns="0" rIns="0" bIns="0" rtlCol="0" anchor="t"/>
          <a:lstStyle/>
          <a:p>
            <a:pPr indent="0" marL="0">
              <a:buNone/>
            </a:pPr>
            <a:r>
              <a:rPr lang="en-US" sz="1400" dirty="0">
                <a:solidFill>
                  <a:schemeClr val="tx1"/>
                </a:solidFill>
              </a:rPr>
              <a:t>Coefficient +0.236. Emigration is a “safety valve” when there are not enough jobs.</a:t>
            </a:r>
            <a:endParaRPr lang="en-US" sz="1400" dirty="0"/>
          </a:p>
        </p:txBody>
      </p:sp>
      <p:sp>
        <p:nvSpPr>
          <p:cNvPr id="10" name="Driver 2"/>
          <p:cNvSpPr/>
          <p:nvPr/>
        </p:nvSpPr>
        <p:spPr>
          <a:xfrm>
            <a:off x="4663440" y="1188720"/>
            <a:ext cx="4023360" cy="1554480"/>
          </a:xfrm>
          <a:prstGeom prst="roundRect">
            <a:avLst>
              <a:gd name="adj" fmla="val 4706"/>
            </a:avLst>
          </a:prstGeom>
          <a:solidFill>
            <a:schemeClr val="bg2"/>
          </a:solidFill>
          <a:ln/>
        </p:spPr>
      </p:sp>
      <p:sp>
        <p:nvSpPr>
          <p:cNvPr id="11" name="Driver 2 circle"/>
          <p:cNvSpPr/>
          <p:nvPr/>
        </p:nvSpPr>
        <p:spPr>
          <a:xfrm>
            <a:off x="4892040" y="1417320"/>
            <a:ext cx="594360" cy="594360"/>
          </a:xfrm>
          <a:prstGeom prst="ellipse">
            <a:avLst/>
          </a:prstGeom>
          <a:solidFill>
            <a:schemeClr val="tx2"/>
          </a:solidFill>
          <a:ln/>
        </p:spPr>
      </p:sp>
      <p:pic>
        <p:nvPicPr>
          <p:cNvPr id="12" name="Driver 2 icon" descr="preencoded.png">    </p:cNvPr>
          <p:cNvPicPr>
            <a:picLocks noChangeAspect="1"/>
          </p:cNvPicPr>
          <p:nvPr/>
        </p:nvPicPr>
        <p:blipFill>
          <a:blip r:embed="rId2"/>
          <a:stretch>
            <a:fillRect/>
          </a:stretch>
        </p:blipFill>
        <p:spPr>
          <a:xfrm>
            <a:off x="5040630" y="1565910"/>
            <a:ext cx="297180" cy="297180"/>
          </a:xfrm>
          <a:prstGeom prst="rect">
            <a:avLst/>
          </a:prstGeom>
        </p:spPr>
      </p:pic>
      <p:sp>
        <p:nvSpPr>
          <p:cNvPr id="13" name="Text 9"/>
          <p:cNvSpPr txBox="1"/>
          <p:nvPr/>
        </p:nvSpPr>
        <p:spPr>
          <a:xfrm>
            <a:off x="5669280" y="1371600"/>
            <a:ext cx="2834640" cy="457200"/>
          </a:xfrm>
          <a:prstGeom prst="rect">
            <a:avLst/>
          </a:prstGeom>
          <a:noFill/>
          <a:ln/>
        </p:spPr>
        <p:txBody>
          <a:bodyPr wrap="square" lIns="0" tIns="0" rIns="0" bIns="0" rtlCol="0" anchor="ctr"/>
          <a:lstStyle/>
          <a:p>
            <a:pPr indent="0" marL="0">
              <a:buNone/>
            </a:pPr>
            <a:r>
              <a:rPr lang="en-US" sz="1500" b="1" dirty="0">
                <a:solidFill>
                  <a:schemeClr val="tx2"/>
                </a:solidFill>
              </a:rPr>
              <a:t>Adult literacy ↑ → emigration ↓</a:t>
            </a:r>
            <a:endParaRPr lang="en-US" sz="1500" dirty="0"/>
          </a:p>
        </p:txBody>
      </p:sp>
      <p:sp>
        <p:nvSpPr>
          <p:cNvPr id="14" name="Text 10"/>
          <p:cNvSpPr txBox="1"/>
          <p:nvPr/>
        </p:nvSpPr>
        <p:spPr>
          <a:xfrm>
            <a:off x="5669280" y="1847088"/>
            <a:ext cx="2834640" cy="822960"/>
          </a:xfrm>
          <a:prstGeom prst="rect">
            <a:avLst/>
          </a:prstGeom>
          <a:noFill/>
          <a:ln/>
        </p:spPr>
        <p:txBody>
          <a:bodyPr wrap="square" lIns="0" tIns="0" rIns="0" bIns="0" rtlCol="0" anchor="t"/>
          <a:lstStyle/>
          <a:p>
            <a:pPr indent="0" marL="0">
              <a:buNone/>
            </a:pPr>
            <a:r>
              <a:rPr lang="en-US" sz="1400" dirty="0">
                <a:solidFill>
                  <a:schemeClr val="tx1"/>
                </a:solidFill>
              </a:rPr>
              <a:t>Coefficient −0.659. The opposite of human capital theory. Authors: most migrants do low-skilled jobs.</a:t>
            </a:r>
            <a:endParaRPr lang="en-US" sz="1400" dirty="0"/>
          </a:p>
        </p:txBody>
      </p:sp>
      <p:sp>
        <p:nvSpPr>
          <p:cNvPr id="15" name="Driver 3"/>
          <p:cNvSpPr/>
          <p:nvPr/>
        </p:nvSpPr>
        <p:spPr>
          <a:xfrm>
            <a:off x="457200" y="2926080"/>
            <a:ext cx="4023360" cy="1554480"/>
          </a:xfrm>
          <a:prstGeom prst="roundRect">
            <a:avLst>
              <a:gd name="adj" fmla="val 4706"/>
            </a:avLst>
          </a:prstGeom>
          <a:solidFill>
            <a:schemeClr val="bg2"/>
          </a:solidFill>
          <a:ln/>
        </p:spPr>
      </p:sp>
      <p:sp>
        <p:nvSpPr>
          <p:cNvPr id="16" name="Driver 3 circle"/>
          <p:cNvSpPr/>
          <p:nvPr/>
        </p:nvSpPr>
        <p:spPr>
          <a:xfrm>
            <a:off x="685800" y="3154680"/>
            <a:ext cx="594360" cy="594360"/>
          </a:xfrm>
          <a:prstGeom prst="ellipse">
            <a:avLst/>
          </a:prstGeom>
          <a:solidFill>
            <a:schemeClr val="tx2"/>
          </a:solidFill>
          <a:ln/>
        </p:spPr>
      </p:sp>
      <p:pic>
        <p:nvPicPr>
          <p:cNvPr id="17" name="Driver 3 icon" descr="preencoded.png">    </p:cNvPr>
          <p:cNvPicPr>
            <a:picLocks noChangeAspect="1"/>
          </p:cNvPicPr>
          <p:nvPr/>
        </p:nvPicPr>
        <p:blipFill>
          <a:blip r:embed="rId3"/>
          <a:stretch>
            <a:fillRect/>
          </a:stretch>
        </p:blipFill>
        <p:spPr>
          <a:xfrm>
            <a:off x="834390" y="3303270"/>
            <a:ext cx="297180" cy="297180"/>
          </a:xfrm>
          <a:prstGeom prst="rect">
            <a:avLst/>
          </a:prstGeom>
        </p:spPr>
      </p:pic>
      <p:sp>
        <p:nvSpPr>
          <p:cNvPr id="18" name="Text 13"/>
          <p:cNvSpPr txBox="1"/>
          <p:nvPr/>
        </p:nvSpPr>
        <p:spPr>
          <a:xfrm>
            <a:off x="1463040" y="3108960"/>
            <a:ext cx="2834640" cy="457200"/>
          </a:xfrm>
          <a:prstGeom prst="rect">
            <a:avLst/>
          </a:prstGeom>
          <a:noFill/>
          <a:ln/>
        </p:spPr>
        <p:txBody>
          <a:bodyPr wrap="square" lIns="0" tIns="0" rIns="0" bIns="0" rtlCol="0" anchor="ctr"/>
          <a:lstStyle/>
          <a:p>
            <a:pPr indent="0" marL="0">
              <a:buNone/>
            </a:pPr>
            <a:r>
              <a:rPr lang="en-US" sz="1500" b="1" dirty="0">
                <a:solidFill>
                  <a:schemeClr val="tx2"/>
                </a:solidFill>
              </a:rPr>
              <a:t>Instability ↑ → emigration ↓</a:t>
            </a:r>
            <a:endParaRPr lang="en-US" sz="1500" dirty="0"/>
          </a:p>
        </p:txBody>
      </p:sp>
      <p:sp>
        <p:nvSpPr>
          <p:cNvPr id="19" name="Text 14"/>
          <p:cNvSpPr txBox="1"/>
          <p:nvPr/>
        </p:nvSpPr>
        <p:spPr>
          <a:xfrm>
            <a:off x="1463040" y="3584448"/>
            <a:ext cx="2834640" cy="822960"/>
          </a:xfrm>
          <a:prstGeom prst="rect">
            <a:avLst/>
          </a:prstGeom>
          <a:noFill/>
          <a:ln/>
        </p:spPr>
        <p:txBody>
          <a:bodyPr wrap="square" lIns="0" tIns="0" rIns="0" bIns="0" rtlCol="0" anchor="t"/>
          <a:lstStyle/>
          <a:p>
            <a:pPr indent="0" marL="0">
              <a:buNone/>
            </a:pPr>
            <a:r>
              <a:rPr lang="en-US" sz="1400" dirty="0">
                <a:solidFill>
                  <a:schemeClr val="tx1"/>
                </a:solidFill>
              </a:rPr>
              <a:t>Coefficient −0.482. The migration share fell in unstable years (1983, 1986, 2001, 2005).</a:t>
            </a:r>
            <a:endParaRPr lang="en-US" sz="1400" dirty="0"/>
          </a:p>
        </p:txBody>
      </p:sp>
      <p:sp>
        <p:nvSpPr>
          <p:cNvPr id="20" name="Driver 4"/>
          <p:cNvSpPr/>
          <p:nvPr/>
        </p:nvSpPr>
        <p:spPr>
          <a:xfrm>
            <a:off x="4663440" y="2926080"/>
            <a:ext cx="4023360" cy="1554480"/>
          </a:xfrm>
          <a:prstGeom prst="roundRect">
            <a:avLst>
              <a:gd name="adj" fmla="val 4706"/>
            </a:avLst>
          </a:prstGeom>
          <a:solidFill>
            <a:schemeClr val="bg2"/>
          </a:solidFill>
          <a:ln/>
        </p:spPr>
      </p:sp>
      <p:sp>
        <p:nvSpPr>
          <p:cNvPr id="21" name="Driver 4 circle"/>
          <p:cNvSpPr/>
          <p:nvPr/>
        </p:nvSpPr>
        <p:spPr>
          <a:xfrm>
            <a:off x="4892040" y="3154680"/>
            <a:ext cx="594360" cy="594360"/>
          </a:xfrm>
          <a:prstGeom prst="ellipse">
            <a:avLst/>
          </a:prstGeom>
          <a:solidFill>
            <a:schemeClr val="tx2"/>
          </a:solidFill>
          <a:ln/>
        </p:spPr>
      </p:sp>
      <p:pic>
        <p:nvPicPr>
          <p:cNvPr id="22" name="Driver 4 icon" descr="preencoded.png">    </p:cNvPr>
          <p:cNvPicPr>
            <a:picLocks noChangeAspect="1"/>
          </p:cNvPicPr>
          <p:nvPr/>
        </p:nvPicPr>
        <p:blipFill>
          <a:blip r:embed="rId4"/>
          <a:stretch>
            <a:fillRect/>
          </a:stretch>
        </p:blipFill>
        <p:spPr>
          <a:xfrm>
            <a:off x="5040630" y="3303270"/>
            <a:ext cx="297180" cy="297180"/>
          </a:xfrm>
          <a:prstGeom prst="rect">
            <a:avLst/>
          </a:prstGeom>
        </p:spPr>
      </p:pic>
      <p:sp>
        <p:nvSpPr>
          <p:cNvPr id="23" name="Text 17"/>
          <p:cNvSpPr txBox="1"/>
          <p:nvPr/>
        </p:nvSpPr>
        <p:spPr>
          <a:xfrm>
            <a:off x="5669280" y="3108960"/>
            <a:ext cx="2834640" cy="457200"/>
          </a:xfrm>
          <a:prstGeom prst="rect">
            <a:avLst/>
          </a:prstGeom>
          <a:noFill/>
          <a:ln/>
        </p:spPr>
        <p:txBody>
          <a:bodyPr wrap="square" lIns="0" tIns="0" rIns="0" bIns="0" rtlCol="0" anchor="ctr"/>
          <a:lstStyle/>
          <a:p>
            <a:pPr indent="0" marL="0">
              <a:buNone/>
            </a:pPr>
            <a:r>
              <a:rPr lang="en-US" sz="1500" b="1" dirty="0">
                <a:solidFill>
                  <a:schemeClr val="tx2"/>
                </a:solidFill>
              </a:rPr>
              <a:t>Density ↑ → emigration ↓</a:t>
            </a:r>
            <a:endParaRPr lang="en-US" sz="1500" dirty="0"/>
          </a:p>
        </p:txBody>
      </p:sp>
      <p:sp>
        <p:nvSpPr>
          <p:cNvPr id="24" name="Text 18"/>
          <p:cNvSpPr txBox="1"/>
          <p:nvPr/>
        </p:nvSpPr>
        <p:spPr>
          <a:xfrm>
            <a:off x="5669280" y="3584448"/>
            <a:ext cx="2834640" cy="822960"/>
          </a:xfrm>
          <a:prstGeom prst="rect">
            <a:avLst/>
          </a:prstGeom>
          <a:noFill/>
          <a:ln/>
        </p:spPr>
        <p:txBody>
          <a:bodyPr wrap="square" lIns="0" tIns="0" rIns="0" bIns="0" rtlCol="0" anchor="t"/>
          <a:lstStyle/>
          <a:p>
            <a:pPr indent="0" marL="0">
              <a:buNone/>
            </a:pPr>
            <a:r>
              <a:rPr lang="en-US" sz="1400" dirty="0">
                <a:solidFill>
                  <a:schemeClr val="tx1"/>
                </a:solidFill>
              </a:rPr>
              <a:t>Coefficient −0.254. The opposite of what was expected. The authors cannot fully explain it.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Key findings: other results and conclusions</a:t>
            </a:r>
            <a:endParaRPr lang="en-US" sz="2800" dirty="0"/>
          </a:p>
        </p:txBody>
      </p:sp>
      <p:sp>
        <p:nvSpPr>
          <p:cNvPr id="3" name="Badge"/>
          <p:cNvSpPr/>
          <p:nvPr/>
        </p:nvSpPr>
        <p:spPr>
          <a:xfrm>
            <a:off x="457200" y="365760"/>
            <a:ext cx="548640" cy="548640"/>
          </a:xfrm>
          <a:prstGeom prst="ellipse">
            <a:avLst/>
          </a:prstGeom>
          <a:solidFill>
            <a:schemeClr val="accent1"/>
          </a:solidFill>
          <a:ln/>
        </p:spPr>
      </p:sp>
      <p:sp>
        <p:nvSpPr>
          <p:cNvPr id="4" name="Badge number"/>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2200" b="1" dirty="0">
                <a:solidFill>
                  <a:schemeClr val="tx2"/>
                </a:solidFill>
              </a:rPr>
              <a:t>5</a:t>
            </a:r>
            <a:endParaRPr lang="en-US" sz="2200" dirty="0"/>
          </a:p>
        </p:txBody>
      </p:sp>
      <p:sp>
        <p:nvSpPr>
          <p:cNvPr id="5" name="Not significant card"/>
          <p:cNvSpPr/>
          <p:nvPr/>
        </p:nvSpPr>
        <p:spPr>
          <a:xfrm>
            <a:off x="457200" y="1188720"/>
            <a:ext cx="3840480" cy="3383280"/>
          </a:xfrm>
          <a:prstGeom prst="roundRect">
            <a:avLst>
              <a:gd name="adj" fmla="val 2162"/>
            </a:avLst>
          </a:prstGeom>
          <a:solidFill>
            <a:schemeClr val="bg2"/>
          </a:solidFill>
          <a:ln/>
        </p:spPr>
      </p:sp>
      <p:sp>
        <p:nvSpPr>
          <p:cNvPr id="6" name="Text 4"/>
          <p:cNvSpPr txBox="1"/>
          <p:nvPr/>
        </p:nvSpPr>
        <p:spPr>
          <a:xfrm>
            <a:off x="731520" y="1325880"/>
            <a:ext cx="3383280" cy="365760"/>
          </a:xfrm>
          <a:prstGeom prst="rect">
            <a:avLst/>
          </a:prstGeom>
          <a:noFill/>
          <a:ln/>
        </p:spPr>
        <p:txBody>
          <a:bodyPr wrap="square" lIns="0" tIns="0" rIns="0" bIns="0" rtlCol="0" anchor="t"/>
          <a:lstStyle/>
          <a:p>
            <a:pPr indent="0" marL="0">
              <a:buNone/>
            </a:pPr>
            <a:r>
              <a:rPr lang="en-US" sz="1800" b="1" dirty="0">
                <a:solidFill>
                  <a:schemeClr val="tx2"/>
                </a:solidFill>
              </a:rPr>
              <a:t>Not statistically significant</a:t>
            </a:r>
            <a:endParaRPr lang="en-US" sz="1800" dirty="0"/>
          </a:p>
        </p:txBody>
      </p:sp>
      <p:sp>
        <p:nvSpPr>
          <p:cNvPr id="7" name="Text 5"/>
          <p:cNvSpPr txBox="1"/>
          <p:nvPr/>
        </p:nvSpPr>
        <p:spPr>
          <a:xfrm>
            <a:off x="731520" y="1783080"/>
            <a:ext cx="338328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Cost of migration and per capita income: negative, as expected</a:t>
            </a:r>
            <a:endParaRPr lang="en-US" sz="1400" dirty="0"/>
          </a:p>
          <a:p>
            <a:pPr marL="342900" indent="-342900">
              <a:spcAft>
                <a:spcPts val="800"/>
              </a:spcAft>
              <a:buSzPct val="100000"/>
              <a:buChar char="•"/>
            </a:pPr>
            <a:r>
              <a:rPr lang="en-US" sz="1400" dirty="0">
                <a:solidFill>
                  <a:schemeClr val="tx1"/>
                </a:solidFill>
              </a:rPr>
              <a:t>Inflation: negative, as expected</a:t>
            </a:r>
            <a:endParaRPr lang="en-US" sz="1400" dirty="0"/>
          </a:p>
          <a:p>
            <a:pPr marL="342900" indent="-342900">
              <a:spcAft>
                <a:spcPts val="800"/>
              </a:spcAft>
              <a:buSzPct val="100000"/>
              <a:buChar char="•"/>
            </a:pPr>
            <a:r>
              <a:rPr lang="en-US" sz="1400" dirty="0">
                <a:solidFill>
                  <a:schemeClr val="tx1"/>
                </a:solidFill>
              </a:rPr>
              <a:t>Income inequality and income inequality²: so the Roy effect does not hold for the Philippines</a:t>
            </a:r>
            <a:endParaRPr lang="en-US" sz="1400" dirty="0"/>
          </a:p>
        </p:txBody>
      </p:sp>
      <p:sp>
        <p:nvSpPr>
          <p:cNvPr id="8" name="Text 6"/>
          <p:cNvSpPr txBox="1"/>
          <p:nvPr/>
        </p:nvSpPr>
        <p:spPr>
          <a:xfrm>
            <a:off x="4572000" y="1234440"/>
            <a:ext cx="4114800" cy="365760"/>
          </a:xfrm>
          <a:prstGeom prst="rect">
            <a:avLst/>
          </a:prstGeom>
          <a:noFill/>
          <a:ln/>
        </p:spPr>
        <p:txBody>
          <a:bodyPr wrap="square" lIns="0" tIns="0" rIns="0" bIns="0" rtlCol="0" anchor="t"/>
          <a:lstStyle/>
          <a:p>
            <a:pPr indent="0" marL="0">
              <a:buNone/>
            </a:pPr>
            <a:r>
              <a:rPr lang="en-US" sz="1700" b="1" dirty="0">
                <a:solidFill>
                  <a:schemeClr val="tx2"/>
                </a:solidFill>
              </a:rPr>
              <a:t>The authors’ conclusions</a:t>
            </a:r>
            <a:endParaRPr lang="en-US" sz="1700" dirty="0"/>
          </a:p>
        </p:txBody>
      </p:sp>
      <p:sp>
        <p:nvSpPr>
          <p:cNvPr id="9" name="Conclusion 1 circle"/>
          <p:cNvSpPr/>
          <p:nvPr/>
        </p:nvSpPr>
        <p:spPr>
          <a:xfrm>
            <a:off x="4572000" y="1737360"/>
            <a:ext cx="457200" cy="457200"/>
          </a:xfrm>
          <a:prstGeom prst="ellipse">
            <a:avLst/>
          </a:prstGeom>
          <a:solidFill>
            <a:schemeClr val="accent3"/>
          </a:solidFill>
          <a:ln/>
        </p:spPr>
      </p:sp>
      <p:pic>
        <p:nvPicPr>
          <p:cNvPr id="10" name="Conclusion 1 icon" descr="preencoded.png">    </p:cNvPr>
          <p:cNvPicPr>
            <a:picLocks noChangeAspect="1"/>
          </p:cNvPicPr>
          <p:nvPr/>
        </p:nvPicPr>
        <p:blipFill>
          <a:blip r:embed="rId1"/>
          <a:stretch>
            <a:fillRect/>
          </a:stretch>
        </p:blipFill>
        <p:spPr>
          <a:xfrm>
            <a:off x="4686300" y="1851660"/>
            <a:ext cx="228600" cy="228600"/>
          </a:xfrm>
          <a:prstGeom prst="rect">
            <a:avLst/>
          </a:prstGeom>
        </p:spPr>
      </p:pic>
      <p:sp>
        <p:nvSpPr>
          <p:cNvPr id="11" name="Text 8"/>
          <p:cNvSpPr txBox="1"/>
          <p:nvPr/>
        </p:nvSpPr>
        <p:spPr>
          <a:xfrm>
            <a:off x="5212080" y="1691640"/>
            <a:ext cx="3474720" cy="566928"/>
          </a:xfrm>
          <a:prstGeom prst="rect">
            <a:avLst/>
          </a:prstGeom>
          <a:noFill/>
          <a:ln/>
        </p:spPr>
        <p:txBody>
          <a:bodyPr wrap="square" lIns="0" tIns="0" rIns="0" bIns="0" rtlCol="0" anchor="ctr"/>
          <a:lstStyle/>
          <a:p>
            <a:pPr indent="0" marL="0">
              <a:buNone/>
            </a:pPr>
            <a:r>
              <a:rPr lang="en-US" sz="1400" dirty="0">
                <a:solidFill>
                  <a:schemeClr val="tx1"/>
                </a:solidFill>
              </a:rPr>
              <a:t>Main push factors: unemployment, adult literacy, political instability, population density</a:t>
            </a:r>
            <a:endParaRPr lang="en-US" sz="1400" dirty="0"/>
          </a:p>
        </p:txBody>
      </p:sp>
      <p:sp>
        <p:nvSpPr>
          <p:cNvPr id="12" name="Conclusion 2 circle"/>
          <p:cNvSpPr/>
          <p:nvPr/>
        </p:nvSpPr>
        <p:spPr>
          <a:xfrm>
            <a:off x="4572000" y="2450592"/>
            <a:ext cx="457200" cy="457200"/>
          </a:xfrm>
          <a:prstGeom prst="ellipse">
            <a:avLst/>
          </a:prstGeom>
          <a:solidFill>
            <a:schemeClr val="accent3"/>
          </a:solidFill>
          <a:ln/>
        </p:spPr>
      </p:sp>
      <p:pic>
        <p:nvPicPr>
          <p:cNvPr id="13" name="Conclusion 2 icon" descr="preencoded.png">    </p:cNvPr>
          <p:cNvPicPr>
            <a:picLocks noChangeAspect="1"/>
          </p:cNvPicPr>
          <p:nvPr/>
        </p:nvPicPr>
        <p:blipFill>
          <a:blip r:embed="rId2"/>
          <a:stretch>
            <a:fillRect/>
          </a:stretch>
        </p:blipFill>
        <p:spPr>
          <a:xfrm>
            <a:off x="4686300" y="2564892"/>
            <a:ext cx="228600" cy="228600"/>
          </a:xfrm>
          <a:prstGeom prst="rect">
            <a:avLst/>
          </a:prstGeom>
        </p:spPr>
      </p:pic>
      <p:sp>
        <p:nvSpPr>
          <p:cNvPr id="14" name="Text 10"/>
          <p:cNvSpPr txBox="1"/>
          <p:nvPr/>
        </p:nvSpPr>
        <p:spPr>
          <a:xfrm>
            <a:off x="5212080" y="2404872"/>
            <a:ext cx="3474720" cy="566928"/>
          </a:xfrm>
          <a:prstGeom prst="rect">
            <a:avLst/>
          </a:prstGeom>
          <a:noFill/>
          <a:ln/>
        </p:spPr>
        <p:txBody>
          <a:bodyPr wrap="square" lIns="0" tIns="0" rIns="0" bIns="0" rtlCol="0" anchor="ctr"/>
          <a:lstStyle/>
          <a:p>
            <a:pPr indent="0" marL="0">
              <a:buNone/>
            </a:pPr>
            <a:r>
              <a:rPr lang="en-US" sz="1400" dirty="0">
                <a:solidFill>
                  <a:schemeClr val="tx1"/>
                </a:solidFill>
              </a:rPr>
              <a:t>Collect and track migration data better</a:t>
            </a:r>
            <a:endParaRPr lang="en-US" sz="1400" dirty="0"/>
          </a:p>
        </p:txBody>
      </p:sp>
      <p:sp>
        <p:nvSpPr>
          <p:cNvPr id="15" name="Conclusion 3 circle"/>
          <p:cNvSpPr/>
          <p:nvPr/>
        </p:nvSpPr>
        <p:spPr>
          <a:xfrm>
            <a:off x="4572000" y="3163824"/>
            <a:ext cx="457200" cy="457200"/>
          </a:xfrm>
          <a:prstGeom prst="ellipse">
            <a:avLst/>
          </a:prstGeom>
          <a:solidFill>
            <a:schemeClr val="accent3"/>
          </a:solidFill>
          <a:ln/>
        </p:spPr>
      </p:sp>
      <p:pic>
        <p:nvPicPr>
          <p:cNvPr id="16" name="Conclusion 3 icon" descr="preencoded.png">    </p:cNvPr>
          <p:cNvPicPr>
            <a:picLocks noChangeAspect="1"/>
          </p:cNvPicPr>
          <p:nvPr/>
        </p:nvPicPr>
        <p:blipFill>
          <a:blip r:embed="rId3"/>
          <a:stretch>
            <a:fillRect/>
          </a:stretch>
        </p:blipFill>
        <p:spPr>
          <a:xfrm>
            <a:off x="4686300" y="3278124"/>
            <a:ext cx="228600" cy="228600"/>
          </a:xfrm>
          <a:prstGeom prst="rect">
            <a:avLst/>
          </a:prstGeom>
        </p:spPr>
      </p:pic>
      <p:sp>
        <p:nvSpPr>
          <p:cNvPr id="17" name="Text 12"/>
          <p:cNvSpPr txBox="1"/>
          <p:nvPr/>
        </p:nvSpPr>
        <p:spPr>
          <a:xfrm>
            <a:off x="5212080" y="3118104"/>
            <a:ext cx="3474720" cy="566928"/>
          </a:xfrm>
          <a:prstGeom prst="rect">
            <a:avLst/>
          </a:prstGeom>
          <a:noFill/>
          <a:ln/>
        </p:spPr>
        <p:txBody>
          <a:bodyPr wrap="square" lIns="0" tIns="0" rIns="0" bIns="0" rtlCol="0" anchor="ctr"/>
          <a:lstStyle/>
          <a:p>
            <a:pPr indent="0" marL="0">
              <a:buNone/>
            </a:pPr>
            <a:r>
              <a:rPr lang="en-US" sz="1400" dirty="0">
                <a:solidFill>
                  <a:schemeClr val="tx1"/>
                </a:solidFill>
              </a:rPr>
              <a:t>Sign agreements with destination countries to protect overseas Filipino workers</a:t>
            </a:r>
            <a:endParaRPr lang="en-US" sz="1400" dirty="0"/>
          </a:p>
        </p:txBody>
      </p:sp>
      <p:sp>
        <p:nvSpPr>
          <p:cNvPr id="18" name="Conclusion 4 circle"/>
          <p:cNvSpPr/>
          <p:nvPr/>
        </p:nvSpPr>
        <p:spPr>
          <a:xfrm>
            <a:off x="4572000" y="3877056"/>
            <a:ext cx="457200" cy="457200"/>
          </a:xfrm>
          <a:prstGeom prst="ellipse">
            <a:avLst/>
          </a:prstGeom>
          <a:solidFill>
            <a:schemeClr val="accent3"/>
          </a:solidFill>
          <a:ln/>
        </p:spPr>
      </p:sp>
      <p:pic>
        <p:nvPicPr>
          <p:cNvPr id="19" name="Conclusion 4 icon" descr="preencoded.png">    </p:cNvPr>
          <p:cNvPicPr>
            <a:picLocks noChangeAspect="1"/>
          </p:cNvPicPr>
          <p:nvPr/>
        </p:nvPicPr>
        <p:blipFill>
          <a:blip r:embed="rId4"/>
          <a:stretch>
            <a:fillRect/>
          </a:stretch>
        </p:blipFill>
        <p:spPr>
          <a:xfrm>
            <a:off x="4686300" y="3991356"/>
            <a:ext cx="228600" cy="228600"/>
          </a:xfrm>
          <a:prstGeom prst="rect">
            <a:avLst/>
          </a:prstGeom>
        </p:spPr>
      </p:pic>
      <p:sp>
        <p:nvSpPr>
          <p:cNvPr id="20" name="Text 14"/>
          <p:cNvSpPr txBox="1"/>
          <p:nvPr/>
        </p:nvSpPr>
        <p:spPr>
          <a:xfrm>
            <a:off x="5212080" y="3831336"/>
            <a:ext cx="3474720" cy="566928"/>
          </a:xfrm>
          <a:prstGeom prst="rect">
            <a:avLst/>
          </a:prstGeom>
          <a:noFill/>
          <a:ln/>
        </p:spPr>
        <p:txBody>
          <a:bodyPr wrap="square" lIns="0" tIns="0" rIns="0" bIns="0" rtlCol="0" anchor="ctr"/>
          <a:lstStyle/>
          <a:p>
            <a:pPr indent="0" marL="0">
              <a:buNone/>
            </a:pPr>
            <a:r>
              <a:rPr lang="en-US" sz="1400" dirty="0">
                <a:solidFill>
                  <a:schemeClr val="tx1"/>
                </a:solidFill>
              </a:rPr>
              <a:t>Build a home economy with enough jobs, so the country relies less on emigration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Critical assessment of the study</a:t>
            </a:r>
            <a:endParaRPr lang="en-US" sz="2800" dirty="0"/>
          </a:p>
        </p:txBody>
      </p:sp>
      <p:sp>
        <p:nvSpPr>
          <p:cNvPr id="3" name="Badge"/>
          <p:cNvSpPr/>
          <p:nvPr/>
        </p:nvSpPr>
        <p:spPr>
          <a:xfrm>
            <a:off x="457200" y="365760"/>
            <a:ext cx="548640" cy="548640"/>
          </a:xfrm>
          <a:prstGeom prst="ellipse">
            <a:avLst/>
          </a:prstGeom>
          <a:solidFill>
            <a:schemeClr val="accent1"/>
          </a:solidFill>
          <a:ln/>
        </p:spPr>
      </p:sp>
      <p:pic>
        <p:nvPicPr>
          <p:cNvPr id="4" name="Badge icon" descr="preencoded.png">    </p:cNvPr>
          <p:cNvPicPr>
            <a:picLocks noChangeAspect="1"/>
          </p:cNvPicPr>
          <p:nvPr/>
        </p:nvPicPr>
        <p:blipFill>
          <a:blip r:embed="rId1"/>
          <a:stretch>
            <a:fillRect/>
          </a:stretch>
        </p:blipFill>
        <p:spPr>
          <a:xfrm>
            <a:off x="594360" y="502920"/>
            <a:ext cx="274320" cy="274320"/>
          </a:xfrm>
          <a:prstGeom prst="rect">
            <a:avLst/>
          </a:prstGeom>
        </p:spPr>
      </p:pic>
      <p:sp>
        <p:nvSpPr>
          <p:cNvPr id="5" name="Strengths circle"/>
          <p:cNvSpPr/>
          <p:nvPr/>
        </p:nvSpPr>
        <p:spPr>
          <a:xfrm>
            <a:off x="457200" y="1143000"/>
            <a:ext cx="457200" cy="457200"/>
          </a:xfrm>
          <a:prstGeom prst="ellipse">
            <a:avLst/>
          </a:prstGeom>
          <a:solidFill>
            <a:schemeClr val="accent3"/>
          </a:solidFill>
          <a:ln/>
        </p:spPr>
      </p:sp>
      <p:pic>
        <p:nvPicPr>
          <p:cNvPr id="6" name="Strengths icon" descr="preencoded.png">    </p:cNvPr>
          <p:cNvPicPr>
            <a:picLocks noChangeAspect="1"/>
          </p:cNvPicPr>
          <p:nvPr/>
        </p:nvPicPr>
        <p:blipFill>
          <a:blip r:embed="rId2"/>
          <a:stretch>
            <a:fillRect/>
          </a:stretch>
        </p:blipFill>
        <p:spPr>
          <a:xfrm>
            <a:off x="571500" y="1257300"/>
            <a:ext cx="228600" cy="228600"/>
          </a:xfrm>
          <a:prstGeom prst="rect">
            <a:avLst/>
          </a:prstGeom>
        </p:spPr>
      </p:pic>
      <p:sp>
        <p:nvSpPr>
          <p:cNvPr id="7" name="Text 3"/>
          <p:cNvSpPr txBox="1"/>
          <p:nvPr/>
        </p:nvSpPr>
        <p:spPr>
          <a:xfrm>
            <a:off x="1051560" y="1143000"/>
            <a:ext cx="3200400" cy="457200"/>
          </a:xfrm>
          <a:prstGeom prst="rect">
            <a:avLst/>
          </a:prstGeom>
          <a:noFill/>
          <a:ln/>
        </p:spPr>
        <p:txBody>
          <a:bodyPr wrap="square" lIns="0" tIns="0" rIns="0" bIns="0" rtlCol="0" anchor="ctr"/>
          <a:lstStyle/>
          <a:p>
            <a:pPr indent="0" marL="0">
              <a:buNone/>
            </a:pPr>
            <a:r>
              <a:rPr lang="en-US" sz="1800" b="1" dirty="0">
                <a:solidFill>
                  <a:schemeClr val="tx2"/>
                </a:solidFill>
              </a:rPr>
              <a:t>Strengths</a:t>
            </a:r>
            <a:endParaRPr lang="en-US" sz="1800" dirty="0"/>
          </a:p>
        </p:txBody>
      </p:sp>
      <p:sp>
        <p:nvSpPr>
          <p:cNvPr id="8" name="Text 4"/>
          <p:cNvSpPr txBox="1"/>
          <p:nvPr/>
        </p:nvSpPr>
        <p:spPr>
          <a:xfrm>
            <a:off x="457200" y="1737360"/>
            <a:ext cx="3886200" cy="2880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Important question for a country that sends many workers abroad</a:t>
            </a:r>
            <a:endParaRPr lang="en-US" sz="1400" dirty="0"/>
          </a:p>
          <a:p>
            <a:pPr marL="342900" indent="-342900">
              <a:spcAft>
                <a:spcPts val="600"/>
              </a:spcAft>
              <a:buSzPct val="100000"/>
              <a:buChar char="•"/>
            </a:pPr>
            <a:r>
              <a:rPr lang="en-US" sz="1400" dirty="0">
                <a:solidFill>
                  <a:schemeClr val="tx1"/>
                </a:solidFill>
              </a:rPr>
              <a:t>Careful steps: unit root tests, cointegration tests, then the ECM</a:t>
            </a:r>
            <a:endParaRPr lang="en-US" sz="1400" dirty="0"/>
          </a:p>
          <a:p>
            <a:pPr marL="342900" indent="-342900">
              <a:spcAft>
                <a:spcPts val="600"/>
              </a:spcAft>
              <a:buSzPct val="100000"/>
              <a:buChar char="•"/>
            </a:pPr>
            <a:r>
              <a:rPr lang="en-US" sz="1400" dirty="0">
                <a:solidFill>
                  <a:schemeClr val="tx1"/>
                </a:solidFill>
              </a:rPr>
              <a:t>All diagnostic tests reported and passed</a:t>
            </a:r>
            <a:endParaRPr lang="en-US" sz="1400" dirty="0"/>
          </a:p>
          <a:p>
            <a:pPr marL="342900" indent="-342900">
              <a:spcAft>
                <a:spcPts val="600"/>
              </a:spcAft>
              <a:buSzPct val="100000"/>
              <a:buChar char="•"/>
            </a:pPr>
            <a:r>
              <a:rPr lang="en-US" sz="1400" dirty="0">
                <a:solidFill>
                  <a:schemeClr val="tx1"/>
                </a:solidFill>
              </a:rPr>
              <a:t>Explains the unclear policy (RA 8042)</a:t>
            </a:r>
            <a:endParaRPr lang="en-US" sz="1400" dirty="0"/>
          </a:p>
        </p:txBody>
      </p:sp>
      <p:sp>
        <p:nvSpPr>
          <p:cNvPr id="9" name="Weaknesses circle"/>
          <p:cNvSpPr/>
          <p:nvPr/>
        </p:nvSpPr>
        <p:spPr>
          <a:xfrm>
            <a:off x="4709160" y="1143000"/>
            <a:ext cx="457200" cy="457200"/>
          </a:xfrm>
          <a:prstGeom prst="ellipse">
            <a:avLst/>
          </a:prstGeom>
          <a:solidFill>
            <a:schemeClr val="accent2"/>
          </a:solidFill>
          <a:ln/>
        </p:spPr>
      </p:sp>
      <p:pic>
        <p:nvPicPr>
          <p:cNvPr id="10" name="Weaknesses icon" descr="preencoded.png">    </p:cNvPr>
          <p:cNvPicPr>
            <a:picLocks noChangeAspect="1"/>
          </p:cNvPicPr>
          <p:nvPr/>
        </p:nvPicPr>
        <p:blipFill>
          <a:blip r:embed="rId3"/>
          <a:stretch>
            <a:fillRect/>
          </a:stretch>
        </p:blipFill>
        <p:spPr>
          <a:xfrm>
            <a:off x="4823460" y="1257300"/>
            <a:ext cx="228600" cy="228600"/>
          </a:xfrm>
          <a:prstGeom prst="rect">
            <a:avLst/>
          </a:prstGeom>
        </p:spPr>
      </p:pic>
      <p:sp>
        <p:nvSpPr>
          <p:cNvPr id="11" name="Text 6"/>
          <p:cNvSpPr txBox="1"/>
          <p:nvPr/>
        </p:nvSpPr>
        <p:spPr>
          <a:xfrm>
            <a:off x="5303520" y="1143000"/>
            <a:ext cx="3200400" cy="457200"/>
          </a:xfrm>
          <a:prstGeom prst="rect">
            <a:avLst/>
          </a:prstGeom>
          <a:noFill/>
          <a:ln/>
        </p:spPr>
        <p:txBody>
          <a:bodyPr wrap="square" lIns="0" tIns="0" rIns="0" bIns="0" rtlCol="0" anchor="ctr"/>
          <a:lstStyle/>
          <a:p>
            <a:pPr indent="0" marL="0">
              <a:buNone/>
            </a:pPr>
            <a:r>
              <a:rPr lang="en-US" sz="1800" b="1" dirty="0">
                <a:solidFill>
                  <a:schemeClr val="tx2"/>
                </a:solidFill>
              </a:rPr>
              <a:t>Weaknesses</a:t>
            </a:r>
            <a:endParaRPr lang="en-US" sz="1800" dirty="0"/>
          </a:p>
        </p:txBody>
      </p:sp>
      <p:sp>
        <p:nvSpPr>
          <p:cNvPr id="12" name="Text 7"/>
          <p:cNvSpPr txBox="1"/>
          <p:nvPr/>
        </p:nvSpPr>
        <p:spPr>
          <a:xfrm>
            <a:off x="4709160" y="1737360"/>
            <a:ext cx="3886200" cy="2880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Small sample: 31 yearly observations for 10 explanatory terms</a:t>
            </a:r>
            <a:endParaRPr lang="en-US" sz="1400" dirty="0"/>
          </a:p>
          <a:p>
            <a:pPr marL="342900" indent="-342900">
              <a:spcAft>
                <a:spcPts val="600"/>
              </a:spcAft>
              <a:buSzPct val="100000"/>
              <a:buChar char="•"/>
            </a:pPr>
            <a:r>
              <a:rPr lang="en-US" sz="1400" dirty="0">
                <a:solidFill>
                  <a:schemeClr val="tx1"/>
                </a:solidFill>
              </a:rPr>
              <a:t>Weak proxies: airfare for cost of migration; adult literacy for education</a:t>
            </a:r>
            <a:endParaRPr lang="en-US" sz="1400" dirty="0"/>
          </a:p>
          <a:p>
            <a:pPr marL="342900" indent="-342900">
              <a:spcAft>
                <a:spcPts val="600"/>
              </a:spcAft>
              <a:buSzPct val="100000"/>
              <a:buChar char="•"/>
            </a:pPr>
            <a:r>
              <a:rPr lang="en-US" sz="1400" dirty="0">
                <a:solidFill>
                  <a:schemeClr val="tx1"/>
                </a:solidFill>
              </a:rPr>
              <a:t>Push factors only; pull factors from destination countries are missing</a:t>
            </a:r>
            <a:endParaRPr lang="en-US" sz="1400" dirty="0"/>
          </a:p>
          <a:p>
            <a:pPr marL="342900" indent="-342900">
              <a:spcAft>
                <a:spcPts val="600"/>
              </a:spcAft>
              <a:buSzPct val="100000"/>
              <a:buChar char="•"/>
            </a:pPr>
            <a:r>
              <a:rPr lang="en-US" sz="1400" dirty="0">
                <a:solidFill>
                  <a:schemeClr val="tx1"/>
                </a:solidFill>
              </a:rPr>
              <a:t>The low-skilled explanation clashes with data the paper cites on professionals leaving</a:t>
            </a:r>
            <a:endParaRPr lang="en-US" sz="1400" dirty="0"/>
          </a:p>
          <a:p>
            <a:pPr marL="342900" indent="-342900">
              <a:spcAft>
                <a:spcPts val="600"/>
              </a:spcAft>
              <a:buSzPct val="100000"/>
              <a:buChar char="•"/>
            </a:pPr>
            <a:r>
              <a:rPr lang="en-US" sz="1400" dirty="0">
                <a:solidFill>
                  <a:schemeClr val="tx1"/>
                </a:solidFill>
              </a:rPr>
              <a:t>Per capita income is not stationary in the P–P test; no tests for structural breaks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Limitations and areas for further research</a:t>
            </a:r>
            <a:endParaRPr lang="en-US" sz="2800" dirty="0"/>
          </a:p>
        </p:txBody>
      </p:sp>
      <p:sp>
        <p:nvSpPr>
          <p:cNvPr id="3" name="Badge"/>
          <p:cNvSpPr/>
          <p:nvPr/>
        </p:nvSpPr>
        <p:spPr>
          <a:xfrm>
            <a:off x="457200" y="365760"/>
            <a:ext cx="548640" cy="548640"/>
          </a:xfrm>
          <a:prstGeom prst="ellipse">
            <a:avLst/>
          </a:prstGeom>
          <a:solidFill>
            <a:schemeClr val="accent1"/>
          </a:solidFill>
          <a:ln/>
        </p:spPr>
      </p:sp>
      <p:sp>
        <p:nvSpPr>
          <p:cNvPr id="4" name="Badge number"/>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2200" b="1" dirty="0">
                <a:solidFill>
                  <a:schemeClr val="tx2"/>
                </a:solidFill>
              </a:rPr>
              <a:t>6</a:t>
            </a:r>
            <a:endParaRPr lang="en-US" sz="2200" dirty="0"/>
          </a:p>
        </p:txBody>
      </p:sp>
      <p:sp>
        <p:nvSpPr>
          <p:cNvPr id="5" name="Limitations card"/>
          <p:cNvSpPr/>
          <p:nvPr/>
        </p:nvSpPr>
        <p:spPr>
          <a:xfrm>
            <a:off x="457200" y="1188720"/>
            <a:ext cx="3840480" cy="3383280"/>
          </a:xfrm>
          <a:prstGeom prst="roundRect">
            <a:avLst>
              <a:gd name="adj" fmla="val 2162"/>
            </a:avLst>
          </a:prstGeom>
          <a:solidFill>
            <a:schemeClr val="bg2"/>
          </a:solidFill>
          <a:ln/>
        </p:spPr>
      </p:sp>
      <p:sp>
        <p:nvSpPr>
          <p:cNvPr id="6" name="Text 4"/>
          <p:cNvSpPr txBox="1"/>
          <p:nvPr/>
        </p:nvSpPr>
        <p:spPr>
          <a:xfrm>
            <a:off x="731520" y="1325880"/>
            <a:ext cx="3383280" cy="365760"/>
          </a:xfrm>
          <a:prstGeom prst="rect">
            <a:avLst/>
          </a:prstGeom>
          <a:noFill/>
          <a:ln/>
        </p:spPr>
        <p:txBody>
          <a:bodyPr wrap="square" lIns="0" tIns="0" rIns="0" bIns="0" rtlCol="0" anchor="t"/>
          <a:lstStyle/>
          <a:p>
            <a:pPr indent="0" marL="0">
              <a:buNone/>
            </a:pPr>
            <a:r>
              <a:rPr lang="en-US" sz="1700" b="1" dirty="0">
                <a:solidFill>
                  <a:schemeClr val="tx2"/>
                </a:solidFill>
              </a:rPr>
              <a:t>Limitations the authors identify</a:t>
            </a:r>
            <a:endParaRPr lang="en-US" sz="1700" dirty="0"/>
          </a:p>
        </p:txBody>
      </p:sp>
      <p:sp>
        <p:nvSpPr>
          <p:cNvPr id="7" name="Text 5"/>
          <p:cNvSpPr txBox="1"/>
          <p:nvPr/>
        </p:nvSpPr>
        <p:spPr>
          <a:xfrm>
            <a:off x="731520" y="1783080"/>
            <a:ext cx="338328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Migration data are hard to collect and compile</a:t>
            </a:r>
            <a:endParaRPr lang="en-US" sz="1400" dirty="0"/>
          </a:p>
          <a:p>
            <a:pPr marL="342900" indent="-342900">
              <a:spcAft>
                <a:spcPts val="800"/>
              </a:spcAft>
              <a:buSzPct val="100000"/>
              <a:buChar char="•"/>
            </a:pPr>
            <a:r>
              <a:rPr lang="en-US" sz="1400" dirty="0">
                <a:solidFill>
                  <a:schemeClr val="tx1"/>
                </a:solidFill>
              </a:rPr>
              <a:t>Airfare shows only the minimum cost of migration</a:t>
            </a:r>
            <a:endParaRPr lang="en-US" sz="1400" dirty="0"/>
          </a:p>
          <a:p>
            <a:pPr marL="342900" indent="-342900">
              <a:spcAft>
                <a:spcPts val="800"/>
              </a:spcAft>
              <a:buSzPct val="100000"/>
              <a:buChar char="•"/>
            </a:pPr>
            <a:r>
              <a:rPr lang="en-US" sz="1400" dirty="0">
                <a:solidFill>
                  <a:schemeClr val="tx1"/>
                </a:solidFill>
              </a:rPr>
              <a:t>The population density result is hard to explain</a:t>
            </a:r>
            <a:endParaRPr lang="en-US" sz="1400" dirty="0"/>
          </a:p>
          <a:p>
            <a:pPr marL="342900" indent="-342900">
              <a:spcAft>
                <a:spcPts val="800"/>
              </a:spcAft>
              <a:buSzPct val="100000"/>
              <a:buChar char="•"/>
            </a:pPr>
            <a:r>
              <a:rPr lang="en-US" sz="1400" dirty="0">
                <a:solidFill>
                  <a:schemeClr val="tx1"/>
                </a:solidFill>
              </a:rPr>
              <a:t>The data cannot prove the political instability story</a:t>
            </a:r>
            <a:endParaRPr lang="en-US" sz="1400" dirty="0"/>
          </a:p>
        </p:txBody>
      </p:sp>
      <p:sp>
        <p:nvSpPr>
          <p:cNvPr id="8" name="Text 6"/>
          <p:cNvSpPr txBox="1"/>
          <p:nvPr/>
        </p:nvSpPr>
        <p:spPr>
          <a:xfrm>
            <a:off x="4572000" y="1234440"/>
            <a:ext cx="4114800" cy="365760"/>
          </a:xfrm>
          <a:prstGeom prst="rect">
            <a:avLst/>
          </a:prstGeom>
          <a:noFill/>
          <a:ln/>
        </p:spPr>
        <p:txBody>
          <a:bodyPr wrap="square" lIns="0" tIns="0" rIns="0" bIns="0" rtlCol="0" anchor="t"/>
          <a:lstStyle/>
          <a:p>
            <a:pPr indent="0" marL="0">
              <a:buNone/>
            </a:pPr>
            <a:r>
              <a:rPr lang="en-US" sz="1700" b="1" dirty="0">
                <a:solidFill>
                  <a:schemeClr val="tx2"/>
                </a:solidFill>
              </a:rPr>
              <a:t>Future research (my suggestions)</a:t>
            </a:r>
            <a:endParaRPr lang="en-US" sz="1700" dirty="0"/>
          </a:p>
        </p:txBody>
      </p:sp>
      <p:sp>
        <p:nvSpPr>
          <p:cNvPr id="9" name="Text 7"/>
          <p:cNvSpPr txBox="1"/>
          <p:nvPr/>
        </p:nvSpPr>
        <p:spPr>
          <a:xfrm>
            <a:off x="4572000" y="1737360"/>
            <a:ext cx="36576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1</a:t>
            </a:r>
            <a:endParaRPr lang="en-US" sz="2400" dirty="0"/>
          </a:p>
        </p:txBody>
      </p:sp>
      <p:sp>
        <p:nvSpPr>
          <p:cNvPr id="10" name="Text 8"/>
          <p:cNvSpPr txBox="1"/>
          <p:nvPr/>
        </p:nvSpPr>
        <p:spPr>
          <a:xfrm>
            <a:off x="4983480" y="1737360"/>
            <a:ext cx="3703320" cy="594360"/>
          </a:xfrm>
          <a:prstGeom prst="rect">
            <a:avLst/>
          </a:prstGeom>
          <a:noFill/>
          <a:ln/>
        </p:spPr>
        <p:txBody>
          <a:bodyPr wrap="square" lIns="0" tIns="0" rIns="0" bIns="0" rtlCol="0" anchor="ctr"/>
          <a:lstStyle/>
          <a:p>
            <a:pPr indent="0" marL="0">
              <a:buNone/>
            </a:pPr>
            <a:r>
              <a:rPr lang="en-US" sz="1400" b="1" dirty="0">
                <a:solidFill>
                  <a:schemeClr val="tx2"/>
                </a:solidFill>
              </a:rPr>
              <a:t>Split the data: </a:t>
            </a:r>
            <a:pPr indent="0" marL="0">
              <a:buNone/>
            </a:pPr>
            <a:r>
              <a:rPr lang="en-US" sz="1400" dirty="0">
                <a:solidFill>
                  <a:schemeClr val="tx1"/>
                </a:solidFill>
              </a:rPr>
              <a:t>temporary vs. permanent migrants, and by skill level</a:t>
            </a:r>
            <a:endParaRPr lang="en-US" sz="1400" dirty="0"/>
          </a:p>
        </p:txBody>
      </p:sp>
      <p:sp>
        <p:nvSpPr>
          <p:cNvPr id="11" name="Text 9"/>
          <p:cNvSpPr txBox="1"/>
          <p:nvPr/>
        </p:nvSpPr>
        <p:spPr>
          <a:xfrm>
            <a:off x="4572000" y="2450592"/>
            <a:ext cx="36576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2</a:t>
            </a:r>
            <a:endParaRPr lang="en-US" sz="2400" dirty="0"/>
          </a:p>
        </p:txBody>
      </p:sp>
      <p:sp>
        <p:nvSpPr>
          <p:cNvPr id="12" name="Text 10"/>
          <p:cNvSpPr txBox="1"/>
          <p:nvPr/>
        </p:nvSpPr>
        <p:spPr>
          <a:xfrm>
            <a:off x="4983480" y="2450592"/>
            <a:ext cx="3703320" cy="594360"/>
          </a:xfrm>
          <a:prstGeom prst="rect">
            <a:avLst/>
          </a:prstGeom>
          <a:noFill/>
          <a:ln/>
        </p:spPr>
        <p:txBody>
          <a:bodyPr wrap="square" lIns="0" tIns="0" rIns="0" bIns="0" rtlCol="0" anchor="ctr"/>
          <a:lstStyle/>
          <a:p>
            <a:pPr indent="0" marL="0">
              <a:buNone/>
            </a:pPr>
            <a:r>
              <a:rPr lang="en-US" sz="1400" b="1" dirty="0">
                <a:solidFill>
                  <a:schemeClr val="tx2"/>
                </a:solidFill>
              </a:rPr>
              <a:t>Add pull factors: </a:t>
            </a:r>
            <a:pPr indent="0" marL="0">
              <a:buNone/>
            </a:pPr>
            <a:r>
              <a:rPr lang="en-US" sz="1400" dirty="0">
                <a:solidFill>
                  <a:schemeClr val="tx1"/>
                </a:solidFill>
              </a:rPr>
              <a:t>wages and job demand in destination countries</a:t>
            </a:r>
            <a:endParaRPr lang="en-US" sz="1400" dirty="0"/>
          </a:p>
        </p:txBody>
      </p:sp>
      <p:sp>
        <p:nvSpPr>
          <p:cNvPr id="13" name="Text 11"/>
          <p:cNvSpPr txBox="1"/>
          <p:nvPr/>
        </p:nvSpPr>
        <p:spPr>
          <a:xfrm>
            <a:off x="4572000" y="3163824"/>
            <a:ext cx="36576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3</a:t>
            </a:r>
            <a:endParaRPr lang="en-US" sz="2400" dirty="0"/>
          </a:p>
        </p:txBody>
      </p:sp>
      <p:sp>
        <p:nvSpPr>
          <p:cNvPr id="14" name="Text 12"/>
          <p:cNvSpPr txBox="1"/>
          <p:nvPr/>
        </p:nvSpPr>
        <p:spPr>
          <a:xfrm>
            <a:off x="4983480" y="3163824"/>
            <a:ext cx="3703320" cy="594360"/>
          </a:xfrm>
          <a:prstGeom prst="rect">
            <a:avLst/>
          </a:prstGeom>
          <a:noFill/>
          <a:ln/>
        </p:spPr>
        <p:txBody>
          <a:bodyPr wrap="square" lIns="0" tIns="0" rIns="0" bIns="0" rtlCol="0" anchor="ctr"/>
          <a:lstStyle/>
          <a:p>
            <a:pPr indent="0" marL="0">
              <a:buNone/>
            </a:pPr>
            <a:r>
              <a:rPr lang="en-US" sz="1400" b="1" dirty="0">
                <a:solidFill>
                  <a:schemeClr val="tx2"/>
                </a:solidFill>
              </a:rPr>
              <a:t>Update the data: </a:t>
            </a:r>
            <a:pPr indent="0" marL="0">
              <a:buNone/>
            </a:pPr>
            <a:r>
              <a:rPr lang="en-US" sz="1400" dirty="0">
                <a:solidFill>
                  <a:schemeClr val="tx1"/>
                </a:solidFill>
              </a:rPr>
              <a:t>go past 2005 and test structural breaks (1997, 2008, COVID-19)</a:t>
            </a:r>
            <a:endParaRPr lang="en-US" sz="1400" dirty="0"/>
          </a:p>
        </p:txBody>
      </p:sp>
      <p:sp>
        <p:nvSpPr>
          <p:cNvPr id="15" name="Text 13"/>
          <p:cNvSpPr txBox="1"/>
          <p:nvPr/>
        </p:nvSpPr>
        <p:spPr>
          <a:xfrm>
            <a:off x="4572000" y="3877056"/>
            <a:ext cx="36576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4</a:t>
            </a:r>
            <a:endParaRPr lang="en-US" sz="2400" dirty="0"/>
          </a:p>
        </p:txBody>
      </p:sp>
      <p:sp>
        <p:nvSpPr>
          <p:cNvPr id="16" name="Text 14"/>
          <p:cNvSpPr txBox="1"/>
          <p:nvPr/>
        </p:nvSpPr>
        <p:spPr>
          <a:xfrm>
            <a:off x="4983480" y="3877056"/>
            <a:ext cx="3703320" cy="594360"/>
          </a:xfrm>
          <a:prstGeom prst="rect">
            <a:avLst/>
          </a:prstGeom>
          <a:noFill/>
          <a:ln/>
        </p:spPr>
        <p:txBody>
          <a:bodyPr wrap="square" lIns="0" tIns="0" rIns="0" bIns="0" rtlCol="0" anchor="ctr"/>
          <a:lstStyle/>
          <a:p>
            <a:pPr indent="0" marL="0">
              <a:buNone/>
            </a:pPr>
            <a:r>
              <a:rPr lang="en-US" sz="1400" b="1" dirty="0">
                <a:solidFill>
                  <a:schemeClr val="tx2"/>
                </a:solidFill>
              </a:rPr>
              <a:t>Use household data: </a:t>
            </a:r>
            <a:pPr indent="0" marL="0">
              <a:buNone/>
            </a:pPr>
            <a:r>
              <a:rPr lang="en-US" sz="1400" dirty="0">
                <a:solidFill>
                  <a:schemeClr val="tx1"/>
                </a:solidFill>
              </a:rPr>
              <a:t>test human capital theory with survey data on migrants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554480"/>
          </a:xfrm>
          <a:prstGeom prst="rect">
            <a:avLst/>
          </a:prstGeom>
          <a:noFill/>
          <a:ln/>
        </p:spPr>
        <p:txBody>
          <a:bodyPr wrap="square" lIns="0" tIns="0" rIns="0" bIns="0" rtlCol="0" anchor="b"/>
          <a:lstStyle/>
          <a:p>
            <a:pPr algn="l" indent="0" marL="0">
              <a:buNone/>
            </a:pPr>
            <a:r>
              <a:rPr lang="en-US" sz="3200" b="1" dirty="0">
                <a:solidFill>
                  <a:schemeClr val="bg1"/>
                </a:solidFill>
              </a:rPr>
              <a:t>Takeaway: push factors at home shape Filipino emigration</a:t>
            </a:r>
            <a:endParaRPr lang="en-US" sz="3200" dirty="0"/>
          </a:p>
        </p:txBody>
      </p:sp>
      <p:sp>
        <p:nvSpPr>
          <p:cNvPr id="3" name="Text 0"/>
          <p:cNvSpPr/>
          <p:nvPr>
            <p:ph idx="101" type="body" hasCustomPrompt="1"/>
          </p:nvPr>
        </p:nvSpPr>
        <p:spPr>
          <a:xfrm>
            <a:off x="548640" y="2971800"/>
            <a:ext cx="8046720" cy="914400"/>
          </a:xfrm>
          <a:prstGeom prst="rect">
            <a:avLst/>
          </a:prstGeom>
          <a:noFill/>
          <a:ln/>
        </p:spPr>
        <p:txBody>
          <a:bodyPr wrap="square" lIns="0" tIns="0" rIns="0" bIns="0" rtlCol="0" anchor="t"/>
          <a:lstStyle/>
          <a:p>
            <a:pPr indent="0" marL="0">
              <a:buNone/>
            </a:pPr>
            <a:r>
              <a:rPr lang="en-US" sz="1600" dirty="0">
                <a:solidFill>
                  <a:schemeClr val="accent5"/>
                </a:solidFill>
              </a:rPr>
              <a:t>Unemployment raises emigration; adult literacy, political instability and population density lower it. The study is useful, but its small sample, weak proxies and missing pull factors mean we should read the results with care.</a:t>
            </a:r>
            <a:endParaRPr lang="en-US" sz="1600" dirty="0"/>
          </a:p>
        </p:txBody>
      </p:sp>
      <p:pic>
        <p:nvPicPr>
          <p:cNvPr id="4" name="Flag icon" descr="preencoded.png">    </p:cNvPr>
          <p:cNvPicPr>
            <a:picLocks noChangeAspect="1"/>
          </p:cNvPicPr>
          <p:nvPr/>
        </p:nvPicPr>
        <p:blipFill>
          <a:blip r:embed="rId1"/>
          <a:stretch>
            <a:fillRect/>
          </a:stretch>
        </p:blipFill>
        <p:spPr>
          <a:xfrm>
            <a:off x="548640" y="548640"/>
            <a:ext cx="502920" cy="502920"/>
          </a:xfrm>
          <a:prstGeom prst="rect">
            <a:avLst/>
          </a:prstGeom>
        </p:spPr>
      </p:pic>
    </p:spTree>
  </p:cSld>
  <p:clrMapOvr>
    <a:masterClrMapping/>
  </p:clrMapOvr>
</p:sld>
</file>

<file path=ppt/theme/theme1.xml><?xml version="1.0" encoding="utf-8"?>
<a:theme xmlns:a="http://schemas.openxmlformats.org/drawingml/2006/main" name="Labour Migration Review">
  <a:themeElements>
    <a:clrScheme name="Labour Migration Review">
      <a:dk1>
        <a:srgbClr val="1B1F24"/>
      </a:dk1>
      <a:lt1>
        <a:srgbClr val="FFFFFF"/>
      </a:lt1>
      <a:dk2>
        <a:srgbClr val="0B3C49"/>
      </a:dk2>
      <a:lt2>
        <a:srgbClr val="EEF3F4"/>
      </a:lt2>
      <a:accent1>
        <a:srgbClr val="E0A43A"/>
      </a:accent1>
      <a:accent2>
        <a:srgbClr val="C8553D"/>
      </a:accent2>
      <a:accent3>
        <a:srgbClr val="2E7D7A"/>
      </a:accent3>
      <a:accent4>
        <a:srgbClr val="6B7B84"/>
      </a:accent4>
      <a:accent5>
        <a:srgbClr val="F2D49B"/>
      </a:accent5>
      <a:accent6>
        <a:srgbClr val="D7E4E6"/>
      </a:accent6>
      <a:hlink>
        <a:srgbClr val="2E7D7A"/>
      </a:hlink>
      <a:folHlink>
        <a:srgbClr val="6B7B84"/>
      </a:folHlink>
    </a:clrScheme>
    <a:fontScheme name="Labour Migration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Critical Review: International Labour Migration in the Philippines</dc:title>
  <dc:subject>PptxGenJS Presentation</dc:subject>
  <dc:creator>Cataytay</dc:creator>
  <cp:lastModifiedBy>Cataytay</cp:lastModifiedBy>
  <cp:revision>1</cp:revision>
  <dcterms:created xsi:type="dcterms:W3CDTF">2026-10-06T19:08:08Z</dcterms:created>
  <dcterms:modified xsi:type="dcterms:W3CDTF">2026-10-06T19:08:08Z</dcterms:modified>
</cp:coreProperties>
</file>